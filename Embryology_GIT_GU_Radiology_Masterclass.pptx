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this comprehensive masterclass. We will explore fetal GIT and GU embryology from start to finish, using embryological mechanics to deconstruct classic radiological mimics.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embryonic disc folds in 4 directions: cranial, caudal, and two lateral folds. If cranial fails, heart is outside. If caudal fails, cloaca splits. If lateral fails, gut herniates.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4 pillars govern every organ system. Reverse embryology allows you to reason from image shadow back to cellular arrest.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midgut must leave the abdomen because it grows faster than the coelom. It rotates 90 degrees in the cord, then 180 degrees as it returns.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Never diagnose omphalocele before 12 weeks or CRL 45 mm unless you see liver in the sac. Liver in the sac is never normal.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classic look-alike. They look similar to a novice, but their genetic load and surgical management are exact opposites.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Omphalocele has a 3-layered sac, central defect, and the cord inserts right onto the top of the sac. Liver is herniated in over 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Gastroschisis is a right-sided vascular stroke. There is no membrane. The cord is completely normal on intact skin to the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cord insertion point is your diagnostic anchor. Never confuse a ruptured omphalocele with gastroschisis: check where the cord inserts and whether liver is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Body Stalk Anomaly, the embryo never lifted off the placenta. There is no cord, severe scoliosis, and viscera are glued to the chorion. It is 100% lethal.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Russo divided LBWC into placentoabdominal and placentocranial. The absent cord and kyphoscoliosis are pathognomonic.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Cantrell is cephalic fold failure. The anterior diaphragm (septum transversum) and lower sternum fail to close, letting the heart herniate.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 the 5 features: supraumbilical omphalocele, sternal cleft, anterior diaphragm defect, pericardial defect, and cardiac anomalies with ectopia cordis.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cloacal membrane must be reinforced by mesoderm. If it ruptures late after urorectal septation, you get bladder exstrophy. If it ruptures early, you get OEIS.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OEIS: Omphalocele, Exstrophy of cloaca, Imperforate anus, Spinal defects. The prolapsed ileum between two hemibladders looks like an elephant trunk.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call renal agenesis if amniotic fluid is normal! Renal agenesis causes severe anhydramnios. Normal fluid with an absent bladder means urine is dumping outside.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Axis 1 is the cord insertion point. Apex = omphalocele. Intact skin to the left = gastroschisis. Absent/attached to placenta = LBWC.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Axis 2 is the bladder. If absent with normal fluid, think Exstrophy or OEIS. If massive, think PUV or Prune Belly.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foregut must cleave into ventral trachea and dorsal esophagus. SHH signaling drives this septation.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86% of cases (Type C), the fistula is distal, so fluid and air enter the stomach from the trachea. A normal stomach bubble does not exclude 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CHAOS is failed recanalization of the larynx. Trapped lung fluid balloons both lungs symmetrically, inverting the diaphragms and squashing the heart.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mechanisms cause a double bubble: recanalization arrest, pancreatic bud migration arrest, and duplication cyst vacuolation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fluid crossing the pylorus. In annular pancreas, pancreatic tissue collars the duodenum. Duplication cysts do not communicate.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midgut rotates 270 degrees CCW: 90 degrees out in the cord, 180 degrees back in. DJ loop goes behind SMA; cecum goes in front.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rotation stops at 180 degrees, the cecum is high and Ladd bands strangle the duodenum. The narrow mesentery can twist clockwise, killing the gut.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of malrotations have normal Doppler! The gold standard is Upper GI series, and the true lateral view is mandatory to prove the duodenum dives posteriorly.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Duodenal atresia happens at week 7 (Tandler recanalization failure), which is why 40% have Down syndrome. Jejunoileal atresia is a late vascular accident in a formed bowel.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Meconium peritonitis is a sterile chemical burn. Calcium precipitates in 24-48 hours. In boys, meconium tracks into the scrotum via the patent processus vaginalis.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Hirschsprung is neurocristopathy: neural crest cells stopped migrating, leaving the rectum in spasm. Meconium ileus is CFTR failure plugging the ileum.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Classic Hirschsprung shows R/S reversal and a transition zone. But total colonic aganglionosis looks like a microcolon! Suction biopsy is the gold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gut signature—inner bright mucosa and outer dark muscle—proves duplication cyst. Choledochal cysts connect to bile ducts and lack muscle.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dual-hit hypothesis proves CDH is a pulmonary disease: herniation compresses the ipsilateral lung, while genetic mutations hit bilateral arterioles.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TOTAL trial in NEJM 2021 proved FETO balloon tracheal occlusion rescues severe CDH by trapping lung fluid under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urorectal septum divides the cloaca by week 7. Failure in girls causes persistent cloaca with hydrocolpos and calcified enteroliths.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Currarino syndrome: scimitar sacrum, anal stenosis, presacral mass. The presacral mass is an anterior meningocele in 60%. If you needle-biopsy it, you will cause fatal meningitis!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Nephrogenesis is triphasic. Metanephros requires two-way dialogue between the ureteric bud and metanephric blastema.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Adrenals come from coelomic mesothelium and neural crest, completely separate from the metanephros. They are always present even in Potter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flat lying-down adrenal looks just like a kidney to the untrained eye. Sweep the aorta with Doppler to prove whether a renal artery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Horseshoe kidneys fuse in the pelvis and climb until the isthmus hits the IMA at L3. Medial rotation also halts. Remember the 6x Wilms tumor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crossed-fused ectopia, the ureteric bud crosses the spine to induce the other kidney, but its ureter always crosses back to its correct side of the trigone.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dictates cystic pathology: early insult before 10 weeks produces MCDK. Late insult after 14 weeks produces hydronephrosis.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MCDK cysts never communicate and have 0% function. In severe hydronephrosis, calyces communicate with the pelvis. In bright kidneys, scan the parents!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lower pole bud separates first and goes superolaterally. The upper pole bud stays on the Wolffian duct longer and gets dragged inferomedially.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 DUMI: Duplex Upper Medial Inferior. It obstructs and forms a ureterocele. In girls, it inserts below the sphincter, causing continuous dribbling incontinence.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Urachal is extraperitoneal in the Retzius space. Vitelline is intraperitoneal with a gut-signature wall near the ileum.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Never let anyone put silver nitrate on a baby's weeping umbilicus without ultrasound first! If it's a patent duct, it will burn through into the gut.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Megacystis cutoffs: 7 mm is abnormal. Between 7 and 15 mm, think aneuploidy. Over 15 mm, think anatomical obstruction.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PUV has a thick hypertrophied wall and keyhole posterior urethra. Prune belly has a thin, flaccid bladder and coiled ureters from mesodermal dysplasia.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VURD syndrome is an endogenous pressure relief valve. One kidney sacrifices itself to reflux, which decompresses the system and saves the other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fetal adrenal is huge because of the fetal cortex. Three arteries feed it, but only one vein drains it, making it prone to hemorrhage under stress.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Never biopsy a neonatal adrenal mass immediately. Re-scan at 1, 2, and 4 weeks. A hematoma rapidly liquefies and shrinks. A neuroblastoma persists.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Müllerian development has 3 phases: elongation, lateral fusion, and septal resorption. Bicornuate fails fusion; septate fails resorption.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cannot see the serosa on HSG! Bicornuate has a cleft &gt;= 1 cm and metroplasty is contraindicated. Septate has a cleft &lt; 1 cm and metroplasty is curative.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Until week 9, genitalia are indifferent. DHT drives midline fusion into a penis and scrotum. In females, lack of DHT leaves folds unfused.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CAH, lack of cortisol drives ACTH, making adrenals huge and wrinkled like brain gyri. In hypospadias, unfused ventral folds look like a tulip.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AMH destroys Müllerian ducts; Testosterone saves Wolffian ducts. If AMH is absent, a uterus will always form, even in a 46,XY individual!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CAIS, testes make AMH so no uterus forms. In Swyer (46,XY), SRY failed so no testes formed, meaning NO AMH was made—so a normal uterus formed! Streak gonads must be removed.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1 to 5: 12-week rule, skin bridge, lateral fluoroscopy view, pyloric continuity, and the OEIS bladder paradox.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6 to 10: Currarino sacral sickle, Weigert-Meyer DUMI, adrenal autonomy, ASRM fundal serosa, and CAH wavy adrenals.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participating in this masterclass. Review these slides whenever you encounter complex congenital anomalies in your daily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92F"/>
        </a:solidFill>
      </p:bgPr>
    </p:bg>
    <p:spTree>
      <p:nvGrpSpPr>
        <p:cNvPr id="1" name=""/>
        <p:cNvGrpSpPr/>
        <p:nvPr/>
      </p:nvGrpSpPr>
      <p:grpSpPr>
        <a:xfrm>
          <a:off x="0" y="0"/>
          <a:ext cx="0" cy="0"/>
          <a:chOff x="0" y="0"/>
          <a:chExt cx="0" cy="0"/>
        </a:xfrm>
      </p:grpSpPr>
      <p:sp>
        <p:nvSpPr>
          <p:cNvPr id="2" name="Shape 0"/>
          <p:cNvSpPr/>
          <p:nvPr/>
        </p:nvSpPr>
        <p:spPr>
          <a:xfrm>
            <a:off x="731520" y="914400"/>
            <a:ext cx="6217920" cy="384048"/>
          </a:xfrm>
          <a:prstGeom prst="rect">
            <a:avLst/>
          </a:prstGeom>
          <a:solidFill>
            <a:srgbClr val="0284C7"/>
          </a:solidFill>
          <a:ln/>
        </p:spPr>
      </p:sp>
      <p:sp>
        <p:nvSpPr>
          <p:cNvPr id="3" name="Text 1"/>
          <p:cNvSpPr/>
          <p:nvPr/>
        </p:nvSpPr>
        <p:spPr>
          <a:xfrm>
            <a:off x="822960" y="914400"/>
            <a:ext cx="6035040" cy="384048"/>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FETAL &amp; PEDIATRIC RADIOLOGY MASTERCLASS</a:t>
            </a:r>
            <a:endParaRPr lang="en-US" sz="1250" dirty="0"/>
          </a:p>
        </p:txBody>
      </p:sp>
      <p:sp>
        <p:nvSpPr>
          <p:cNvPr id="4" name="Text 2"/>
          <p:cNvSpPr/>
          <p:nvPr/>
        </p:nvSpPr>
        <p:spPr>
          <a:xfrm>
            <a:off x="731520" y="1463040"/>
            <a:ext cx="10725912" cy="1645920"/>
          </a:xfrm>
          <a:prstGeom prst="rect">
            <a:avLst/>
          </a:prstGeom>
          <a:noFill/>
          <a:ln/>
        </p:spPr>
        <p:txBody>
          <a:bodyPr wrap="square" rtlCol="0" anchor="ctr"/>
          <a:lstStyle/>
          <a:p>
            <a:pPr indent="0" marL="0">
              <a:lnSpc>
                <a:spcPts val="4000"/>
              </a:lnSpc>
              <a:buNone/>
            </a:pPr>
            <a:r>
              <a:rPr lang="en-US" sz="3600" b="1" dirty="0">
                <a:solidFill>
                  <a:srgbClr val="FFFFFF"/>
                </a:solidFill>
                <a:latin typeface="Calibri" pitchFamily="34" charset="0"/>
                <a:ea typeface="Calibri" pitchFamily="34" charset="-122"/>
                <a:cs typeface="Calibri" pitchFamily="34" charset="-120"/>
              </a:rPr>
              <a:t>CLINICAL GIT &amp; GENITOURINARY</a:t>
            </a:r>
            <a:endParaRPr lang="en-US" sz="3600" dirty="0"/>
          </a:p>
          <a:p>
            <a:pPr indent="0" marL="0">
              <a:lnSpc>
                <a:spcPts val="4000"/>
              </a:lnSpc>
              <a:buNone/>
            </a:pPr>
            <a:r>
              <a:rPr lang="en-US" sz="3600" b="1" dirty="0">
                <a:solidFill>
                  <a:srgbClr val="FFFFFF"/>
                </a:solidFill>
                <a:latin typeface="Calibri" pitchFamily="34" charset="0"/>
                <a:ea typeface="Calibri" pitchFamily="34" charset="-122"/>
                <a:cs typeface="Calibri" pitchFamily="34" charset="-120"/>
              </a:rPr>
              <a:t>EMBRYOLOGY FOR RADIOLOGISTS</a:t>
            </a:r>
            <a:endParaRPr lang="en-US" sz="3600" dirty="0"/>
          </a:p>
        </p:txBody>
      </p:sp>
      <p:sp>
        <p:nvSpPr>
          <p:cNvPr id="5" name="Text 3"/>
          <p:cNvSpPr/>
          <p:nvPr/>
        </p:nvSpPr>
        <p:spPr>
          <a:xfrm>
            <a:off x="731520" y="3200400"/>
            <a:ext cx="10725912" cy="548640"/>
          </a:xfrm>
          <a:prstGeom prst="rect">
            <a:avLst/>
          </a:prstGeom>
          <a:noFill/>
          <a:ln/>
        </p:spPr>
        <p:txBody>
          <a:bodyPr wrap="square" rtlCol="0" anchor="ctr"/>
          <a:lstStyle/>
          <a:p>
            <a:pPr indent="0" marL="0">
              <a:buNone/>
            </a:pPr>
            <a:r>
              <a:rPr lang="en-US" sz="1800" dirty="0">
                <a:solidFill>
                  <a:srgbClr val="BAE6FD"/>
                </a:solidFill>
                <a:latin typeface="Calibri" pitchFamily="34" charset="0"/>
                <a:ea typeface="Calibri" pitchFamily="34" charset="-122"/>
                <a:cs typeface="Calibri" pitchFamily="34" charset="-120"/>
              </a:rPr>
              <a:t>Deconstructing Visual Mimics through Embryogenesis: An Algorithmic, Mechanism-First Masterclass</a:t>
            </a:r>
            <a:endParaRPr lang="en-US" sz="1800" dirty="0"/>
          </a:p>
        </p:txBody>
      </p:sp>
      <p:sp>
        <p:nvSpPr>
          <p:cNvPr id="6" name="Shape 4"/>
          <p:cNvSpPr/>
          <p:nvPr/>
        </p:nvSpPr>
        <p:spPr>
          <a:xfrm>
            <a:off x="731520" y="3931920"/>
            <a:ext cx="10725912" cy="1645920"/>
          </a:xfrm>
          <a:prstGeom prst="rect">
            <a:avLst/>
          </a:prstGeom>
          <a:solidFill>
            <a:srgbClr val="1E293B"/>
          </a:solidFill>
          <a:ln w="19050">
            <a:solidFill>
              <a:srgbClr val="38BDF8"/>
            </a:solidFill>
            <a:prstDash val="solid"/>
          </a:ln>
        </p:spPr>
      </p:sp>
      <p:sp>
        <p:nvSpPr>
          <p:cNvPr id="7" name="Text 5"/>
          <p:cNvSpPr/>
          <p:nvPr/>
        </p:nvSpPr>
        <p:spPr>
          <a:xfrm>
            <a:off x="914400" y="4023360"/>
            <a:ext cx="10360152" cy="1463040"/>
          </a:xfrm>
          <a:prstGeom prst="rect">
            <a:avLst/>
          </a:prstGeom>
          <a:noFill/>
          <a:ln/>
        </p:spPr>
        <p:txBody>
          <a:bodyPr wrap="square" rtlCol="0" anchor="t"/>
          <a:lstStyle/>
          <a:p>
            <a:pPr indent="0" marL="0">
              <a:buNone/>
            </a:pPr>
            <a:r>
              <a:rPr lang="en-US" sz="1300" b="1" dirty="0">
                <a:solidFill>
                  <a:srgbClr val="38BDF8"/>
                </a:solidFill>
                <a:latin typeface="Calibri" pitchFamily="34" charset="0"/>
                <a:ea typeface="Calibri" pitchFamily="34" charset="-122"/>
                <a:cs typeface="Calibri" pitchFamily="34" charset="-120"/>
              </a:rPr>
              <a:t>TEACHING PHILOSOPHY &amp; REVERSE EMBRYOLOGY PRINCIPLE:
</a:t>
            </a:r>
            <a:pPr indent="0" marL="0">
              <a:buNone/>
            </a:pPr>
            <a:r>
              <a:rPr lang="en-US" sz="1100" dirty="0">
                <a:solidFill>
                  <a:srgbClr val="FFFFFF"/>
                </a:solidFill>
                <a:latin typeface="Calibri" pitchFamily="34" charset="0"/>
                <a:ea typeface="Calibri" pitchFamily="34" charset="-122"/>
                <a:cs typeface="Calibri" pitchFamily="34" charset="-120"/>
              </a:rPr>
              <a:t>In fetal cross-sectional imaging, visual pattern recognition is deceptive. Look-alikes on prenatal US or MRI arise from radically divergent embryological mechanisms, carrying opposite genetic implications and prognoses.
</a:t>
            </a:r>
            <a:pPr indent="0" marL="0">
              <a:buNone/>
            </a:pPr>
            <a:r>
              <a:rPr lang="en-US" sz="1150" b="1" dirty="0">
                <a:solidFill>
                  <a:srgbClr val="FDE047"/>
                </a:solidFill>
                <a:latin typeface="Calibri" pitchFamily="34" charset="0"/>
                <a:ea typeface="Calibri" pitchFamily="34" charset="-122"/>
                <a:cs typeface="Calibri" pitchFamily="34" charset="-120"/>
              </a:rPr>
              <a:t>Imaging Phenotype (Arrest / Distortion)  --&gt;  Failed Checkpoint  --&gt;  Occult Syndromes  --&gt;  Perinatal Triage</a:t>
            </a:r>
            <a:endParaRPr lang="en-US" sz="1300" dirty="0"/>
          </a:p>
        </p:txBody>
      </p:sp>
      <p:sp>
        <p:nvSpPr>
          <p:cNvPr id="8" name="Text 6"/>
          <p:cNvSpPr/>
          <p:nvPr/>
        </p:nvSpPr>
        <p:spPr>
          <a:xfrm>
            <a:off x="731520" y="5852160"/>
            <a:ext cx="10725912" cy="548640"/>
          </a:xfrm>
          <a:prstGeom prst="rect">
            <a:avLst/>
          </a:prstGeom>
          <a:noFill/>
          <a:ln/>
        </p:spPr>
        <p:txBody>
          <a:bodyPr wrap="square" rtlCol="0" anchor="ctr"/>
          <a:lstStyle/>
          <a:p>
            <a:pPr indent="0" marL="0">
              <a:buNone/>
            </a:pPr>
            <a:r>
              <a:rPr lang="en-US" sz="1050" dirty="0">
                <a:solidFill>
                  <a:srgbClr val="94A3B8"/>
                </a:solidFill>
                <a:latin typeface="Calibri" pitchFamily="34" charset="0"/>
                <a:ea typeface="Calibri" pitchFamily="34" charset="-122"/>
                <a:cs typeface="Calibri" pitchFamily="34" charset="-120"/>
              </a:rPr>
              <a:t>Curated from Landmark Literature &amp; Comprehensive Textbook of Clinical Radiology (Amarnath C., Patel H., Eds.)</a:t>
            </a:r>
            <a:endParaRPr lang="en-US" sz="1050" dirty="0"/>
          </a:p>
          <a:p>
            <a:pPr indent="0" marL="0">
              <a:buNone/>
            </a:pPr>
            <a:r>
              <a:rPr lang="en-US" sz="1050" dirty="0">
                <a:solidFill>
                  <a:srgbClr val="94A3B8"/>
                </a:solidFill>
                <a:latin typeface="Calibri" pitchFamily="34" charset="0"/>
                <a:ea typeface="Calibri" pitchFamily="34" charset="-122"/>
                <a:cs typeface="Calibri" pitchFamily="34" charset="-120"/>
              </a:rPr>
              <a:t>Faculty: Expert Scientist &amp; Fetal / Pediatric Radiologist</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FOUNDATIONAL MORPHOGENESIS • WEEKS 3–5</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The Embryological Blueprint: How the 4 Folds Build the Torso</a:t>
            </a:r>
            <a:endParaRPr lang="en-US" sz="2300" dirty="0"/>
          </a:p>
        </p:txBody>
      </p:sp>
      <p:sp>
        <p:nvSpPr>
          <p:cNvPr id="5" name="Shape 3"/>
          <p:cNvSpPr/>
          <p:nvPr/>
        </p:nvSpPr>
        <p:spPr>
          <a:xfrm>
            <a:off x="731520" y="1463040"/>
            <a:ext cx="10725912" cy="594360"/>
          </a:xfrm>
          <a:prstGeom prst="rect">
            <a:avLst/>
          </a:prstGeom>
          <a:solidFill>
            <a:srgbClr val="F0F9FF"/>
          </a:solidFill>
          <a:ln w="15240">
            <a:solidFill>
              <a:srgbClr val="0284C7"/>
            </a:solidFill>
            <a:prstDash val="solid"/>
          </a:ln>
        </p:spPr>
      </p:sp>
      <p:sp>
        <p:nvSpPr>
          <p:cNvPr id="6" name="Text 4"/>
          <p:cNvSpPr/>
          <p:nvPr/>
        </p:nvSpPr>
        <p:spPr>
          <a:xfrm>
            <a:off x="868680" y="1481328"/>
            <a:ext cx="10451592" cy="557784"/>
          </a:xfrm>
          <a:prstGeom prst="rect">
            <a:avLst/>
          </a:prstGeom>
          <a:noFill/>
          <a:ln/>
        </p:spPr>
        <p:txBody>
          <a:bodyPr wrap="square"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CLINICAL WORKSTATION HOOK: </a:t>
            </a:r>
            <a:pPr indent="0" marL="0">
              <a:buNone/>
            </a:pPr>
            <a:r>
              <a:rPr lang="en-US" sz="1100" i="1" dirty="0">
                <a:solidFill>
                  <a:srgbClr val="0F172A"/>
                </a:solidFill>
                <a:latin typeface="Calibri" pitchFamily="34" charset="0"/>
                <a:ea typeface="Calibri" pitchFamily="34" charset="-122"/>
                <a:cs typeface="Calibri" pitchFamily="34" charset="-120"/>
              </a:rPr>
              <a:t>Anatomy is merely the latest snapshot of embryology in motion. How does the folding of a flat trilaminar germ disc establish the boundary between thoracic and pelvic catastrophe?</a:t>
            </a:r>
            <a:endParaRPr lang="en-US" sz="1100" dirty="0"/>
          </a:p>
        </p:txBody>
      </p:sp>
      <p:sp>
        <p:nvSpPr>
          <p:cNvPr id="7" name="Shape 5"/>
          <p:cNvSpPr/>
          <p:nvPr/>
        </p:nvSpPr>
        <p:spPr>
          <a:xfrm>
            <a:off x="731520" y="2194560"/>
            <a:ext cx="10725912" cy="3383280"/>
          </a:xfrm>
          <a:prstGeom prst="rect">
            <a:avLst/>
          </a:prstGeom>
          <a:solidFill>
            <a:srgbClr val="FFFFFF"/>
          </a:solidFill>
          <a:ln w="15240">
            <a:solidFill>
              <a:srgbClr val="CBD5E1"/>
            </a:solidFill>
            <a:prstDash val="solid"/>
          </a:ln>
        </p:spPr>
      </p:sp>
      <p:sp>
        <p:nvSpPr>
          <p:cNvPr id="8" name="Shape 6"/>
          <p:cNvSpPr/>
          <p:nvPr/>
        </p:nvSpPr>
        <p:spPr>
          <a:xfrm>
            <a:off x="731520" y="2194560"/>
            <a:ext cx="10725912" cy="411480"/>
          </a:xfrm>
          <a:prstGeom prst="rect">
            <a:avLst/>
          </a:prstGeom>
          <a:solidFill>
            <a:srgbClr val="1E3A8A"/>
          </a:solidFill>
          <a:ln/>
        </p:spPr>
      </p:sp>
      <p:sp>
        <p:nvSpPr>
          <p:cNvPr id="9" name="Text 7"/>
          <p:cNvSpPr/>
          <p:nvPr/>
        </p:nvSpPr>
        <p:spPr>
          <a:xfrm>
            <a:off x="914400" y="219456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THE 4 VECTORS OF EMBRYONIC FOLDING (CARNEGIE STAGES 9–12)</a:t>
            </a:r>
            <a:endParaRPr lang="en-US" sz="1250" dirty="0"/>
          </a:p>
        </p:txBody>
      </p:sp>
      <p:sp>
        <p:nvSpPr>
          <p:cNvPr id="10" name="Text 8"/>
          <p:cNvSpPr/>
          <p:nvPr/>
        </p:nvSpPr>
        <p:spPr>
          <a:xfrm>
            <a:off x="960120" y="2697480"/>
            <a:ext cx="10268712" cy="278892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Cephalic (Cranial) Fold: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Swings the primitive heart, pericardial cavity, and septum transversum from the cranial margin onto the ventral thoracic surface. Arrest leads to Pentalogy of Cantrell and Ectopia Cordis.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Caudal (Tail) Fold: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Translocates the cloacal membrane, allantois, and infraumbilical mesoderm onto the ventral lower abdomen. Arrest leads to Bladder Exstrophy and the OEIS Complex.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Paired Lateral Somatopleural Folds: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Two lateral folds advance ventrally in the transverse plane, fusing in the midline to convert the endoderm into a tubular gut and close the primary umbilical ring.
</a:t>
            </a:r>
            <a:endParaRPr lang="en-US" sz="1350" dirty="0"/>
          </a:p>
        </p:txBody>
      </p:sp>
      <p:sp>
        <p:nvSpPr>
          <p:cNvPr id="11" name="Shape 9"/>
          <p:cNvSpPr/>
          <p:nvPr/>
        </p:nvSpPr>
        <p:spPr>
          <a:xfrm>
            <a:off x="731520" y="5715000"/>
            <a:ext cx="10725912" cy="621792"/>
          </a:xfrm>
          <a:prstGeom prst="rect">
            <a:avLst/>
          </a:prstGeom>
          <a:solidFill>
            <a:srgbClr val="FFFBEB"/>
          </a:solidFill>
          <a:ln w="15240">
            <a:solidFill>
              <a:srgbClr val="D97706"/>
            </a:solidFill>
            <a:prstDash val="solid"/>
          </a:ln>
        </p:spPr>
      </p:sp>
      <p:sp>
        <p:nvSpPr>
          <p:cNvPr id="12" name="Text 10"/>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97706"/>
                </a:solidFill>
                <a:latin typeface="Calibri" pitchFamily="34" charset="0"/>
                <a:ea typeface="Calibri" pitchFamily="34" charset="-122"/>
                <a:cs typeface="Calibri" pitchFamily="34" charset="-120"/>
              </a:rPr>
              <a:t>💡 RADIOLOGY PEARL: </a:t>
            </a:r>
            <a:pPr indent="0" marL="0">
              <a:buNone/>
            </a:pPr>
            <a:r>
              <a:rPr lang="en-US" sz="1000" dirty="0">
                <a:solidFill>
                  <a:srgbClr val="0F172A"/>
                </a:solidFill>
                <a:latin typeface="Calibri" pitchFamily="34" charset="0"/>
                <a:ea typeface="Calibri" pitchFamily="34" charset="-122"/>
                <a:cs typeface="Calibri" pitchFamily="34" charset="-120"/>
              </a:rPr>
              <a:t>Every congenital defect on ultrasound is a frozen checkpoint in embryogenesis. Trace which of the 4 body folds or organ buds arrested!</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FOUNDATIONAL MORPHOGENESIS • CORE PRINCIPLES</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The 4 Pillars of Reverse Embryological Reasoning</a:t>
            </a:r>
            <a:endParaRPr lang="en-US" sz="2300" dirty="0"/>
          </a:p>
        </p:txBody>
      </p:sp>
      <p:sp>
        <p:nvSpPr>
          <p:cNvPr id="5" name="Shape 3"/>
          <p:cNvSpPr/>
          <p:nvPr/>
        </p:nvSpPr>
        <p:spPr>
          <a:xfrm>
            <a:off x="731520" y="1554480"/>
            <a:ext cx="10725912" cy="4023360"/>
          </a:xfrm>
          <a:prstGeom prst="rect">
            <a:avLst/>
          </a:prstGeom>
          <a:solidFill>
            <a:srgbClr val="FFFFFF"/>
          </a:solidFill>
          <a:ln w="15240">
            <a:solidFill>
              <a:srgbClr val="CBD5E1"/>
            </a:solidFill>
            <a:prstDash val="solid"/>
          </a:ln>
        </p:spPr>
      </p:sp>
      <p:sp>
        <p:nvSpPr>
          <p:cNvPr id="6" name="Shape 4"/>
          <p:cNvSpPr/>
          <p:nvPr/>
        </p:nvSpPr>
        <p:spPr>
          <a:xfrm>
            <a:off x="731520" y="1554480"/>
            <a:ext cx="10725912" cy="411480"/>
          </a:xfrm>
          <a:prstGeom prst="rect">
            <a:avLst/>
          </a:prstGeom>
          <a:solidFill>
            <a:srgbClr val="0F766E"/>
          </a:solidFill>
          <a:ln/>
        </p:spPr>
      </p:sp>
      <p:sp>
        <p:nvSpPr>
          <p:cNvPr id="7" name="Text 5"/>
          <p:cNvSpPr/>
          <p:nvPr/>
        </p:nvSpPr>
        <p:spPr>
          <a:xfrm>
            <a:off x="914400" y="155448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WHY FETAL RADIOLOGISTS MUST THINK IN REVERSE</a:t>
            </a:r>
            <a:endParaRPr lang="en-US" sz="1250" dirty="0"/>
          </a:p>
        </p:txBody>
      </p:sp>
      <p:sp>
        <p:nvSpPr>
          <p:cNvPr id="8" name="Text 6"/>
          <p:cNvSpPr/>
          <p:nvPr/>
        </p:nvSpPr>
        <p:spPr>
          <a:xfrm>
            <a:off x="960120" y="2057400"/>
            <a:ext cx="10268712" cy="342900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1. Timing &amp; Mechanics: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Explains why an anomaly appears at a specific gestational age (e.g., physiological herniation vs. true omphalocele).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2. Membranes &amp; Anatomical Relations: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Explains why the exact umbilical cord insertion point differentiates lethal from isolated abdominal wall defects.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3. Vascular vs. Recanalization Dynamics: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Explains why duodenal atresia has a 40% Down syndrome risk, while jejunoileal atresia has virtually zero aneuploidy risk.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4. Inductive Signaling: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Explains why a single failed ureteric bud produces either an empty renal fossa, a dysplastic cystic mass, or crossed ectopia.
</a:t>
            </a:r>
            <a:endParaRPr lang="en-US" sz="1350" dirty="0"/>
          </a:p>
        </p:txBody>
      </p:sp>
      <p:sp>
        <p:nvSpPr>
          <p:cNvPr id="9" name="Shape 7"/>
          <p:cNvSpPr/>
          <p:nvPr/>
        </p:nvSpPr>
        <p:spPr>
          <a:xfrm>
            <a:off x="731520" y="5715000"/>
            <a:ext cx="10725912" cy="621792"/>
          </a:xfrm>
          <a:prstGeom prst="rect">
            <a:avLst/>
          </a:prstGeom>
          <a:solidFill>
            <a:srgbClr val="FFFBEB"/>
          </a:solidFill>
          <a:ln w="15240">
            <a:solidFill>
              <a:srgbClr val="D97706"/>
            </a:solidFill>
            <a:prstDash val="solid"/>
          </a:ln>
        </p:spPr>
      </p:sp>
      <p:sp>
        <p:nvSpPr>
          <p:cNvPr id="10" name="Text 8"/>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97706"/>
                </a:solidFill>
                <a:latin typeface="Calibri" pitchFamily="34" charset="0"/>
                <a:ea typeface="Calibri" pitchFamily="34" charset="-122"/>
                <a:cs typeface="Calibri" pitchFamily="34" charset="-120"/>
              </a:rPr>
              <a:t>💡 RADIOLOGY PEARL: </a:t>
            </a:r>
            <a:pPr indent="0" marL="0">
              <a:buNone/>
            </a:pPr>
            <a:r>
              <a:rPr lang="en-US" sz="1000" dirty="0">
                <a:solidFill>
                  <a:srgbClr val="0F172A"/>
                </a:solidFill>
                <a:latin typeface="Calibri" pitchFamily="34" charset="0"/>
                <a:ea typeface="Calibri" pitchFamily="34" charset="-122"/>
                <a:cs typeface="Calibri" pitchFamily="34" charset="-120"/>
              </a:rPr>
              <a:t>Clinical radiologists do not memorize Carnegie stages for trivia. We use embryology to predict occult co-anomalies and direct surgical triage.</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MIDGUT SONOEMBRYOLOGY • WEEKS 6–12 GA</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The Physiological Herniation Clock: Weeks 6 to 12</a:t>
            </a:r>
            <a:endParaRPr lang="en-US" sz="2300" dirty="0"/>
          </a:p>
        </p:txBody>
      </p:sp>
      <p:sp>
        <p:nvSpPr>
          <p:cNvPr id="5" name="Shape 3"/>
          <p:cNvSpPr/>
          <p:nvPr/>
        </p:nvSpPr>
        <p:spPr>
          <a:xfrm>
            <a:off x="731520" y="1463040"/>
            <a:ext cx="10725912" cy="594360"/>
          </a:xfrm>
          <a:prstGeom prst="rect">
            <a:avLst/>
          </a:prstGeom>
          <a:solidFill>
            <a:srgbClr val="F0F9FF"/>
          </a:solidFill>
          <a:ln w="15240">
            <a:solidFill>
              <a:srgbClr val="0284C7"/>
            </a:solidFill>
            <a:prstDash val="solid"/>
          </a:ln>
        </p:spPr>
      </p:sp>
      <p:sp>
        <p:nvSpPr>
          <p:cNvPr id="6" name="Text 4"/>
          <p:cNvSpPr/>
          <p:nvPr/>
        </p:nvSpPr>
        <p:spPr>
          <a:xfrm>
            <a:off x="868680" y="1481328"/>
            <a:ext cx="10451592" cy="557784"/>
          </a:xfrm>
          <a:prstGeom prst="rect">
            <a:avLst/>
          </a:prstGeom>
          <a:noFill/>
          <a:ln/>
        </p:spPr>
        <p:txBody>
          <a:bodyPr wrap="square"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CLINICAL WORKSTATION HOOK: </a:t>
            </a:r>
            <a:pPr indent="0" marL="0">
              <a:buNone/>
            </a:pPr>
            <a:r>
              <a:rPr lang="en-US" sz="1100" i="1" dirty="0">
                <a:solidFill>
                  <a:srgbClr val="0F172A"/>
                </a:solidFill>
                <a:latin typeface="Calibri" pitchFamily="34" charset="0"/>
                <a:ea typeface="Calibri" pitchFamily="34" charset="-122"/>
                <a:cs typeface="Calibri" pitchFamily="34" charset="-120"/>
              </a:rPr>
              <a:t>A 10-week scan reveals a 5 mm echogenic mass at the cord base. Is this an omphalocele mandating genetic counseling, or normal embryology in progress?</a:t>
            </a:r>
            <a:endParaRPr lang="en-US" sz="1100" dirty="0"/>
          </a:p>
        </p:txBody>
      </p:sp>
      <p:sp>
        <p:nvSpPr>
          <p:cNvPr id="7" name="Shape 5"/>
          <p:cNvSpPr/>
          <p:nvPr/>
        </p:nvSpPr>
        <p:spPr>
          <a:xfrm>
            <a:off x="731520" y="2194560"/>
            <a:ext cx="10725912" cy="3383280"/>
          </a:xfrm>
          <a:prstGeom prst="rect">
            <a:avLst/>
          </a:prstGeom>
          <a:solidFill>
            <a:srgbClr val="FFFFFF"/>
          </a:solidFill>
          <a:ln w="15240">
            <a:solidFill>
              <a:srgbClr val="CBD5E1"/>
            </a:solidFill>
            <a:prstDash val="solid"/>
          </a:ln>
        </p:spPr>
      </p:sp>
      <p:sp>
        <p:nvSpPr>
          <p:cNvPr id="8" name="Shape 6"/>
          <p:cNvSpPr/>
          <p:nvPr/>
        </p:nvSpPr>
        <p:spPr>
          <a:xfrm>
            <a:off x="731520" y="2194560"/>
            <a:ext cx="10725912" cy="411480"/>
          </a:xfrm>
          <a:prstGeom prst="rect">
            <a:avLst/>
          </a:prstGeom>
          <a:solidFill>
            <a:srgbClr val="0369A1"/>
          </a:solidFill>
          <a:ln/>
        </p:spPr>
      </p:sp>
      <p:sp>
        <p:nvSpPr>
          <p:cNvPr id="9" name="Text 7"/>
          <p:cNvSpPr/>
          <p:nvPr/>
        </p:nvSpPr>
        <p:spPr>
          <a:xfrm>
            <a:off x="914400" y="219456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THE CHRONOLOGICAL SEQUENCE OF MIDGUT HERNIATION (CS 16–23)</a:t>
            </a:r>
            <a:endParaRPr lang="en-US" sz="1250" dirty="0"/>
          </a:p>
        </p:txBody>
      </p:sp>
      <p:sp>
        <p:nvSpPr>
          <p:cNvPr id="10" name="Text 8"/>
          <p:cNvSpPr/>
          <p:nvPr/>
        </p:nvSpPr>
        <p:spPr>
          <a:xfrm>
            <a:off x="960120" y="2697480"/>
            <a:ext cx="10268712" cy="278892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Week 6 (8 wks GA):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Midgut undergoes rapid longitudinal elongation outpacing the embryonic coelom; herniates into the umbilical cord base (extraembryonic coelom).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The First 90° CCW Rotation: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The midgut loop rotates 90° counterclockwise around the Superior Mesenteric Artery (SMA) axis outside the fetal abdomen.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Weeks 10–11 (10–11 wks GA):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Midgut loops return into the enlarged abdominal cavity, completing another 180° counterclockwise rotation (Total = 270° CCW).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Week 12 (12.0 wks GA):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Cecum settles in the Right Lower Quadrant (RLQ); ascending and descending colons fuse to the posterior parietes.
</a:t>
            </a:r>
            <a:endParaRPr lang="en-US" sz="1350" dirty="0"/>
          </a:p>
        </p:txBody>
      </p:sp>
      <p:sp>
        <p:nvSpPr>
          <p:cNvPr id="11" name="Shape 9"/>
          <p:cNvSpPr/>
          <p:nvPr/>
        </p:nvSpPr>
        <p:spPr>
          <a:xfrm>
            <a:off x="731520" y="5715000"/>
            <a:ext cx="10725912" cy="621792"/>
          </a:xfrm>
          <a:prstGeom prst="rect">
            <a:avLst/>
          </a:prstGeom>
          <a:solidFill>
            <a:srgbClr val="FFFBEB"/>
          </a:solidFill>
          <a:ln w="15240">
            <a:solidFill>
              <a:srgbClr val="D97706"/>
            </a:solidFill>
            <a:prstDash val="solid"/>
          </a:ln>
        </p:spPr>
      </p:sp>
      <p:sp>
        <p:nvSpPr>
          <p:cNvPr id="12" name="Text 10"/>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97706"/>
                </a:solidFill>
                <a:latin typeface="Calibri" pitchFamily="34" charset="0"/>
                <a:ea typeface="Calibri" pitchFamily="34" charset="-122"/>
                <a:cs typeface="Calibri" pitchFamily="34" charset="-120"/>
              </a:rPr>
              <a:t>💡 RADIOLOGY PEARL: </a:t>
            </a:r>
            <a:pPr indent="0" marL="0">
              <a:buNone/>
            </a:pPr>
            <a:r>
              <a:rPr lang="en-US" sz="1000" dirty="0">
                <a:solidFill>
                  <a:srgbClr val="0F172A"/>
                </a:solidFill>
                <a:latin typeface="Calibri" pitchFamily="34" charset="0"/>
                <a:ea typeface="Calibri" pitchFamily="34" charset="-122"/>
                <a:cs typeface="Calibri" pitchFamily="34" charset="-120"/>
              </a:rPr>
              <a:t>Physiological midgut herniation into the umbilical cord is mandatory for normal 270° counterclockwise intestinal rotation!</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MIDGUT SONOEMBRYOLOGY • WORKSTATION RULES</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Physiological Herniation: Strict Sonographic Cutoffs</a:t>
            </a:r>
            <a:endParaRPr lang="en-US" sz="2300" dirty="0"/>
          </a:p>
        </p:txBody>
      </p:sp>
      <p:sp>
        <p:nvSpPr>
          <p:cNvPr id="5" name="Shape 3"/>
          <p:cNvSpPr/>
          <p:nvPr/>
        </p:nvSpPr>
        <p:spPr>
          <a:xfrm>
            <a:off x="731520" y="1554480"/>
            <a:ext cx="10725912" cy="4023360"/>
          </a:xfrm>
          <a:prstGeom prst="rect">
            <a:avLst/>
          </a:prstGeom>
          <a:solidFill>
            <a:srgbClr val="FFFFFF"/>
          </a:solidFill>
          <a:ln w="15240">
            <a:solidFill>
              <a:srgbClr val="CBD5E1"/>
            </a:solidFill>
            <a:prstDash val="solid"/>
          </a:ln>
        </p:spPr>
      </p:sp>
      <p:sp>
        <p:nvSpPr>
          <p:cNvPr id="6" name="Shape 4"/>
          <p:cNvSpPr/>
          <p:nvPr/>
        </p:nvSpPr>
        <p:spPr>
          <a:xfrm>
            <a:off x="731520" y="1554480"/>
            <a:ext cx="10725912" cy="411480"/>
          </a:xfrm>
          <a:prstGeom prst="rect">
            <a:avLst/>
          </a:prstGeom>
          <a:solidFill>
            <a:srgbClr val="065F46"/>
          </a:solidFill>
          <a:ln/>
        </p:spPr>
      </p:sp>
      <p:sp>
        <p:nvSpPr>
          <p:cNvPr id="7" name="Text 5"/>
          <p:cNvSpPr/>
          <p:nvPr/>
        </p:nvSpPr>
        <p:spPr>
          <a:xfrm>
            <a:off x="914400" y="155448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FETAL SONOGRAPHIC MILESTONES &amp; PATHOLOGICAL RED FLAGS</a:t>
            </a:r>
            <a:endParaRPr lang="en-US" sz="1250" dirty="0"/>
          </a:p>
        </p:txBody>
      </p:sp>
      <p:sp>
        <p:nvSpPr>
          <p:cNvPr id="8" name="Text 6"/>
          <p:cNvSpPr/>
          <p:nvPr/>
        </p:nvSpPr>
        <p:spPr>
          <a:xfrm>
            <a:off x="960120" y="2057400"/>
            <a:ext cx="10268712" cy="342900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Normal Physiologic Omphalocele: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Expected between 8 and 10+6 weeks GA (fetal pole Crown-Rump Length CRL 20–44 mm). Herniation diameter is normally &lt;= 7 mm.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Strict Diagnostic Cutoff: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Physiological herniation MUST completely resolve by 12.0 completed weeks GA or CRL &gt; 45 mm!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Pathological Red Flag: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Herniation exceeding &gt;7 mm diameter at any stage, or persisting into the 12–14 week NT scan, demands genetic workup for omphalocele.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Extracorporeal Liver Sign: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If liver tissue is present within the herniation at ANY gestational age, it is NEVER physiological—it is an omphalocele!
</a:t>
            </a:r>
            <a:endParaRPr lang="en-US" sz="1350" dirty="0"/>
          </a:p>
        </p:txBody>
      </p:sp>
      <p:sp>
        <p:nvSpPr>
          <p:cNvPr id="9" name="Shape 7"/>
          <p:cNvSpPr/>
          <p:nvPr/>
        </p:nvSpPr>
        <p:spPr>
          <a:xfrm>
            <a:off x="731520" y="5715000"/>
            <a:ext cx="10725912" cy="621792"/>
          </a:xfrm>
          <a:prstGeom prst="rect">
            <a:avLst/>
          </a:prstGeom>
          <a:solidFill>
            <a:srgbClr val="FEF2F2"/>
          </a:solidFill>
          <a:ln w="15240">
            <a:solidFill>
              <a:srgbClr val="DC2626"/>
            </a:solidFill>
            <a:prstDash val="solid"/>
          </a:ln>
        </p:spPr>
      </p:sp>
      <p:sp>
        <p:nvSpPr>
          <p:cNvPr id="10" name="Text 8"/>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C2626"/>
                </a:solidFill>
                <a:latin typeface="Calibri" pitchFamily="34" charset="0"/>
                <a:ea typeface="Calibri" pitchFamily="34" charset="-122"/>
                <a:cs typeface="Calibri" pitchFamily="34" charset="-120"/>
              </a:rPr>
              <a:t>⚠️ RADIOLOGIST'S TRAP: </a:t>
            </a:r>
            <a:pPr indent="0" marL="0">
              <a:buNone/>
            </a:pPr>
            <a:r>
              <a:rPr lang="en-US" sz="1000" dirty="0">
                <a:solidFill>
                  <a:srgbClr val="0F172A"/>
                </a:solidFill>
                <a:latin typeface="Calibri" pitchFamily="34" charset="0"/>
                <a:ea typeface="Calibri" pitchFamily="34" charset="-122"/>
                <a:cs typeface="Calibri" pitchFamily="34" charset="-120"/>
              </a:rPr>
              <a:t>Calling an omphalocele at 10 weeks is malpractice; missing it at 13 weeks is a diagnostic failure!</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ANTERIOR ABDOMINAL WALL • DIAGNOSTIC DILEMMA</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Gastroschisis vs. Omphalocele: The Clinical Hook</a:t>
            </a:r>
            <a:endParaRPr lang="en-US" sz="2300" dirty="0"/>
          </a:p>
        </p:txBody>
      </p:sp>
      <p:sp>
        <p:nvSpPr>
          <p:cNvPr id="5" name="Shape 3"/>
          <p:cNvSpPr/>
          <p:nvPr/>
        </p:nvSpPr>
        <p:spPr>
          <a:xfrm>
            <a:off x="731520" y="1463040"/>
            <a:ext cx="10725912" cy="594360"/>
          </a:xfrm>
          <a:prstGeom prst="rect">
            <a:avLst/>
          </a:prstGeom>
          <a:solidFill>
            <a:srgbClr val="F0F9FF"/>
          </a:solidFill>
          <a:ln w="15240">
            <a:solidFill>
              <a:srgbClr val="0284C7"/>
            </a:solidFill>
            <a:prstDash val="solid"/>
          </a:ln>
        </p:spPr>
      </p:sp>
      <p:sp>
        <p:nvSpPr>
          <p:cNvPr id="6" name="Text 4"/>
          <p:cNvSpPr/>
          <p:nvPr/>
        </p:nvSpPr>
        <p:spPr>
          <a:xfrm>
            <a:off x="868680" y="1481328"/>
            <a:ext cx="10451592" cy="557784"/>
          </a:xfrm>
          <a:prstGeom prst="rect">
            <a:avLst/>
          </a:prstGeom>
          <a:noFill/>
          <a:ln/>
        </p:spPr>
        <p:txBody>
          <a:bodyPr wrap="square"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CLINICAL WORKSTATION HOOK: </a:t>
            </a:r>
            <a:pPr indent="0" marL="0">
              <a:buNone/>
            </a:pPr>
            <a:r>
              <a:rPr lang="en-US" sz="1100" i="1" dirty="0">
                <a:solidFill>
                  <a:srgbClr val="0F172A"/>
                </a:solidFill>
                <a:latin typeface="Calibri" pitchFamily="34" charset="0"/>
                <a:ea typeface="Calibri" pitchFamily="34" charset="-122"/>
                <a:cs typeface="Calibri" pitchFamily="34" charset="-120"/>
              </a:rPr>
              <a:t>Both present as herniated bowel at the anterior fetal wall at 20 weeks. Why does one trigger urgent fetal echo and microarray for lethal trisomies, while the other prompts serial Doppler sweeps in a genetically normal fetus?</a:t>
            </a:r>
            <a:endParaRPr lang="en-US" sz="1100" dirty="0"/>
          </a:p>
        </p:txBody>
      </p:sp>
      <p:sp>
        <p:nvSpPr>
          <p:cNvPr id="7" name="Shape 5"/>
          <p:cNvSpPr/>
          <p:nvPr/>
        </p:nvSpPr>
        <p:spPr>
          <a:xfrm>
            <a:off x="731520" y="2194560"/>
            <a:ext cx="10725912" cy="3383280"/>
          </a:xfrm>
          <a:prstGeom prst="rect">
            <a:avLst/>
          </a:prstGeom>
          <a:solidFill>
            <a:srgbClr val="FFFFFF"/>
          </a:solidFill>
          <a:ln w="15240">
            <a:solidFill>
              <a:srgbClr val="CBD5E1"/>
            </a:solidFill>
            <a:prstDash val="solid"/>
          </a:ln>
        </p:spPr>
      </p:sp>
      <p:sp>
        <p:nvSpPr>
          <p:cNvPr id="8" name="Shape 6"/>
          <p:cNvSpPr/>
          <p:nvPr/>
        </p:nvSpPr>
        <p:spPr>
          <a:xfrm>
            <a:off x="731520" y="2194560"/>
            <a:ext cx="10725912" cy="411480"/>
          </a:xfrm>
          <a:prstGeom prst="rect">
            <a:avLst/>
          </a:prstGeom>
          <a:solidFill>
            <a:srgbClr val="1E3A8A"/>
          </a:solidFill>
          <a:ln/>
        </p:spPr>
      </p:sp>
      <p:sp>
        <p:nvSpPr>
          <p:cNvPr id="9" name="Text 7"/>
          <p:cNvSpPr/>
          <p:nvPr/>
        </p:nvSpPr>
        <p:spPr>
          <a:xfrm>
            <a:off x="914400" y="219456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VISUAL SIMILARITY VS. PATHOPHYSIOLOGICAL DIVERGENCE</a:t>
            </a:r>
            <a:endParaRPr lang="en-US" sz="1250" dirty="0"/>
          </a:p>
        </p:txBody>
      </p:sp>
      <p:sp>
        <p:nvSpPr>
          <p:cNvPr id="10" name="Text 8"/>
          <p:cNvSpPr/>
          <p:nvPr/>
        </p:nvSpPr>
        <p:spPr>
          <a:xfrm>
            <a:off x="960120" y="2697480"/>
            <a:ext cx="10268712" cy="278892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Visual Pattern Trap: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Both conditions present as a protruding abdominal mass containing fluid-filled bowel loops on prenatal ultrasound.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The Embryological Fork in the Road: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One is a failure of midline body fold fusion and gut reduction; the other is a localized lateral vascular accident.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Contrasting Clinical Destinies: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Omphalocele mortality is driven by associated lethal aneuploidies (Trisomy 18) and congenital heart disease (50%). Gastroschisis mortality is driven by post-natal bowel necrosis, atresia, and short gut syndrome.
</a:t>
            </a:r>
            <a:endParaRPr lang="en-US" sz="1350" dirty="0"/>
          </a:p>
        </p:txBody>
      </p:sp>
      <p:sp>
        <p:nvSpPr>
          <p:cNvPr id="11" name="Shape 9"/>
          <p:cNvSpPr/>
          <p:nvPr/>
        </p:nvSpPr>
        <p:spPr>
          <a:xfrm>
            <a:off x="731520" y="5715000"/>
            <a:ext cx="10725912" cy="621792"/>
          </a:xfrm>
          <a:prstGeom prst="rect">
            <a:avLst/>
          </a:prstGeom>
          <a:solidFill>
            <a:srgbClr val="FFFBEB"/>
          </a:solidFill>
          <a:ln w="15240">
            <a:solidFill>
              <a:srgbClr val="D97706"/>
            </a:solidFill>
            <a:prstDash val="solid"/>
          </a:ln>
        </p:spPr>
      </p:sp>
      <p:sp>
        <p:nvSpPr>
          <p:cNvPr id="12" name="Text 10"/>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97706"/>
                </a:solidFill>
                <a:latin typeface="Calibri" pitchFamily="34" charset="0"/>
                <a:ea typeface="Calibri" pitchFamily="34" charset="-122"/>
                <a:cs typeface="Calibri" pitchFamily="34" charset="-120"/>
              </a:rPr>
              <a:t>💡 RADIOLOGY PEARL: </a:t>
            </a:r>
            <a:pPr indent="0" marL="0">
              <a:buNone/>
            </a:pPr>
            <a:r>
              <a:rPr lang="en-US" sz="1000" dirty="0">
                <a:solidFill>
                  <a:srgbClr val="0F172A"/>
                </a:solidFill>
                <a:latin typeface="Calibri" pitchFamily="34" charset="0"/>
                <a:ea typeface="Calibri" pitchFamily="34" charset="-122"/>
                <a:cs typeface="Calibri" pitchFamily="34" charset="-120"/>
              </a:rPr>
              <a:t>Look-alikes on ultrasound require tracing the embryological anatomy to dictate perinatal management.</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ANTERIOR ABDOMINAL WALL • OMPHALOCELE</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Omphalocele: Failed Midgut Reduction &amp; Midline Fusion</a:t>
            </a:r>
            <a:endParaRPr lang="en-US" sz="2300" dirty="0"/>
          </a:p>
        </p:txBody>
      </p:sp>
      <p:sp>
        <p:nvSpPr>
          <p:cNvPr id="5" name="Shape 3"/>
          <p:cNvSpPr/>
          <p:nvPr/>
        </p:nvSpPr>
        <p:spPr>
          <a:xfrm>
            <a:off x="731520" y="1554480"/>
            <a:ext cx="10725912" cy="4023360"/>
          </a:xfrm>
          <a:prstGeom prst="rect">
            <a:avLst/>
          </a:prstGeom>
          <a:solidFill>
            <a:srgbClr val="FFFFFF"/>
          </a:solidFill>
          <a:ln w="15240">
            <a:solidFill>
              <a:srgbClr val="CBD5E1"/>
            </a:solidFill>
            <a:prstDash val="solid"/>
          </a:ln>
        </p:spPr>
      </p:sp>
      <p:sp>
        <p:nvSpPr>
          <p:cNvPr id="6" name="Shape 4"/>
          <p:cNvSpPr/>
          <p:nvPr/>
        </p:nvSpPr>
        <p:spPr>
          <a:xfrm>
            <a:off x="731520" y="1554480"/>
            <a:ext cx="10725912" cy="411480"/>
          </a:xfrm>
          <a:prstGeom prst="rect">
            <a:avLst/>
          </a:prstGeom>
          <a:solidFill>
            <a:srgbClr val="1E3A8A"/>
          </a:solidFill>
          <a:ln/>
        </p:spPr>
      </p:sp>
      <p:sp>
        <p:nvSpPr>
          <p:cNvPr id="7" name="Text 5"/>
          <p:cNvSpPr/>
          <p:nvPr/>
        </p:nvSpPr>
        <p:spPr>
          <a:xfrm>
            <a:off x="914400" y="155448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EMBRYOGENESIS, ANATOMY &amp; PATHOLOGY OF OMPHALOCELE</a:t>
            </a:r>
            <a:endParaRPr lang="en-US" sz="1250" dirty="0"/>
          </a:p>
        </p:txBody>
      </p:sp>
      <p:sp>
        <p:nvSpPr>
          <p:cNvPr id="8" name="Text 6"/>
          <p:cNvSpPr/>
          <p:nvPr/>
        </p:nvSpPr>
        <p:spPr>
          <a:xfrm>
            <a:off x="960120" y="2057400"/>
            <a:ext cx="10268712" cy="342900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Embryological Mechanism: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Failure of rotated midgut loops to return from the umbilical coelom at 10–12 wks GA (CS 16–23), OR failure of cephalic, caudal, and lateral body folds to fuse in the midline.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Defect Location: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CENTRAL midline umbilical ring.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The 3-Layered Covering Membrane: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ALWAYS enclosed by a true 3-layered sac: outer amnion, middle Wharton's jelly, inner parietal peritoneum (ruptures in labor &lt;5%).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Cord Insertion Point: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The umbilical cord inserts DIRECTLY ONTO THE APEX of the herniated sac. Umbilical vessels radiate along the sac wall.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Organ Contents: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Small bowel, colon, and frequently LIVER (extracorporeal liver in &gt;80%), stomach, spleen.
</a:t>
            </a:r>
            <a:endParaRPr lang="en-US" sz="1350" dirty="0"/>
          </a:p>
        </p:txBody>
      </p:sp>
      <p:sp>
        <p:nvSpPr>
          <p:cNvPr id="9" name="Shape 7"/>
          <p:cNvSpPr/>
          <p:nvPr/>
        </p:nvSpPr>
        <p:spPr>
          <a:xfrm>
            <a:off x="731520" y="5715000"/>
            <a:ext cx="10725912" cy="621792"/>
          </a:xfrm>
          <a:prstGeom prst="rect">
            <a:avLst/>
          </a:prstGeom>
          <a:solidFill>
            <a:srgbClr val="FFFBEB"/>
          </a:solidFill>
          <a:ln w="15240">
            <a:solidFill>
              <a:srgbClr val="D97706"/>
            </a:solidFill>
            <a:prstDash val="solid"/>
          </a:ln>
        </p:spPr>
      </p:sp>
      <p:sp>
        <p:nvSpPr>
          <p:cNvPr id="10" name="Text 8"/>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97706"/>
                </a:solidFill>
                <a:latin typeface="Calibri" pitchFamily="34" charset="0"/>
                <a:ea typeface="Calibri" pitchFamily="34" charset="-122"/>
                <a:cs typeface="Calibri" pitchFamily="34" charset="-120"/>
              </a:rPr>
              <a:t>💡 RADIOLOGY PEARL: </a:t>
            </a:r>
            <a:pPr indent="0" marL="0">
              <a:buNone/>
            </a:pPr>
            <a:r>
              <a:rPr lang="en-US" sz="1000" dirty="0">
                <a:solidFill>
                  <a:srgbClr val="0F172A"/>
                </a:solidFill>
                <a:latin typeface="Calibri" pitchFamily="34" charset="0"/>
                <a:ea typeface="Calibri" pitchFamily="34" charset="-122"/>
                <a:cs typeface="Calibri" pitchFamily="34" charset="-120"/>
              </a:rPr>
              <a:t>Liver-containing omphalocele carries a lower risk of aneuploidy than bowel-only omphalocele, but a higher risk of pulmonary hypoplasia.</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ANTERIOR ABDOMINAL WALL • GASTROSCHISIS</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Gastroschisis: The Vascular Disruption Paradigm</a:t>
            </a:r>
            <a:endParaRPr lang="en-US" sz="2300" dirty="0"/>
          </a:p>
        </p:txBody>
      </p:sp>
      <p:sp>
        <p:nvSpPr>
          <p:cNvPr id="5" name="Shape 3"/>
          <p:cNvSpPr/>
          <p:nvPr/>
        </p:nvSpPr>
        <p:spPr>
          <a:xfrm>
            <a:off x="731520" y="1554480"/>
            <a:ext cx="10725912" cy="4023360"/>
          </a:xfrm>
          <a:prstGeom prst="rect">
            <a:avLst/>
          </a:prstGeom>
          <a:solidFill>
            <a:srgbClr val="FFFFFF"/>
          </a:solidFill>
          <a:ln w="15240">
            <a:solidFill>
              <a:srgbClr val="CBD5E1"/>
            </a:solidFill>
            <a:prstDash val="solid"/>
          </a:ln>
        </p:spPr>
      </p:sp>
      <p:sp>
        <p:nvSpPr>
          <p:cNvPr id="6" name="Shape 4"/>
          <p:cNvSpPr/>
          <p:nvPr/>
        </p:nvSpPr>
        <p:spPr>
          <a:xfrm>
            <a:off x="731520" y="1554480"/>
            <a:ext cx="10725912" cy="411480"/>
          </a:xfrm>
          <a:prstGeom prst="rect">
            <a:avLst/>
          </a:prstGeom>
          <a:solidFill>
            <a:srgbClr val="0D9488"/>
          </a:solidFill>
          <a:ln/>
        </p:spPr>
      </p:sp>
      <p:sp>
        <p:nvSpPr>
          <p:cNvPr id="7" name="Text 5"/>
          <p:cNvSpPr/>
          <p:nvPr/>
        </p:nvSpPr>
        <p:spPr>
          <a:xfrm>
            <a:off x="914400" y="155448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EMBRYOGENESIS, ANATOMY &amp; PATHOLOGY OF GASTROSCHISIS</a:t>
            </a:r>
            <a:endParaRPr lang="en-US" sz="1250" dirty="0"/>
          </a:p>
        </p:txBody>
      </p:sp>
      <p:sp>
        <p:nvSpPr>
          <p:cNvPr id="8" name="Text 6"/>
          <p:cNvSpPr/>
          <p:nvPr/>
        </p:nvSpPr>
        <p:spPr>
          <a:xfrm>
            <a:off x="960120" y="2057400"/>
            <a:ext cx="10268712" cy="342900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Embryological Mechanism: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NOT a failure of herniation retraction! Localized full-thickness vascular disruption (premature atrophy/thrombosis of the right vitelline/omphalomesenteric artery or right umbilical vein involution) around weeks 4–8.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Defect Location: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PARAMEDIAN, almost exclusively 2–4 cm to the RIGHT of a normal cord insertion.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Covering Membrane: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ABSENT (naked bowel). Free-floating bowel is bathed in amniotic fluid, inducing chemical peritonitis, wall edema, and fibrous 'peel'.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Cord Insertion Point: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Cord inserts NORMALLY onto intact abdominal wall, separated from the defect by an intact skin bridge.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Organ Contents: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Predominantly small bowel; solid organs (liver, spleen) are VIRTUALLY NEVER herniated.
</a:t>
            </a:r>
            <a:endParaRPr lang="en-US" sz="1350" dirty="0"/>
          </a:p>
        </p:txBody>
      </p:sp>
      <p:sp>
        <p:nvSpPr>
          <p:cNvPr id="9" name="Shape 7"/>
          <p:cNvSpPr/>
          <p:nvPr/>
        </p:nvSpPr>
        <p:spPr>
          <a:xfrm>
            <a:off x="731520" y="5715000"/>
            <a:ext cx="10725912" cy="621792"/>
          </a:xfrm>
          <a:prstGeom prst="rect">
            <a:avLst/>
          </a:prstGeom>
          <a:solidFill>
            <a:srgbClr val="FFFBEB"/>
          </a:solidFill>
          <a:ln w="15240">
            <a:solidFill>
              <a:srgbClr val="D97706"/>
            </a:solidFill>
            <a:prstDash val="solid"/>
          </a:ln>
        </p:spPr>
      </p:sp>
      <p:sp>
        <p:nvSpPr>
          <p:cNvPr id="10" name="Text 8"/>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97706"/>
                </a:solidFill>
                <a:latin typeface="Calibri" pitchFamily="34" charset="0"/>
                <a:ea typeface="Calibri" pitchFamily="34" charset="-122"/>
                <a:cs typeface="Calibri" pitchFamily="34" charset="-120"/>
              </a:rPr>
              <a:t>💡 RADIOLOGY PEARL: </a:t>
            </a:r>
            <a:pPr indent="0" marL="0">
              <a:buNone/>
            </a:pPr>
            <a:r>
              <a:rPr lang="en-US" sz="1000" dirty="0">
                <a:solidFill>
                  <a:srgbClr val="0F172A"/>
                </a:solidFill>
                <a:latin typeface="Calibri" pitchFamily="34" charset="0"/>
                <a:ea typeface="Calibri" pitchFamily="34" charset="-122"/>
                <a:cs typeface="Calibri" pitchFamily="34" charset="-120"/>
              </a:rPr>
              <a:t>Serial ultrasound: Intra-abdominal bowel dilation &gt;10 mm or stomach dilation warns of closing ring constriction and imminent bowel compromise.</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ANTERIOR ABDOMINAL WALL • GENETICS &amp; PEARLS</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Omphalocele vs. Gastroschisis: Genetics &amp; The Cord Rule</a:t>
            </a:r>
            <a:endParaRPr lang="en-US" sz="2300" dirty="0"/>
          </a:p>
        </p:txBody>
      </p:sp>
      <p:sp>
        <p:nvSpPr>
          <p:cNvPr id="5" name="Shape 3"/>
          <p:cNvSpPr/>
          <p:nvPr/>
        </p:nvSpPr>
        <p:spPr>
          <a:xfrm>
            <a:off x="731520" y="1554480"/>
            <a:ext cx="10725912" cy="4023360"/>
          </a:xfrm>
          <a:prstGeom prst="rect">
            <a:avLst/>
          </a:prstGeom>
          <a:solidFill>
            <a:srgbClr val="FFFFFF"/>
          </a:solidFill>
          <a:ln w="15240">
            <a:solidFill>
              <a:srgbClr val="CBD5E1"/>
            </a:solidFill>
            <a:prstDash val="solid"/>
          </a:ln>
        </p:spPr>
      </p:sp>
      <p:sp>
        <p:nvSpPr>
          <p:cNvPr id="6" name="Shape 4"/>
          <p:cNvSpPr/>
          <p:nvPr/>
        </p:nvSpPr>
        <p:spPr>
          <a:xfrm>
            <a:off x="731520" y="1554480"/>
            <a:ext cx="10725912" cy="411480"/>
          </a:xfrm>
          <a:prstGeom prst="rect">
            <a:avLst/>
          </a:prstGeom>
          <a:solidFill>
            <a:srgbClr val="0F172A"/>
          </a:solidFill>
          <a:ln/>
        </p:spPr>
      </p:sp>
      <p:sp>
        <p:nvSpPr>
          <p:cNvPr id="7" name="Text 5"/>
          <p:cNvSpPr/>
          <p:nvPr/>
        </p:nvSpPr>
        <p:spPr>
          <a:xfrm>
            <a:off x="914400" y="155448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DIAGNOSTIC DISPARITY MATRIX &amp; WORKSTATION PEARLS</a:t>
            </a:r>
            <a:endParaRPr lang="en-US" sz="1250" dirty="0"/>
          </a:p>
        </p:txBody>
      </p:sp>
      <p:sp>
        <p:nvSpPr>
          <p:cNvPr id="8" name="Text 6"/>
          <p:cNvSpPr/>
          <p:nvPr/>
        </p:nvSpPr>
        <p:spPr>
          <a:xfrm>
            <a:off x="960120" y="2057400"/>
            <a:ext cx="10268712" cy="342900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Omphalocele Genetics (50–88%):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High association with Trisomy 18, Trisomy 13, Trisomy 21; Beckwith-Wiedemann syndrome (11p15, CDKN1C: macroglossia, macrosomia, organomegaly); Pentalogy of Cantrell; OEIS complex.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Gastroschisis Genetics (&lt;1%):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Negligible genetic risk (almost always isolated, normal karyotype). Young maternal age (&lt;20 yrs), nicotine exposure. Risk is secondary: bowel atresia (10–15%), necrosis, volvulus.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The Umbilical Cord Rule: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Tracing the cord insertion point is the definitive test: insertion onto the sac apex proves omphalocele; normal insertion onto intact skin proves gastroschisis!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Ruptured Omphalocele Mimic: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A ruptured omphalocele lacks a sac, but cord inserts onto the defect margin (not normal skin) and liver is often eviscerated (never in gastroschisis).
</a:t>
            </a:r>
            <a:endParaRPr lang="en-US" sz="1350" dirty="0"/>
          </a:p>
        </p:txBody>
      </p:sp>
      <p:sp>
        <p:nvSpPr>
          <p:cNvPr id="9" name="Shape 7"/>
          <p:cNvSpPr/>
          <p:nvPr/>
        </p:nvSpPr>
        <p:spPr>
          <a:xfrm>
            <a:off x="731520" y="5715000"/>
            <a:ext cx="10725912" cy="621792"/>
          </a:xfrm>
          <a:prstGeom prst="rect">
            <a:avLst/>
          </a:prstGeom>
          <a:solidFill>
            <a:srgbClr val="FEF2F2"/>
          </a:solidFill>
          <a:ln w="15240">
            <a:solidFill>
              <a:srgbClr val="DC2626"/>
            </a:solidFill>
            <a:prstDash val="solid"/>
          </a:ln>
        </p:spPr>
      </p:sp>
      <p:sp>
        <p:nvSpPr>
          <p:cNvPr id="10" name="Text 8"/>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C2626"/>
                </a:solidFill>
                <a:latin typeface="Calibri" pitchFamily="34" charset="0"/>
                <a:ea typeface="Calibri" pitchFamily="34" charset="-122"/>
                <a:cs typeface="Calibri" pitchFamily="34" charset="-120"/>
              </a:rPr>
              <a:t>⚠️ RADIOLOGIST'S TRAP: </a:t>
            </a:r>
            <a:pPr indent="0" marL="0">
              <a:buNone/>
            </a:pPr>
            <a:r>
              <a:rPr lang="en-US" sz="1000" dirty="0">
                <a:solidFill>
                  <a:srgbClr val="0F172A"/>
                </a:solidFill>
                <a:latin typeface="Calibri" pitchFamily="34" charset="0"/>
                <a:ea typeface="Calibri" pitchFamily="34" charset="-122"/>
                <a:cs typeface="Calibri" pitchFamily="34" charset="-120"/>
              </a:rPr>
              <a:t>Trace the umbilical cord base with Color Doppler: apex insertion = Omphalocele; intact skin bridge = Gastroschisis!</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LETHAL WALL SPECTRUM • EARLY BLASTOGENESIS</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Limb-Body Wall Complex (LBWC) &amp; Body Stalk Anomaly</a:t>
            </a:r>
            <a:endParaRPr lang="en-US" sz="2300" dirty="0"/>
          </a:p>
        </p:txBody>
      </p:sp>
      <p:sp>
        <p:nvSpPr>
          <p:cNvPr id="5" name="Shape 3"/>
          <p:cNvSpPr/>
          <p:nvPr/>
        </p:nvSpPr>
        <p:spPr>
          <a:xfrm>
            <a:off x="731520" y="1463040"/>
            <a:ext cx="10725912" cy="594360"/>
          </a:xfrm>
          <a:prstGeom prst="rect">
            <a:avLst/>
          </a:prstGeom>
          <a:solidFill>
            <a:srgbClr val="F0F9FF"/>
          </a:solidFill>
          <a:ln w="15240">
            <a:solidFill>
              <a:srgbClr val="0284C7"/>
            </a:solidFill>
            <a:prstDash val="solid"/>
          </a:ln>
        </p:spPr>
      </p:sp>
      <p:sp>
        <p:nvSpPr>
          <p:cNvPr id="6" name="Text 4"/>
          <p:cNvSpPr/>
          <p:nvPr/>
        </p:nvSpPr>
        <p:spPr>
          <a:xfrm>
            <a:off x="868680" y="1481328"/>
            <a:ext cx="10451592" cy="557784"/>
          </a:xfrm>
          <a:prstGeom prst="rect">
            <a:avLst/>
          </a:prstGeom>
          <a:noFill/>
          <a:ln/>
        </p:spPr>
        <p:txBody>
          <a:bodyPr wrap="square"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CLINICAL WORKSTATION HOOK: </a:t>
            </a:r>
            <a:pPr indent="0" marL="0">
              <a:buNone/>
            </a:pPr>
            <a:r>
              <a:rPr lang="en-US" sz="1100" i="1" dirty="0">
                <a:solidFill>
                  <a:srgbClr val="0F172A"/>
                </a:solidFill>
                <a:latin typeface="Calibri" pitchFamily="34" charset="0"/>
                <a:ea typeface="Calibri" pitchFamily="34" charset="-122"/>
                <a:cs typeface="Calibri" pitchFamily="34" charset="-120"/>
              </a:rPr>
              <a:t>An extensive thoracoabdominal evisceration is plastered directly against the placenta. Why is the umbilical cord absent, and how do you differentiate this from gastroschisis?</a:t>
            </a:r>
            <a:endParaRPr lang="en-US" sz="1100" dirty="0"/>
          </a:p>
        </p:txBody>
      </p:sp>
      <p:sp>
        <p:nvSpPr>
          <p:cNvPr id="7" name="Shape 5"/>
          <p:cNvSpPr/>
          <p:nvPr/>
        </p:nvSpPr>
        <p:spPr>
          <a:xfrm>
            <a:off x="731520" y="2194560"/>
            <a:ext cx="10725912" cy="3383280"/>
          </a:xfrm>
          <a:prstGeom prst="rect">
            <a:avLst/>
          </a:prstGeom>
          <a:solidFill>
            <a:srgbClr val="FFFFFF"/>
          </a:solidFill>
          <a:ln w="15240">
            <a:solidFill>
              <a:srgbClr val="CBD5E1"/>
            </a:solidFill>
            <a:prstDash val="solid"/>
          </a:ln>
        </p:spPr>
      </p:sp>
      <p:sp>
        <p:nvSpPr>
          <p:cNvPr id="8" name="Shape 6"/>
          <p:cNvSpPr/>
          <p:nvPr/>
        </p:nvSpPr>
        <p:spPr>
          <a:xfrm>
            <a:off x="731520" y="2194560"/>
            <a:ext cx="10725912" cy="411480"/>
          </a:xfrm>
          <a:prstGeom prst="rect">
            <a:avLst/>
          </a:prstGeom>
          <a:solidFill>
            <a:srgbClr val="881337"/>
          </a:solidFill>
          <a:ln/>
        </p:spPr>
      </p:sp>
      <p:sp>
        <p:nvSpPr>
          <p:cNvPr id="9" name="Text 7"/>
          <p:cNvSpPr/>
          <p:nvPr/>
        </p:nvSpPr>
        <p:spPr>
          <a:xfrm>
            <a:off x="914400" y="219456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EMBRYOGENESIS &amp; PATHOGENESIS OF BODY STALK ANOMALY</a:t>
            </a:r>
            <a:endParaRPr lang="en-US" sz="1250" dirty="0"/>
          </a:p>
        </p:txBody>
      </p:sp>
      <p:sp>
        <p:nvSpPr>
          <p:cNvPr id="10" name="Text 8"/>
          <p:cNvSpPr/>
          <p:nvPr/>
        </p:nvSpPr>
        <p:spPr>
          <a:xfrm>
            <a:off x="960120" y="2697480"/>
            <a:ext cx="10268712" cy="278892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Primary Embryogenesis: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Profound disturbance of early embryonic folding (weeks 3–5) combined with failure of extraembryonic coelom obliteration.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Failure of Body Stalk Development: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The embryo fails to separate from the trophoblast. A normal umbilical cord NEVER FORMS! Umbilical vessels run directly within the amniotic reflection from placenta to fetus.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Diagnostic Criteria (&gt;= 2 of 3):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1. Severe thoraco- and/or abdominoschisis
2. Limb defects (clubfoot, oligodactyly, amputations)
3. Craniofacial defects (exencephaly, facial clefts).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Prognosis: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100% universally lethal; non-recurrence risk (sporadic catastrophic mechanical/vascular insult).
</a:t>
            </a:r>
            <a:endParaRPr lang="en-US" sz="1350" dirty="0"/>
          </a:p>
        </p:txBody>
      </p:sp>
      <p:sp>
        <p:nvSpPr>
          <p:cNvPr id="11" name="Shape 9"/>
          <p:cNvSpPr/>
          <p:nvPr/>
        </p:nvSpPr>
        <p:spPr>
          <a:xfrm>
            <a:off x="731520" y="5715000"/>
            <a:ext cx="10725912" cy="621792"/>
          </a:xfrm>
          <a:prstGeom prst="rect">
            <a:avLst/>
          </a:prstGeom>
          <a:solidFill>
            <a:srgbClr val="FEF2F2"/>
          </a:solidFill>
          <a:ln w="15240">
            <a:solidFill>
              <a:srgbClr val="DC2626"/>
            </a:solidFill>
            <a:prstDash val="solid"/>
          </a:ln>
        </p:spPr>
      </p:sp>
      <p:sp>
        <p:nvSpPr>
          <p:cNvPr id="12" name="Text 10"/>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C2626"/>
                </a:solidFill>
                <a:latin typeface="Calibri" pitchFamily="34" charset="0"/>
                <a:ea typeface="Calibri" pitchFamily="34" charset="-122"/>
                <a:cs typeface="Calibri" pitchFamily="34" charset="-120"/>
              </a:rPr>
              <a:t>⚠️ RADIOLOGIST'S TRAP: </a:t>
            </a:r>
            <a:pPr indent="0" marL="0">
              <a:buNone/>
            </a:pPr>
            <a:r>
              <a:rPr lang="en-US" sz="1000" dirty="0">
                <a:solidFill>
                  <a:srgbClr val="0F172A"/>
                </a:solidFill>
                <a:latin typeface="Calibri" pitchFamily="34" charset="0"/>
                <a:ea typeface="Calibri" pitchFamily="34" charset="-122"/>
                <a:cs typeface="Calibri" pitchFamily="34" charset="-120"/>
              </a:rPr>
              <a:t>When an abdominal wall defect is accompanied by severe spinal scoliosis and an absent or ultra-short umbilical cord tethered to the placenta, diagnose LBWC!</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LETHAL WALL SPECTRUM • SUBTYPES</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LBWC: The Russo Phenotypic Classification</a:t>
            </a:r>
            <a:endParaRPr lang="en-US" sz="2300" dirty="0"/>
          </a:p>
        </p:txBody>
      </p:sp>
      <p:sp>
        <p:nvSpPr>
          <p:cNvPr id="5" name="Shape 3"/>
          <p:cNvSpPr/>
          <p:nvPr/>
        </p:nvSpPr>
        <p:spPr>
          <a:xfrm>
            <a:off x="731520" y="1554480"/>
            <a:ext cx="10725912" cy="4023360"/>
          </a:xfrm>
          <a:prstGeom prst="rect">
            <a:avLst/>
          </a:prstGeom>
          <a:solidFill>
            <a:srgbClr val="FFFFFF"/>
          </a:solidFill>
          <a:ln w="15240">
            <a:solidFill>
              <a:srgbClr val="CBD5E1"/>
            </a:solidFill>
            <a:prstDash val="solid"/>
          </a:ln>
        </p:spPr>
      </p:sp>
      <p:sp>
        <p:nvSpPr>
          <p:cNvPr id="6" name="Shape 4"/>
          <p:cNvSpPr/>
          <p:nvPr/>
        </p:nvSpPr>
        <p:spPr>
          <a:xfrm>
            <a:off x="731520" y="1554480"/>
            <a:ext cx="10725912" cy="411480"/>
          </a:xfrm>
          <a:prstGeom prst="rect">
            <a:avLst/>
          </a:prstGeom>
          <a:solidFill>
            <a:srgbClr val="4C1D95"/>
          </a:solidFill>
          <a:ln/>
        </p:spPr>
      </p:sp>
      <p:sp>
        <p:nvSpPr>
          <p:cNvPr id="7" name="Text 5"/>
          <p:cNvSpPr/>
          <p:nvPr/>
        </p:nvSpPr>
        <p:spPr>
          <a:xfrm>
            <a:off x="914400" y="155448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TWO DISTINCT SYNDROMIC PHENOTYPES</a:t>
            </a:r>
            <a:endParaRPr lang="en-US" sz="1250" dirty="0"/>
          </a:p>
        </p:txBody>
      </p:sp>
      <p:sp>
        <p:nvSpPr>
          <p:cNvPr id="8" name="Text 6"/>
          <p:cNvSpPr/>
          <p:nvPr/>
        </p:nvSpPr>
        <p:spPr>
          <a:xfrm>
            <a:off x="960120" y="2057400"/>
            <a:ext cx="10268712" cy="342900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Placentoabdominal Type: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Large abdominoschisis; abdominal viscera attached directly to placental surface; ABSENT OR RUDIMENTARY UMBILICAL CORD (&lt;1 cm); severe lumbosacral kyphoscoliosis; internal urogenital and intestinal atresias.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Placentocranial Type: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Craniofacial defects, encephaloceles, facial clefts, and amniotic cranial adhesions. Umbilical cord may be short but present.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Pathognomonic Ultrasound Triad: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1. Severe kyphoscoliosis with eviscerated organs in extraembryonic coelom
2. Absent/rudimentary cord with single umbilical artery
3. Viscera directly adherent to placenta.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Distinction from Amniotic Band: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Amniotic band syndrome causes limb amputations and constrictions, but does NOT cause complete failure of umbilical cord and body stalk development.
</a:t>
            </a:r>
            <a:endParaRPr lang="en-US" sz="1350" dirty="0"/>
          </a:p>
        </p:txBody>
      </p:sp>
      <p:sp>
        <p:nvSpPr>
          <p:cNvPr id="9" name="Shape 7"/>
          <p:cNvSpPr/>
          <p:nvPr/>
        </p:nvSpPr>
        <p:spPr>
          <a:xfrm>
            <a:off x="731520" y="5715000"/>
            <a:ext cx="10725912" cy="621792"/>
          </a:xfrm>
          <a:prstGeom prst="rect">
            <a:avLst/>
          </a:prstGeom>
          <a:solidFill>
            <a:srgbClr val="FFFBEB"/>
          </a:solidFill>
          <a:ln w="15240">
            <a:solidFill>
              <a:srgbClr val="D97706"/>
            </a:solidFill>
            <a:prstDash val="solid"/>
          </a:ln>
        </p:spPr>
      </p:sp>
      <p:sp>
        <p:nvSpPr>
          <p:cNvPr id="10" name="Text 8"/>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97706"/>
                </a:solidFill>
                <a:latin typeface="Calibri" pitchFamily="34" charset="0"/>
                <a:ea typeface="Calibri" pitchFamily="34" charset="-122"/>
                <a:cs typeface="Calibri" pitchFamily="34" charset="-120"/>
              </a:rPr>
              <a:t>💡 RADIOLOGY PEARL: </a:t>
            </a:r>
            <a:pPr indent="0" marL="0">
              <a:buNone/>
            </a:pPr>
            <a:r>
              <a:rPr lang="en-US" sz="1000" dirty="0">
                <a:solidFill>
                  <a:srgbClr val="0F172A"/>
                </a:solidFill>
                <a:latin typeface="Calibri" pitchFamily="34" charset="0"/>
                <a:ea typeface="Calibri" pitchFamily="34" charset="-122"/>
                <a:cs typeface="Calibri" pitchFamily="34" charset="-120"/>
              </a:rPr>
              <a:t>LBWC is completely distinct from gastroschisis and omphalocele: the cord is absent and viscera are tethered to the placenta.</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CEPHALIC FOLD DISRUPTIONS • WEEKS 3–4</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When the Cephalic Fold Fails: Pentalogy of Cantrell</a:t>
            </a:r>
            <a:endParaRPr lang="en-US" sz="2300" dirty="0"/>
          </a:p>
        </p:txBody>
      </p:sp>
      <p:sp>
        <p:nvSpPr>
          <p:cNvPr id="5" name="Shape 3"/>
          <p:cNvSpPr/>
          <p:nvPr/>
        </p:nvSpPr>
        <p:spPr>
          <a:xfrm>
            <a:off x="731520" y="1463040"/>
            <a:ext cx="10725912" cy="594360"/>
          </a:xfrm>
          <a:prstGeom prst="rect">
            <a:avLst/>
          </a:prstGeom>
          <a:solidFill>
            <a:srgbClr val="F0F9FF"/>
          </a:solidFill>
          <a:ln w="15240">
            <a:solidFill>
              <a:srgbClr val="0284C7"/>
            </a:solidFill>
            <a:prstDash val="solid"/>
          </a:ln>
        </p:spPr>
      </p:sp>
      <p:sp>
        <p:nvSpPr>
          <p:cNvPr id="6" name="Text 4"/>
          <p:cNvSpPr/>
          <p:nvPr/>
        </p:nvSpPr>
        <p:spPr>
          <a:xfrm>
            <a:off x="868680" y="1481328"/>
            <a:ext cx="10451592" cy="557784"/>
          </a:xfrm>
          <a:prstGeom prst="rect">
            <a:avLst/>
          </a:prstGeom>
          <a:noFill/>
          <a:ln/>
        </p:spPr>
        <p:txBody>
          <a:bodyPr wrap="square"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CLINICAL WORKSTATION HOOK: </a:t>
            </a:r>
            <a:pPr indent="0" marL="0">
              <a:buNone/>
            </a:pPr>
            <a:r>
              <a:rPr lang="en-US" sz="1100" i="1" dirty="0">
                <a:solidFill>
                  <a:srgbClr val="0F172A"/>
                </a:solidFill>
                <a:latin typeface="Calibri" pitchFamily="34" charset="0"/>
                <a:ea typeface="Calibri" pitchFamily="34" charset="-122"/>
                <a:cs typeface="Calibri" pitchFamily="34" charset="-120"/>
              </a:rPr>
              <a:t>A pulsating mass protrudes through the chest wall into an upper abdominal omphalocele. What developmental checkpoint failed at day 24 to cause this thoracoabdominal catastrophe?</a:t>
            </a:r>
            <a:endParaRPr lang="en-US" sz="1100" dirty="0"/>
          </a:p>
        </p:txBody>
      </p:sp>
      <p:sp>
        <p:nvSpPr>
          <p:cNvPr id="7" name="Shape 5"/>
          <p:cNvSpPr/>
          <p:nvPr/>
        </p:nvSpPr>
        <p:spPr>
          <a:xfrm>
            <a:off x="731520" y="2194560"/>
            <a:ext cx="10725912" cy="3383280"/>
          </a:xfrm>
          <a:prstGeom prst="rect">
            <a:avLst/>
          </a:prstGeom>
          <a:solidFill>
            <a:srgbClr val="FFFFFF"/>
          </a:solidFill>
          <a:ln w="15240">
            <a:solidFill>
              <a:srgbClr val="CBD5E1"/>
            </a:solidFill>
            <a:prstDash val="solid"/>
          </a:ln>
        </p:spPr>
      </p:sp>
      <p:sp>
        <p:nvSpPr>
          <p:cNvPr id="8" name="Shape 6"/>
          <p:cNvSpPr/>
          <p:nvPr/>
        </p:nvSpPr>
        <p:spPr>
          <a:xfrm>
            <a:off x="731520" y="2194560"/>
            <a:ext cx="10725912" cy="411480"/>
          </a:xfrm>
          <a:prstGeom prst="rect">
            <a:avLst/>
          </a:prstGeom>
          <a:solidFill>
            <a:srgbClr val="7C2D12"/>
          </a:solidFill>
          <a:ln/>
        </p:spPr>
      </p:sp>
      <p:sp>
        <p:nvSpPr>
          <p:cNvPr id="9" name="Text 7"/>
          <p:cNvSpPr/>
          <p:nvPr/>
        </p:nvSpPr>
        <p:spPr>
          <a:xfrm>
            <a:off x="914400" y="219456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EMBRYOLOGICAL MECHANISM OF CEPHALIC FOLD ARREST</a:t>
            </a:r>
            <a:endParaRPr lang="en-US" sz="1250" dirty="0"/>
          </a:p>
        </p:txBody>
      </p:sp>
      <p:sp>
        <p:nvSpPr>
          <p:cNvPr id="10" name="Text 8"/>
          <p:cNvSpPr/>
          <p:nvPr/>
        </p:nvSpPr>
        <p:spPr>
          <a:xfrm>
            <a:off x="960120" y="2697480"/>
            <a:ext cx="10268712" cy="278892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Embryogenesis (CS 11–13, Day 24–30):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Arrested development of the anterior portion of the septum transversum combined with failure of the paired cephalic lateral mesodermal body folds to fuse in the midline.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Deficient Septum Transversum: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Normally forms the central tendon of the diaphragm and inferior pericardium; failure leaves a large anterior diaphragmatic and pericardial defect.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Direct Pericardio-Peritoneal Communication: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The pericardial cavity communicates directly with the peritoneal cavity, allowing the heart to herniate downwards into the abdominal defect.
</a:t>
            </a:r>
            <a:endParaRPr lang="en-US" sz="1350" dirty="0"/>
          </a:p>
        </p:txBody>
      </p:sp>
      <p:sp>
        <p:nvSpPr>
          <p:cNvPr id="11" name="Shape 9"/>
          <p:cNvSpPr/>
          <p:nvPr/>
        </p:nvSpPr>
        <p:spPr>
          <a:xfrm>
            <a:off x="731520" y="5715000"/>
            <a:ext cx="10725912" cy="621792"/>
          </a:xfrm>
          <a:prstGeom prst="rect">
            <a:avLst/>
          </a:prstGeom>
          <a:solidFill>
            <a:srgbClr val="FFFBEB"/>
          </a:solidFill>
          <a:ln w="15240">
            <a:solidFill>
              <a:srgbClr val="D97706"/>
            </a:solidFill>
            <a:prstDash val="solid"/>
          </a:ln>
        </p:spPr>
      </p:sp>
      <p:sp>
        <p:nvSpPr>
          <p:cNvPr id="12" name="Text 10"/>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97706"/>
                </a:solidFill>
                <a:latin typeface="Calibri" pitchFamily="34" charset="0"/>
                <a:ea typeface="Calibri" pitchFamily="34" charset="-122"/>
                <a:cs typeface="Calibri" pitchFamily="34" charset="-120"/>
              </a:rPr>
              <a:t>💡 RADIOLOGY PEARL: </a:t>
            </a:r>
            <a:pPr indent="0" marL="0">
              <a:buNone/>
            </a:pPr>
            <a:r>
              <a:rPr lang="en-US" sz="1000" dirty="0">
                <a:solidFill>
                  <a:srgbClr val="0F172A"/>
                </a:solidFill>
                <a:latin typeface="Calibri" pitchFamily="34" charset="0"/>
                <a:ea typeface="Calibri" pitchFamily="34" charset="-122"/>
                <a:cs typeface="Calibri" pitchFamily="34" charset="-120"/>
              </a:rPr>
              <a:t>Cantrell pentad destroys the chest-abdomen boundary: the septum transversum fails and the sternum splits.</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CEPHALIC FOLD DISRUPTIONS • THE PENTAD</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Cantrell Pentad: The 5 Classical Anomalies &amp; Ectopia Cordis</a:t>
            </a:r>
            <a:endParaRPr lang="en-US" sz="2300" dirty="0"/>
          </a:p>
        </p:txBody>
      </p:sp>
      <p:sp>
        <p:nvSpPr>
          <p:cNvPr id="5" name="Shape 3"/>
          <p:cNvSpPr/>
          <p:nvPr/>
        </p:nvSpPr>
        <p:spPr>
          <a:xfrm>
            <a:off x="731520" y="1554480"/>
            <a:ext cx="10725912" cy="4023360"/>
          </a:xfrm>
          <a:prstGeom prst="rect">
            <a:avLst/>
          </a:prstGeom>
          <a:solidFill>
            <a:srgbClr val="FFFFFF"/>
          </a:solidFill>
          <a:ln w="15240">
            <a:solidFill>
              <a:srgbClr val="CBD5E1"/>
            </a:solidFill>
            <a:prstDash val="solid"/>
          </a:ln>
        </p:spPr>
      </p:sp>
      <p:sp>
        <p:nvSpPr>
          <p:cNvPr id="6" name="Shape 4"/>
          <p:cNvSpPr/>
          <p:nvPr/>
        </p:nvSpPr>
        <p:spPr>
          <a:xfrm>
            <a:off x="731520" y="1554480"/>
            <a:ext cx="10725912" cy="411480"/>
          </a:xfrm>
          <a:prstGeom prst="rect">
            <a:avLst/>
          </a:prstGeom>
          <a:solidFill>
            <a:srgbClr val="0369A1"/>
          </a:solidFill>
          <a:ln/>
        </p:spPr>
      </p:sp>
      <p:sp>
        <p:nvSpPr>
          <p:cNvPr id="7" name="Text 5"/>
          <p:cNvSpPr/>
          <p:nvPr/>
        </p:nvSpPr>
        <p:spPr>
          <a:xfrm>
            <a:off x="914400" y="155448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THE ANATOMICAL PENTAD (CANTRELL, HALLER, RAVITCH 1958)</a:t>
            </a:r>
            <a:endParaRPr lang="en-US" sz="1250" dirty="0"/>
          </a:p>
        </p:txBody>
      </p:sp>
      <p:sp>
        <p:nvSpPr>
          <p:cNvPr id="8" name="Text 6"/>
          <p:cNvSpPr/>
          <p:nvPr/>
        </p:nvSpPr>
        <p:spPr>
          <a:xfrm>
            <a:off x="960120" y="2057400"/>
            <a:ext cx="10268712" cy="342900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1. Supraumbilical Wall Defect: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Midline supraumbilical abdominal wall defect (omphalocele-like).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2. Sternal Cleft: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Lower sternal cleft or partial/complete sternal absence.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3. Anterior Diaphragm Defect: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Anterior diaphragmatic defect (deficient septum transversum).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4. Pericardial Sac Defect: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Diaphragmatic pericardial defect with direct pericardio-peritoneal communication.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5. Intracardiac Anomalies: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VSD (100%), Tetralogy of Fallot, LV diverticulum, plus ECTOPIA CORDIS (pulsating heart protruding outside the thoracic cage into the omphalocele sac).
</a:t>
            </a:r>
            <a:endParaRPr lang="en-US" sz="1350" dirty="0"/>
          </a:p>
        </p:txBody>
      </p:sp>
      <p:sp>
        <p:nvSpPr>
          <p:cNvPr id="9" name="Shape 7"/>
          <p:cNvSpPr/>
          <p:nvPr/>
        </p:nvSpPr>
        <p:spPr>
          <a:xfrm>
            <a:off x="731520" y="5715000"/>
            <a:ext cx="10725912" cy="621792"/>
          </a:xfrm>
          <a:prstGeom prst="rect">
            <a:avLst/>
          </a:prstGeom>
          <a:solidFill>
            <a:srgbClr val="FEF2F2"/>
          </a:solidFill>
          <a:ln w="15240">
            <a:solidFill>
              <a:srgbClr val="DC2626"/>
            </a:solidFill>
            <a:prstDash val="solid"/>
          </a:ln>
        </p:spPr>
      </p:sp>
      <p:sp>
        <p:nvSpPr>
          <p:cNvPr id="10" name="Text 8"/>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C2626"/>
                </a:solidFill>
                <a:latin typeface="Calibri" pitchFamily="34" charset="0"/>
                <a:ea typeface="Calibri" pitchFamily="34" charset="-122"/>
                <a:cs typeface="Calibri" pitchFamily="34" charset="-120"/>
              </a:rPr>
              <a:t>⚠️ RADIOLOGIST'S TRAP: </a:t>
            </a:r>
            <a:pPr indent="0" marL="0">
              <a:buNone/>
            </a:pPr>
            <a:r>
              <a:rPr lang="en-US" sz="1000" dirty="0">
                <a:solidFill>
                  <a:srgbClr val="0F172A"/>
                </a:solidFill>
                <a:latin typeface="Calibri" pitchFamily="34" charset="0"/>
                <a:ea typeface="Calibri" pitchFamily="34" charset="-122"/>
                <a:cs typeface="Calibri" pitchFamily="34" charset="-120"/>
              </a:rPr>
              <a:t>In any fetus with an upper abdominal omphalocele, sweep sagitally into the chest! Check for lower sternal cleft and ectopia cordis.</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CAUDAL FOLD DISRUPTIONS • WEEKS 4–7</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Caudal Fold Disruptions: Isolated Bladder Exstrophy vs. OEIS</a:t>
            </a:r>
            <a:endParaRPr lang="en-US" sz="2300" dirty="0"/>
          </a:p>
        </p:txBody>
      </p:sp>
      <p:sp>
        <p:nvSpPr>
          <p:cNvPr id="5" name="Shape 3"/>
          <p:cNvSpPr/>
          <p:nvPr/>
        </p:nvSpPr>
        <p:spPr>
          <a:xfrm>
            <a:off x="731520" y="1463040"/>
            <a:ext cx="10725912" cy="594360"/>
          </a:xfrm>
          <a:prstGeom prst="rect">
            <a:avLst/>
          </a:prstGeom>
          <a:solidFill>
            <a:srgbClr val="F0F9FF"/>
          </a:solidFill>
          <a:ln w="15240">
            <a:solidFill>
              <a:srgbClr val="0284C7"/>
            </a:solidFill>
            <a:prstDash val="solid"/>
          </a:ln>
        </p:spPr>
      </p:sp>
      <p:sp>
        <p:nvSpPr>
          <p:cNvPr id="6" name="Text 4"/>
          <p:cNvSpPr/>
          <p:nvPr/>
        </p:nvSpPr>
        <p:spPr>
          <a:xfrm>
            <a:off x="868680" y="1481328"/>
            <a:ext cx="10451592" cy="557784"/>
          </a:xfrm>
          <a:prstGeom prst="rect">
            <a:avLst/>
          </a:prstGeom>
          <a:noFill/>
          <a:ln/>
        </p:spPr>
        <p:txBody>
          <a:bodyPr wrap="square"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CLINICAL WORKSTATION HOOK: </a:t>
            </a:r>
            <a:pPr indent="0" marL="0">
              <a:buNone/>
            </a:pPr>
            <a:r>
              <a:rPr lang="en-US" sz="1100" i="1" dirty="0">
                <a:solidFill>
                  <a:srgbClr val="0F172A"/>
                </a:solidFill>
                <a:latin typeface="Calibri" pitchFamily="34" charset="0"/>
                <a:ea typeface="Calibri" pitchFamily="34" charset="-122"/>
                <a:cs typeface="Calibri" pitchFamily="34" charset="-120"/>
              </a:rPr>
              <a:t>The fetal bladder is persistently non-visualized, but amniotic fluid volume is completely normal. How does the timing of cloacal membrane rupture distinguish an isolated exstrophy from OEIS?</a:t>
            </a:r>
            <a:endParaRPr lang="en-US" sz="1100" dirty="0"/>
          </a:p>
        </p:txBody>
      </p:sp>
      <p:sp>
        <p:nvSpPr>
          <p:cNvPr id="7" name="Shape 5"/>
          <p:cNvSpPr/>
          <p:nvPr/>
        </p:nvSpPr>
        <p:spPr>
          <a:xfrm>
            <a:off x="731520" y="2194560"/>
            <a:ext cx="10725912" cy="3383280"/>
          </a:xfrm>
          <a:prstGeom prst="rect">
            <a:avLst/>
          </a:prstGeom>
          <a:solidFill>
            <a:srgbClr val="FFFFFF"/>
          </a:solidFill>
          <a:ln w="15240">
            <a:solidFill>
              <a:srgbClr val="CBD5E1"/>
            </a:solidFill>
            <a:prstDash val="solid"/>
          </a:ln>
        </p:spPr>
      </p:sp>
      <p:sp>
        <p:nvSpPr>
          <p:cNvPr id="8" name="Shape 6"/>
          <p:cNvSpPr/>
          <p:nvPr/>
        </p:nvSpPr>
        <p:spPr>
          <a:xfrm>
            <a:off x="731520" y="2194560"/>
            <a:ext cx="10725912" cy="411480"/>
          </a:xfrm>
          <a:prstGeom prst="rect">
            <a:avLst/>
          </a:prstGeom>
          <a:solidFill>
            <a:srgbClr val="1E3A8A"/>
          </a:solidFill>
          <a:ln/>
        </p:spPr>
      </p:sp>
      <p:sp>
        <p:nvSpPr>
          <p:cNvPr id="9" name="Text 7"/>
          <p:cNvSpPr/>
          <p:nvPr/>
        </p:nvSpPr>
        <p:spPr>
          <a:xfrm>
            <a:off x="914400" y="219456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THE MECHANISM: CLOACAL MEMBRANE OVERDEVELOPMENT</a:t>
            </a:r>
            <a:endParaRPr lang="en-US" sz="1250" dirty="0"/>
          </a:p>
        </p:txBody>
      </p:sp>
      <p:sp>
        <p:nvSpPr>
          <p:cNvPr id="10" name="Text 8"/>
          <p:cNvSpPr/>
          <p:nvPr/>
        </p:nvSpPr>
        <p:spPr>
          <a:xfrm>
            <a:off x="960120" y="2697480"/>
            <a:ext cx="10268712" cy="278892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Caudal Mesodermal Failure: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Failure of caudal mesoderm to migrate into the infraumbilical abdominal wall during week 4. The abnormally persistent cloacal membrane prevents midline mesenchymal approximation.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Late Rupture (&gt; Week 7):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Occurs AFTER urorectal septation is complete! Produces CLASSIC BLADDER EXSTROPHY (dehiscence of anterior bladder wall and pubic rami; normal hindgut; patent anus).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Early Rupture (&lt; Week 6):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Occurs BEFORE urorectal septal descent! Produces CLOACAL EXSTROPHY / OEIS COMPLEX (the unpartitioned cloaca extrudes both urinary and fecal viscera onto the wall).
</a:t>
            </a:r>
            <a:endParaRPr lang="en-US" sz="1350" dirty="0"/>
          </a:p>
        </p:txBody>
      </p:sp>
      <p:sp>
        <p:nvSpPr>
          <p:cNvPr id="11" name="Shape 9"/>
          <p:cNvSpPr/>
          <p:nvPr/>
        </p:nvSpPr>
        <p:spPr>
          <a:xfrm>
            <a:off x="731520" y="5715000"/>
            <a:ext cx="10725912" cy="621792"/>
          </a:xfrm>
          <a:prstGeom prst="rect">
            <a:avLst/>
          </a:prstGeom>
          <a:solidFill>
            <a:srgbClr val="FFFBEB"/>
          </a:solidFill>
          <a:ln w="15240">
            <a:solidFill>
              <a:srgbClr val="D97706"/>
            </a:solidFill>
            <a:prstDash val="solid"/>
          </a:ln>
        </p:spPr>
      </p:sp>
      <p:sp>
        <p:nvSpPr>
          <p:cNvPr id="12" name="Text 10"/>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97706"/>
                </a:solidFill>
                <a:latin typeface="Calibri" pitchFamily="34" charset="0"/>
                <a:ea typeface="Calibri" pitchFamily="34" charset="-122"/>
                <a:cs typeface="Calibri" pitchFamily="34" charset="-120"/>
              </a:rPr>
              <a:t>💡 RADIOLOGY PEARL: </a:t>
            </a:r>
            <a:pPr indent="0" marL="0">
              <a:buNone/>
            </a:pPr>
            <a:r>
              <a:rPr lang="en-US" sz="1000" dirty="0">
                <a:solidFill>
                  <a:srgbClr val="0F172A"/>
                </a:solidFill>
                <a:latin typeface="Calibri" pitchFamily="34" charset="0"/>
                <a:ea typeface="Calibri" pitchFamily="34" charset="-122"/>
                <a:cs typeface="Calibri" pitchFamily="34" charset="-120"/>
              </a:rPr>
              <a:t>Timing dictates the defect: rupture after week 7 = isolated bladder exstrophy; rupture before week 6 = cloacal exstrophy / OEIS complex!</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CAUDAL FOLD DISRUPTIONS • OEIS COMPLEX</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The OEIS Complex: The Catastrophic Tetrad</a:t>
            </a:r>
            <a:endParaRPr lang="en-US" sz="2300" dirty="0"/>
          </a:p>
        </p:txBody>
      </p:sp>
      <p:sp>
        <p:nvSpPr>
          <p:cNvPr id="5" name="Shape 3"/>
          <p:cNvSpPr/>
          <p:nvPr/>
        </p:nvSpPr>
        <p:spPr>
          <a:xfrm>
            <a:off x="731520" y="1554480"/>
            <a:ext cx="10725912" cy="4023360"/>
          </a:xfrm>
          <a:prstGeom prst="rect">
            <a:avLst/>
          </a:prstGeom>
          <a:solidFill>
            <a:srgbClr val="FFFFFF"/>
          </a:solidFill>
          <a:ln w="15240">
            <a:solidFill>
              <a:srgbClr val="CBD5E1"/>
            </a:solidFill>
            <a:prstDash val="solid"/>
          </a:ln>
        </p:spPr>
      </p:sp>
      <p:sp>
        <p:nvSpPr>
          <p:cNvPr id="6" name="Shape 4"/>
          <p:cNvSpPr/>
          <p:nvPr/>
        </p:nvSpPr>
        <p:spPr>
          <a:xfrm>
            <a:off x="731520" y="1554480"/>
            <a:ext cx="10725912" cy="411480"/>
          </a:xfrm>
          <a:prstGeom prst="rect">
            <a:avLst/>
          </a:prstGeom>
          <a:solidFill>
            <a:srgbClr val="4C1D95"/>
          </a:solidFill>
          <a:ln/>
        </p:spPr>
      </p:sp>
      <p:sp>
        <p:nvSpPr>
          <p:cNvPr id="7" name="Text 5"/>
          <p:cNvSpPr/>
          <p:nvPr/>
        </p:nvSpPr>
        <p:spPr>
          <a:xfrm>
            <a:off x="914400" y="155448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ANATOMY &amp; MULTI-MODALITY IMAGING MARKERS</a:t>
            </a:r>
            <a:endParaRPr lang="en-US" sz="1250" dirty="0"/>
          </a:p>
        </p:txBody>
      </p:sp>
      <p:sp>
        <p:nvSpPr>
          <p:cNvPr id="8" name="Text 6"/>
          <p:cNvSpPr/>
          <p:nvPr/>
        </p:nvSpPr>
        <p:spPr>
          <a:xfrm>
            <a:off x="960120" y="2057400"/>
            <a:ext cx="10268712" cy="342900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O: Omphalocele: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Low-set, infraumbilical omphalocele situated superior to the exstrophic field.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E: Exstrophy of Cloaca: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Two bulging lateral hemibladders separated by central red exstrophic ileal mucosa ('elephant trunk' appearance; jetting ureteric orifices).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I: Imperforate Anus: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Hindgut terminates blindly or discharges meconium directly into the exstrophic cloacal field.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S: Spinal Dysraphism: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Lumbosacral myelomeningocele, terminal myelocystocele, sacral dysgenesis, and tethered cord in 100%.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Pelvic Diastasis: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Marked widening of pubic symphysis on coronal pelvic views.
</a:t>
            </a:r>
            <a:endParaRPr lang="en-US" sz="1350" dirty="0"/>
          </a:p>
        </p:txBody>
      </p:sp>
      <p:sp>
        <p:nvSpPr>
          <p:cNvPr id="9" name="Shape 7"/>
          <p:cNvSpPr/>
          <p:nvPr/>
        </p:nvSpPr>
        <p:spPr>
          <a:xfrm>
            <a:off x="731520" y="5715000"/>
            <a:ext cx="10725912" cy="621792"/>
          </a:xfrm>
          <a:prstGeom prst="rect">
            <a:avLst/>
          </a:prstGeom>
          <a:solidFill>
            <a:srgbClr val="FEF2F2"/>
          </a:solidFill>
          <a:ln w="15240">
            <a:solidFill>
              <a:srgbClr val="DC2626"/>
            </a:solidFill>
            <a:prstDash val="solid"/>
          </a:ln>
        </p:spPr>
      </p:sp>
      <p:sp>
        <p:nvSpPr>
          <p:cNvPr id="10" name="Text 8"/>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C2626"/>
                </a:solidFill>
                <a:latin typeface="Calibri" pitchFamily="34" charset="0"/>
                <a:ea typeface="Calibri" pitchFamily="34" charset="-122"/>
                <a:cs typeface="Calibri" pitchFamily="34" charset="-120"/>
              </a:rPr>
              <a:t>⚠️ RADIOLOGIST'S TRAP: </a:t>
            </a:r>
            <a:pPr indent="0" marL="0">
              <a:buNone/>
            </a:pPr>
            <a:r>
              <a:rPr lang="en-US" sz="1000" dirty="0">
                <a:solidFill>
                  <a:srgbClr val="0F172A"/>
                </a:solidFill>
                <a:latin typeface="Calibri" pitchFamily="34" charset="0"/>
                <a:ea typeface="Calibri" pitchFamily="34" charset="-122"/>
                <a:cs typeface="Calibri" pitchFamily="34" charset="-120"/>
              </a:rPr>
              <a:t>If the bladder is absent, immediately inspect the lower wall AND the lumbosacral spine! Lower mass + omphalocele + spinal dysraphism = OEIS.</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CAUDAL FOLD DISRUPTIONS • DIAGNOSTIC PARADOX</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The OEIS Bladder Paradox: Normal Amniotic Fluid</a:t>
            </a:r>
            <a:endParaRPr lang="en-US" sz="2300" dirty="0"/>
          </a:p>
        </p:txBody>
      </p:sp>
      <p:sp>
        <p:nvSpPr>
          <p:cNvPr id="5" name="Shape 3"/>
          <p:cNvSpPr/>
          <p:nvPr/>
        </p:nvSpPr>
        <p:spPr>
          <a:xfrm>
            <a:off x="731520" y="1554480"/>
            <a:ext cx="10725912" cy="4023360"/>
          </a:xfrm>
          <a:prstGeom prst="rect">
            <a:avLst/>
          </a:prstGeom>
          <a:solidFill>
            <a:srgbClr val="FFFFFF"/>
          </a:solidFill>
          <a:ln w="15240">
            <a:solidFill>
              <a:srgbClr val="CBD5E1"/>
            </a:solidFill>
            <a:prstDash val="solid"/>
          </a:ln>
        </p:spPr>
      </p:sp>
      <p:sp>
        <p:nvSpPr>
          <p:cNvPr id="6" name="Shape 4"/>
          <p:cNvSpPr/>
          <p:nvPr/>
        </p:nvSpPr>
        <p:spPr>
          <a:xfrm>
            <a:off x="731520" y="1554480"/>
            <a:ext cx="10725912" cy="411480"/>
          </a:xfrm>
          <a:prstGeom prst="rect">
            <a:avLst/>
          </a:prstGeom>
          <a:solidFill>
            <a:srgbClr val="0F172A"/>
          </a:solidFill>
          <a:ln/>
        </p:spPr>
      </p:sp>
      <p:sp>
        <p:nvSpPr>
          <p:cNvPr id="7" name="Text 5"/>
          <p:cNvSpPr/>
          <p:nvPr/>
        </p:nvSpPr>
        <p:spPr>
          <a:xfrm>
            <a:off x="914400" y="155448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WHY ABSENT BLADDER WITH NORMAL FLUID PROVES EXSTROPHY</a:t>
            </a:r>
            <a:endParaRPr lang="en-US" sz="1250" dirty="0"/>
          </a:p>
        </p:txBody>
      </p:sp>
      <p:sp>
        <p:nvSpPr>
          <p:cNvPr id="8" name="Text 6"/>
          <p:cNvSpPr/>
          <p:nvPr/>
        </p:nvSpPr>
        <p:spPr>
          <a:xfrm>
            <a:off x="960120" y="2057400"/>
            <a:ext cx="10268712" cy="342900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The Diagnostic Trap: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Persistently non-visualized fetal bladder tempts radiologists to diagnose bilateral renal agenesis.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The Fluid Reality: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In Cloacal Exstrophy and Bladder Exstrophy, the amniotic fluid volume is COMPLETELY NORMAL!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The Physiological Reason: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The fetal kidneys produce urine normally. Instead of pooling in an intra-abdominal bladder, urine discharges continuously into the amniotic cavity through the everted hemibladders.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The Contrast: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Bilateral renal agenesis produces lethal anhydramnios after 16 weeks (fetal urine forms &gt;90% of fluid after 14–16w). Normal fluid + absent bladder = EXSTROPHY!
</a:t>
            </a:r>
            <a:endParaRPr lang="en-US" sz="1350" dirty="0"/>
          </a:p>
        </p:txBody>
      </p:sp>
      <p:sp>
        <p:nvSpPr>
          <p:cNvPr id="9" name="Shape 7"/>
          <p:cNvSpPr/>
          <p:nvPr/>
        </p:nvSpPr>
        <p:spPr>
          <a:xfrm>
            <a:off x="731520" y="5715000"/>
            <a:ext cx="10725912" cy="621792"/>
          </a:xfrm>
          <a:prstGeom prst="rect">
            <a:avLst/>
          </a:prstGeom>
          <a:solidFill>
            <a:srgbClr val="FEF2F2"/>
          </a:solidFill>
          <a:ln w="15240">
            <a:solidFill>
              <a:srgbClr val="DC2626"/>
            </a:solidFill>
            <a:prstDash val="solid"/>
          </a:ln>
        </p:spPr>
      </p:sp>
      <p:sp>
        <p:nvSpPr>
          <p:cNvPr id="10" name="Text 8"/>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C2626"/>
                </a:solidFill>
                <a:latin typeface="Calibri" pitchFamily="34" charset="0"/>
                <a:ea typeface="Calibri" pitchFamily="34" charset="-122"/>
                <a:cs typeface="Calibri" pitchFamily="34" charset="-120"/>
              </a:rPr>
              <a:t>⚠️ RADIOLOGIST'S TRAP: </a:t>
            </a:r>
            <a:pPr indent="0" marL="0">
              <a:buNone/>
            </a:pPr>
            <a:r>
              <a:rPr lang="en-US" sz="1000" dirty="0">
                <a:solidFill>
                  <a:srgbClr val="0F172A"/>
                </a:solidFill>
                <a:latin typeface="Calibri" pitchFamily="34" charset="0"/>
                <a:ea typeface="Calibri" pitchFamily="34" charset="-122"/>
                <a:cs typeface="Calibri" pitchFamily="34" charset="-120"/>
              </a:rPr>
              <a:t>Non-visualized bladder + NORMAL amniotic fluid = Bladder Exstrophy or OEIS, NOT renal agenesis!</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ABDOMINAL WALL ALGORITHM • AXIS 1</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Master Flowchart: Step 1 — Umbilical Cord Insertion</a:t>
            </a:r>
            <a:endParaRPr lang="en-US" sz="2300" dirty="0"/>
          </a:p>
        </p:txBody>
      </p:sp>
      <p:sp>
        <p:nvSpPr>
          <p:cNvPr id="5" name="Shape 3"/>
          <p:cNvSpPr/>
          <p:nvPr/>
        </p:nvSpPr>
        <p:spPr>
          <a:xfrm>
            <a:off x="731520" y="1554480"/>
            <a:ext cx="10725912" cy="4023360"/>
          </a:xfrm>
          <a:prstGeom prst="rect">
            <a:avLst/>
          </a:prstGeom>
          <a:solidFill>
            <a:srgbClr val="FFFFFF"/>
          </a:solidFill>
          <a:ln w="15240">
            <a:solidFill>
              <a:srgbClr val="CBD5E1"/>
            </a:solidFill>
            <a:prstDash val="solid"/>
          </a:ln>
        </p:spPr>
      </p:sp>
      <p:sp>
        <p:nvSpPr>
          <p:cNvPr id="6" name="Shape 4"/>
          <p:cNvSpPr/>
          <p:nvPr/>
        </p:nvSpPr>
        <p:spPr>
          <a:xfrm>
            <a:off x="731520" y="1554480"/>
            <a:ext cx="10725912" cy="411480"/>
          </a:xfrm>
          <a:prstGeom prst="rect">
            <a:avLst/>
          </a:prstGeom>
          <a:solidFill>
            <a:srgbClr val="0369A1"/>
          </a:solidFill>
          <a:ln/>
        </p:spPr>
      </p:sp>
      <p:sp>
        <p:nvSpPr>
          <p:cNvPr id="7" name="Text 5"/>
          <p:cNvSpPr/>
          <p:nvPr/>
        </p:nvSpPr>
        <p:spPr>
          <a:xfrm>
            <a:off x="914400" y="155448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TRACING THE UMBILICAL RING BASE UNDER COLOR DOPPLER</a:t>
            </a:r>
            <a:endParaRPr lang="en-US" sz="1250" dirty="0"/>
          </a:p>
        </p:txBody>
      </p:sp>
      <p:sp>
        <p:nvSpPr>
          <p:cNvPr id="8" name="Text 6"/>
          <p:cNvSpPr/>
          <p:nvPr/>
        </p:nvSpPr>
        <p:spPr>
          <a:xfrm>
            <a:off x="960120" y="2057400"/>
            <a:ext cx="10268712" cy="342900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Case 1: Cord Inserts on Sac Apex: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--&gt; OMPHALOCELE. Inspect for herniated liver. High aneuploidy risk (60–80%, Trisomy 18/13). Order urgent fetal echocardiography and chromosomal microarray.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Case 2: Cord Inserts on Normal Skin to Left: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--&gt; GASTROSCHISIS. Naked bowel loops to the right of cord. Normal karyotype. Serial US: monitor for intra-abdominal bowel dilation &gt;10 mm (closing ring ischemia).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Case 3: Cord is Absent / Tethered to Placenta: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--&gt; BODY STALK ANOMALY / LBWC. Viscera plastered to placenta; severe kyphoscoliosis; limb/craniofacial defects. Universally lethal; reassure regarding non-recurrence.
</a:t>
            </a:r>
            <a:endParaRPr lang="en-US" sz="1350" dirty="0"/>
          </a:p>
        </p:txBody>
      </p:sp>
      <p:sp>
        <p:nvSpPr>
          <p:cNvPr id="9" name="Shape 7"/>
          <p:cNvSpPr/>
          <p:nvPr/>
        </p:nvSpPr>
        <p:spPr>
          <a:xfrm>
            <a:off x="731520" y="5715000"/>
            <a:ext cx="10725912" cy="621792"/>
          </a:xfrm>
          <a:prstGeom prst="rect">
            <a:avLst/>
          </a:prstGeom>
          <a:solidFill>
            <a:srgbClr val="FFFBEB"/>
          </a:solidFill>
          <a:ln w="15240">
            <a:solidFill>
              <a:srgbClr val="D97706"/>
            </a:solidFill>
            <a:prstDash val="solid"/>
          </a:ln>
        </p:spPr>
      </p:sp>
      <p:sp>
        <p:nvSpPr>
          <p:cNvPr id="10" name="Text 8"/>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97706"/>
                </a:solidFill>
                <a:latin typeface="Calibri" pitchFamily="34" charset="0"/>
                <a:ea typeface="Calibri" pitchFamily="34" charset="-122"/>
                <a:cs typeface="Calibri" pitchFamily="34" charset="-120"/>
              </a:rPr>
              <a:t>💡 RADIOLOGY PEARL: </a:t>
            </a:r>
            <a:pPr indent="0" marL="0">
              <a:buNone/>
            </a:pPr>
            <a:r>
              <a:rPr lang="en-US" sz="1000" dirty="0">
                <a:solidFill>
                  <a:srgbClr val="0F172A"/>
                </a:solidFill>
                <a:latin typeface="Calibri" pitchFamily="34" charset="0"/>
                <a:ea typeface="Calibri" pitchFamily="34" charset="-122"/>
                <a:cs typeface="Calibri" pitchFamily="34" charset="-120"/>
              </a:rPr>
              <a:t>Step 1 of the abdominal wall checklist: Where does the cord insert? Apex, intact skin, or absent?</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ABDOMINAL WALL ALGORITHM • AXIS 2</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Master Flowchart: Step 2 — Fetal Bladder Status</a:t>
            </a:r>
            <a:endParaRPr lang="en-US" sz="2300" dirty="0"/>
          </a:p>
        </p:txBody>
      </p:sp>
      <p:sp>
        <p:nvSpPr>
          <p:cNvPr id="5" name="Shape 3"/>
          <p:cNvSpPr/>
          <p:nvPr/>
        </p:nvSpPr>
        <p:spPr>
          <a:xfrm>
            <a:off x="731520" y="1554480"/>
            <a:ext cx="10725912" cy="4023360"/>
          </a:xfrm>
          <a:prstGeom prst="rect">
            <a:avLst/>
          </a:prstGeom>
          <a:solidFill>
            <a:srgbClr val="FFFFFF"/>
          </a:solidFill>
          <a:ln w="15240">
            <a:solidFill>
              <a:srgbClr val="CBD5E1"/>
            </a:solidFill>
            <a:prstDash val="solid"/>
          </a:ln>
        </p:spPr>
      </p:sp>
      <p:sp>
        <p:nvSpPr>
          <p:cNvPr id="6" name="Shape 4"/>
          <p:cNvSpPr/>
          <p:nvPr/>
        </p:nvSpPr>
        <p:spPr>
          <a:xfrm>
            <a:off x="731520" y="1554480"/>
            <a:ext cx="10725912" cy="411480"/>
          </a:xfrm>
          <a:prstGeom prst="rect">
            <a:avLst/>
          </a:prstGeom>
          <a:solidFill>
            <a:srgbClr val="065F46"/>
          </a:solidFill>
          <a:ln/>
        </p:spPr>
      </p:sp>
      <p:sp>
        <p:nvSpPr>
          <p:cNvPr id="7" name="Text 5"/>
          <p:cNvSpPr/>
          <p:nvPr/>
        </p:nvSpPr>
        <p:spPr>
          <a:xfrm>
            <a:off x="914400" y="155448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EVALUATING BLADDER FILLING &amp; PELVIC RING INTEGRITY</a:t>
            </a:r>
            <a:endParaRPr lang="en-US" sz="1250" dirty="0"/>
          </a:p>
        </p:txBody>
      </p:sp>
      <p:sp>
        <p:nvSpPr>
          <p:cNvPr id="8" name="Text 6"/>
          <p:cNvSpPr/>
          <p:nvPr/>
        </p:nvSpPr>
        <p:spPr>
          <a:xfrm>
            <a:off x="960120" y="2057400"/>
            <a:ext cx="10268712" cy="342900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Bladder NOT Seen + Normal Fluid: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Inspect infraumbilical wall and lumbosacral spine:
• Isolated lower wall mass = BLADDER EXSTROPHY (patent anus, normal spine).
• Mass + Omphalocele + Spina Bifida = OEIS COMPLEX (elephant trunk sign).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Bladder Present + Massive Megacystis (&gt;7 mm):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Evaluate bladder wall thickness and posterior urethra:
• Thick trabeculated wall + 'Keyhole' sign = POSTERIOR URETHRAL VALVES (PUV).
• Thin flaccid wall + no keyhole + cryptorchidism = PRUNE BELLY SYNDROME.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First-Trimester Megacystis Rule: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Bladder length &gt;7 mm at 11–13+6 wks is abnormal; &gt;15 mm carries ~100% risk of obstructive uropathy or aneuploidy.
</a:t>
            </a:r>
            <a:endParaRPr lang="en-US" sz="1350" dirty="0"/>
          </a:p>
        </p:txBody>
      </p:sp>
      <p:sp>
        <p:nvSpPr>
          <p:cNvPr id="9" name="Shape 7"/>
          <p:cNvSpPr/>
          <p:nvPr/>
        </p:nvSpPr>
        <p:spPr>
          <a:xfrm>
            <a:off x="731520" y="5715000"/>
            <a:ext cx="10725912" cy="621792"/>
          </a:xfrm>
          <a:prstGeom prst="rect">
            <a:avLst/>
          </a:prstGeom>
          <a:solidFill>
            <a:srgbClr val="FFFBEB"/>
          </a:solidFill>
          <a:ln w="15240">
            <a:solidFill>
              <a:srgbClr val="D97706"/>
            </a:solidFill>
            <a:prstDash val="solid"/>
          </a:ln>
        </p:spPr>
      </p:sp>
      <p:sp>
        <p:nvSpPr>
          <p:cNvPr id="10" name="Text 8"/>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97706"/>
                </a:solidFill>
                <a:latin typeface="Calibri" pitchFamily="34" charset="0"/>
                <a:ea typeface="Calibri" pitchFamily="34" charset="-122"/>
                <a:cs typeface="Calibri" pitchFamily="34" charset="-120"/>
              </a:rPr>
              <a:t>💡 RADIOLOGY PEARL: </a:t>
            </a:r>
            <a:pPr indent="0" marL="0">
              <a:buNone/>
            </a:pPr>
            <a:r>
              <a:rPr lang="en-US" sz="1000" dirty="0">
                <a:solidFill>
                  <a:srgbClr val="0F172A"/>
                </a:solidFill>
                <a:latin typeface="Calibri" pitchFamily="34" charset="0"/>
                <a:ea typeface="Calibri" pitchFamily="34" charset="-122"/>
                <a:cs typeface="Calibri" pitchFamily="34" charset="-120"/>
              </a:rPr>
              <a:t>Step 2 of the abdominal wall checklist: Is the bladder absent (Exstrophy/OEIS) or massive (PUV/Prune Belly)?</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FOREGUT CLEAVAGE • WEEKS 4–10</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Foregut Cleavage: The Tracheoesophageal Dilemma</a:t>
            </a:r>
            <a:endParaRPr lang="en-US" sz="2300" dirty="0"/>
          </a:p>
        </p:txBody>
      </p:sp>
      <p:sp>
        <p:nvSpPr>
          <p:cNvPr id="5" name="Shape 3"/>
          <p:cNvSpPr/>
          <p:nvPr/>
        </p:nvSpPr>
        <p:spPr>
          <a:xfrm>
            <a:off x="731520" y="1463040"/>
            <a:ext cx="10725912" cy="594360"/>
          </a:xfrm>
          <a:prstGeom prst="rect">
            <a:avLst/>
          </a:prstGeom>
          <a:solidFill>
            <a:srgbClr val="F0F9FF"/>
          </a:solidFill>
          <a:ln w="15240">
            <a:solidFill>
              <a:srgbClr val="0284C7"/>
            </a:solidFill>
            <a:prstDash val="solid"/>
          </a:ln>
        </p:spPr>
      </p:sp>
      <p:sp>
        <p:nvSpPr>
          <p:cNvPr id="6" name="Text 4"/>
          <p:cNvSpPr/>
          <p:nvPr/>
        </p:nvSpPr>
        <p:spPr>
          <a:xfrm>
            <a:off x="868680" y="1481328"/>
            <a:ext cx="10451592" cy="557784"/>
          </a:xfrm>
          <a:prstGeom prst="rect">
            <a:avLst/>
          </a:prstGeom>
          <a:noFill/>
          <a:ln/>
        </p:spPr>
        <p:txBody>
          <a:bodyPr wrap="square"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CLINICAL WORKSTATION HOOK: </a:t>
            </a:r>
            <a:pPr indent="0" marL="0">
              <a:buNone/>
            </a:pPr>
            <a:r>
              <a:rPr lang="en-US" sz="1100" i="1" dirty="0">
                <a:solidFill>
                  <a:srgbClr val="0F172A"/>
                </a:solidFill>
                <a:latin typeface="Calibri" pitchFamily="34" charset="0"/>
                <a:ea typeface="Calibri" pitchFamily="34" charset="-122"/>
                <a:cs typeface="Calibri" pitchFamily="34" charset="-120"/>
              </a:rPr>
              <a:t>One collapses the stomach and floods the amniotic sac; the other balloons both lungs into giant echogenic masses that invert the diaphragm. What governs foregut cleavage?</a:t>
            </a:r>
            <a:endParaRPr lang="en-US" sz="1100" dirty="0"/>
          </a:p>
        </p:txBody>
      </p:sp>
      <p:sp>
        <p:nvSpPr>
          <p:cNvPr id="7" name="Shape 5"/>
          <p:cNvSpPr/>
          <p:nvPr/>
        </p:nvSpPr>
        <p:spPr>
          <a:xfrm>
            <a:off x="731520" y="2194560"/>
            <a:ext cx="10725912" cy="3383280"/>
          </a:xfrm>
          <a:prstGeom prst="rect">
            <a:avLst/>
          </a:prstGeom>
          <a:solidFill>
            <a:srgbClr val="FFFFFF"/>
          </a:solidFill>
          <a:ln w="15240">
            <a:solidFill>
              <a:srgbClr val="CBD5E1"/>
            </a:solidFill>
            <a:prstDash val="solid"/>
          </a:ln>
        </p:spPr>
      </p:sp>
      <p:sp>
        <p:nvSpPr>
          <p:cNvPr id="8" name="Shape 6"/>
          <p:cNvSpPr/>
          <p:nvPr/>
        </p:nvSpPr>
        <p:spPr>
          <a:xfrm>
            <a:off x="731520" y="2194560"/>
            <a:ext cx="10725912" cy="411480"/>
          </a:xfrm>
          <a:prstGeom prst="rect">
            <a:avLst/>
          </a:prstGeom>
          <a:solidFill>
            <a:srgbClr val="1E3A8A"/>
          </a:solidFill>
          <a:ln/>
        </p:spPr>
      </p:sp>
      <p:sp>
        <p:nvSpPr>
          <p:cNvPr id="9" name="Text 7"/>
          <p:cNvSpPr/>
          <p:nvPr/>
        </p:nvSpPr>
        <p:spPr>
          <a:xfrm>
            <a:off x="914400" y="219456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TRACHEOESOPHAGEAL SEPTATION MECHANICS (CS 10–13, WEEKS 4–5)</a:t>
            </a:r>
            <a:endParaRPr lang="en-US" sz="1250" dirty="0"/>
          </a:p>
        </p:txBody>
      </p:sp>
      <p:sp>
        <p:nvSpPr>
          <p:cNvPr id="10" name="Text 8"/>
          <p:cNvSpPr/>
          <p:nvPr/>
        </p:nvSpPr>
        <p:spPr>
          <a:xfrm>
            <a:off x="960120" y="2697480"/>
            <a:ext cx="10268712" cy="278892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The Respiratory Diverticulum: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Evaginates from the ventral wall of the primitive foregut at week 4.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Tracheoesophageal Ridges: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Paired lateral longitudinal ridges proliferate and fuse in the midline, creating a coronal septum that divides the ventral trachea from the dorsal esophagus.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Molecular Signaling: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Sonic Hedgehog (SHH) and NOGGIN signaling drive midline ridge fusion. Downregulation causes failure of tracheoesophageal cleavage.
</a:t>
            </a:r>
            <a:endParaRPr lang="en-US" sz="1350" dirty="0"/>
          </a:p>
        </p:txBody>
      </p:sp>
      <p:sp>
        <p:nvSpPr>
          <p:cNvPr id="11" name="Shape 9"/>
          <p:cNvSpPr/>
          <p:nvPr/>
        </p:nvSpPr>
        <p:spPr>
          <a:xfrm>
            <a:off x="731520" y="5715000"/>
            <a:ext cx="10725912" cy="621792"/>
          </a:xfrm>
          <a:prstGeom prst="rect">
            <a:avLst/>
          </a:prstGeom>
          <a:solidFill>
            <a:srgbClr val="FFFBEB"/>
          </a:solidFill>
          <a:ln w="15240">
            <a:solidFill>
              <a:srgbClr val="D97706"/>
            </a:solidFill>
            <a:prstDash val="solid"/>
          </a:ln>
        </p:spPr>
      </p:sp>
      <p:sp>
        <p:nvSpPr>
          <p:cNvPr id="12" name="Text 10"/>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97706"/>
                </a:solidFill>
                <a:latin typeface="Calibri" pitchFamily="34" charset="0"/>
                <a:ea typeface="Calibri" pitchFamily="34" charset="-122"/>
                <a:cs typeface="Calibri" pitchFamily="34" charset="-120"/>
              </a:rPr>
              <a:t>💡 RADIOLOGY PEARL: </a:t>
            </a:r>
            <a:pPr indent="0" marL="0">
              <a:buNone/>
            </a:pPr>
            <a:r>
              <a:rPr lang="en-US" sz="1000" dirty="0">
                <a:solidFill>
                  <a:srgbClr val="0F172A"/>
                </a:solidFill>
                <a:latin typeface="Calibri" pitchFamily="34" charset="0"/>
                <a:ea typeface="Calibri" pitchFamily="34" charset="-122"/>
                <a:cs typeface="Calibri" pitchFamily="34" charset="-120"/>
              </a:rPr>
              <a:t>Foregut cleavage failure produces Esophageal Atresia and Tracheoesophageal Fistula (EA/TEF).</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FOREGUT CLEAVAGE • EA/TEF</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Esophageal Atresia &amp; TEF: Gross Subtypes &amp; Imaging</a:t>
            </a:r>
            <a:endParaRPr lang="en-US" sz="2300" dirty="0"/>
          </a:p>
        </p:txBody>
      </p:sp>
      <p:sp>
        <p:nvSpPr>
          <p:cNvPr id="5" name="Shape 3"/>
          <p:cNvSpPr/>
          <p:nvPr/>
        </p:nvSpPr>
        <p:spPr>
          <a:xfrm>
            <a:off x="731520" y="1554480"/>
            <a:ext cx="10725912" cy="4023360"/>
          </a:xfrm>
          <a:prstGeom prst="rect">
            <a:avLst/>
          </a:prstGeom>
          <a:solidFill>
            <a:srgbClr val="FFFFFF"/>
          </a:solidFill>
          <a:ln w="15240">
            <a:solidFill>
              <a:srgbClr val="CBD5E1"/>
            </a:solidFill>
            <a:prstDash val="solid"/>
          </a:ln>
        </p:spPr>
      </p:sp>
      <p:sp>
        <p:nvSpPr>
          <p:cNvPr id="6" name="Shape 4"/>
          <p:cNvSpPr/>
          <p:nvPr/>
        </p:nvSpPr>
        <p:spPr>
          <a:xfrm>
            <a:off x="731520" y="1554480"/>
            <a:ext cx="10725912" cy="411480"/>
          </a:xfrm>
          <a:prstGeom prst="rect">
            <a:avLst/>
          </a:prstGeom>
          <a:solidFill>
            <a:srgbClr val="0369A1"/>
          </a:solidFill>
          <a:ln/>
        </p:spPr>
      </p:sp>
      <p:sp>
        <p:nvSpPr>
          <p:cNvPr id="7" name="Text 5"/>
          <p:cNvSpPr/>
          <p:nvPr/>
        </p:nvSpPr>
        <p:spPr>
          <a:xfrm>
            <a:off x="914400" y="155448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GROSS CLASSIFICATION &amp; PRENATAL DIAGNOSTIC HALLMARKS</a:t>
            </a:r>
            <a:endParaRPr lang="en-US" sz="1250" dirty="0"/>
          </a:p>
        </p:txBody>
      </p:sp>
      <p:sp>
        <p:nvSpPr>
          <p:cNvPr id="8" name="Text 6"/>
          <p:cNvSpPr/>
          <p:nvPr/>
        </p:nvSpPr>
        <p:spPr>
          <a:xfrm>
            <a:off x="960120" y="2057400"/>
            <a:ext cx="10268712" cy="342900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Gross Type C (86% of Cases):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Proximal esophageal atresia with DISTAL tracheoesophageal fistula.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Gross Type A (8%) &amp; Type E (4%):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Type A = Pure isolated atresia without fistula; Type E = H-type fistula without atresia.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VACTERL Association (50%):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Vertebral, Anal, Cardiac, TEF, Renal, and Limb anomalies. Trisomy 18 in 10%.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Prenatal Ultrasound &amp; MRI: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Polyhydramnios with small or absent stomach bubble (sensitivity 50%). Fetal MRI demonstrates blind proximal cervical 'upper pouch sign'. Neonatal X-ray: Coiled radiopaque feeding tube.
</a:t>
            </a:r>
            <a:endParaRPr lang="en-US" sz="1350" dirty="0"/>
          </a:p>
        </p:txBody>
      </p:sp>
      <p:sp>
        <p:nvSpPr>
          <p:cNvPr id="9" name="Shape 7"/>
          <p:cNvSpPr/>
          <p:nvPr/>
        </p:nvSpPr>
        <p:spPr>
          <a:xfrm>
            <a:off x="731520" y="5715000"/>
            <a:ext cx="10725912" cy="621792"/>
          </a:xfrm>
          <a:prstGeom prst="rect">
            <a:avLst/>
          </a:prstGeom>
          <a:solidFill>
            <a:srgbClr val="FEF2F2"/>
          </a:solidFill>
          <a:ln w="15240">
            <a:solidFill>
              <a:srgbClr val="DC2626"/>
            </a:solidFill>
            <a:prstDash val="solid"/>
          </a:ln>
        </p:spPr>
      </p:sp>
      <p:sp>
        <p:nvSpPr>
          <p:cNvPr id="10" name="Text 8"/>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C2626"/>
                </a:solidFill>
                <a:latin typeface="Calibri" pitchFamily="34" charset="0"/>
                <a:ea typeface="Calibri" pitchFamily="34" charset="-122"/>
                <a:cs typeface="Calibri" pitchFamily="34" charset="-120"/>
              </a:rPr>
              <a:t>⚠️ RADIOLOGIST'S TRAP: </a:t>
            </a:r>
            <a:pPr indent="0" marL="0">
              <a:buNone/>
            </a:pPr>
            <a:r>
              <a:rPr lang="en-US" sz="1000" dirty="0">
                <a:solidFill>
                  <a:srgbClr val="0F172A"/>
                </a:solidFill>
                <a:latin typeface="Calibri" pitchFamily="34" charset="0"/>
                <a:ea typeface="Calibri" pitchFamily="34" charset="-122"/>
                <a:cs typeface="Calibri" pitchFamily="34" charset="-120"/>
              </a:rPr>
              <a:t>A normal stomach bubble DOES NOT rule out EA! In Gross Type C (86%), air and fluid cross the distal fistula into the stomach.</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FOREGUT CANALIZATION • CHAOS</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CHAOS: Laryngeal Atresia &amp; Trapped Fetal Lung Fluid</a:t>
            </a:r>
            <a:endParaRPr lang="en-US" sz="2300" dirty="0"/>
          </a:p>
        </p:txBody>
      </p:sp>
      <p:sp>
        <p:nvSpPr>
          <p:cNvPr id="5" name="Shape 3"/>
          <p:cNvSpPr/>
          <p:nvPr/>
        </p:nvSpPr>
        <p:spPr>
          <a:xfrm>
            <a:off x="731520" y="1554480"/>
            <a:ext cx="10725912" cy="4023360"/>
          </a:xfrm>
          <a:prstGeom prst="rect">
            <a:avLst/>
          </a:prstGeom>
          <a:solidFill>
            <a:srgbClr val="FFFFFF"/>
          </a:solidFill>
          <a:ln w="15240">
            <a:solidFill>
              <a:srgbClr val="CBD5E1"/>
            </a:solidFill>
            <a:prstDash val="solid"/>
          </a:ln>
        </p:spPr>
      </p:sp>
      <p:sp>
        <p:nvSpPr>
          <p:cNvPr id="6" name="Shape 4"/>
          <p:cNvSpPr/>
          <p:nvPr/>
        </p:nvSpPr>
        <p:spPr>
          <a:xfrm>
            <a:off x="731520" y="1554480"/>
            <a:ext cx="10725912" cy="411480"/>
          </a:xfrm>
          <a:prstGeom prst="rect">
            <a:avLst/>
          </a:prstGeom>
          <a:solidFill>
            <a:srgbClr val="991B1B"/>
          </a:solidFill>
          <a:ln/>
        </p:spPr>
      </p:sp>
      <p:sp>
        <p:nvSpPr>
          <p:cNvPr id="7" name="Text 5"/>
          <p:cNvSpPr/>
          <p:nvPr/>
        </p:nvSpPr>
        <p:spPr>
          <a:xfrm>
            <a:off x="914400" y="155448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CONGENITAL HIGH AIRWAY OBSTRUCTION SYNDROME (CS 22–23, WK 10)</a:t>
            </a:r>
            <a:endParaRPr lang="en-US" sz="1250" dirty="0"/>
          </a:p>
        </p:txBody>
      </p:sp>
      <p:sp>
        <p:nvSpPr>
          <p:cNvPr id="8" name="Text 6"/>
          <p:cNvSpPr/>
          <p:nvPr/>
        </p:nvSpPr>
        <p:spPr>
          <a:xfrm>
            <a:off x="960120" y="2057400"/>
            <a:ext cx="10268712" cy="342900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Embryological Mechanism: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Failure of the solid epithelial plug in the embryonic larynx/upper trachea to recanalize at week 10, completely obstructing the fetal airway.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Fluid Pathophysiology: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Fetal lungs secrete 300–400 mL fluid/day. Total airway obstruction traps fluid under high pressure, expanding distal alveolar architecture.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Syndromic Associations: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Fraser syndrome (cryptophthalmos, syndactyly, renal agenesis; FREM1/FRAS1 mutations); laryngeal cartilage dysgenesis.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Pathognomonic Imaging Signs: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Symmetrically massive, diffusely HYPERECHOIC lungs; flattened or INVERTED diaphragmatic domes; compressed midline heart; ascites/hydrops; fluid-distended trachea.
</a:t>
            </a:r>
            <a:endParaRPr lang="en-US" sz="1350" dirty="0"/>
          </a:p>
        </p:txBody>
      </p:sp>
      <p:sp>
        <p:nvSpPr>
          <p:cNvPr id="9" name="Shape 7"/>
          <p:cNvSpPr/>
          <p:nvPr/>
        </p:nvSpPr>
        <p:spPr>
          <a:xfrm>
            <a:off x="731520" y="5715000"/>
            <a:ext cx="10725912" cy="621792"/>
          </a:xfrm>
          <a:prstGeom prst="rect">
            <a:avLst/>
          </a:prstGeom>
          <a:solidFill>
            <a:srgbClr val="FFFBEB"/>
          </a:solidFill>
          <a:ln w="15240">
            <a:solidFill>
              <a:srgbClr val="D97706"/>
            </a:solidFill>
            <a:prstDash val="solid"/>
          </a:ln>
        </p:spPr>
      </p:sp>
      <p:sp>
        <p:nvSpPr>
          <p:cNvPr id="10" name="Text 8"/>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97706"/>
                </a:solidFill>
                <a:latin typeface="Calibri" pitchFamily="34" charset="0"/>
                <a:ea typeface="Calibri" pitchFamily="34" charset="-122"/>
                <a:cs typeface="Calibri" pitchFamily="34" charset="-120"/>
              </a:rPr>
              <a:t>💡 RADIOLOGY PEARL: </a:t>
            </a:r>
            <a:pPr indent="0" marL="0">
              <a:buNone/>
            </a:pPr>
            <a:r>
              <a:rPr lang="en-US" sz="1000" dirty="0">
                <a:solidFill>
                  <a:srgbClr val="0F172A"/>
                </a:solidFill>
                <a:latin typeface="Calibri" pitchFamily="34" charset="0"/>
                <a:ea typeface="Calibri" pitchFamily="34" charset="-122"/>
                <a:cs typeface="Calibri" pitchFamily="34" charset="-120"/>
              </a:rPr>
              <a:t>Bilateral giant echogenic lungs with inverted diaphragms and ascites = CHAOS. Trace the dilated, fluid-filled trachea distal to obstruction!</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PROXIMAL OBSTRUCTION • THE DOUBLE BUBBLE</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Deconstructing the 'Double Bubble': 3 Embryological Causes</a:t>
            </a:r>
            <a:endParaRPr lang="en-US" sz="2300" dirty="0"/>
          </a:p>
        </p:txBody>
      </p:sp>
      <p:sp>
        <p:nvSpPr>
          <p:cNvPr id="5" name="Shape 3"/>
          <p:cNvSpPr/>
          <p:nvPr/>
        </p:nvSpPr>
        <p:spPr>
          <a:xfrm>
            <a:off x="731520" y="1463040"/>
            <a:ext cx="10725912" cy="594360"/>
          </a:xfrm>
          <a:prstGeom prst="rect">
            <a:avLst/>
          </a:prstGeom>
          <a:solidFill>
            <a:srgbClr val="F0F9FF"/>
          </a:solidFill>
          <a:ln w="15240">
            <a:solidFill>
              <a:srgbClr val="0284C7"/>
            </a:solidFill>
            <a:prstDash val="solid"/>
          </a:ln>
        </p:spPr>
      </p:sp>
      <p:sp>
        <p:nvSpPr>
          <p:cNvPr id="6" name="Text 4"/>
          <p:cNvSpPr/>
          <p:nvPr/>
        </p:nvSpPr>
        <p:spPr>
          <a:xfrm>
            <a:off x="868680" y="1481328"/>
            <a:ext cx="10451592" cy="557784"/>
          </a:xfrm>
          <a:prstGeom prst="rect">
            <a:avLst/>
          </a:prstGeom>
          <a:noFill/>
          <a:ln/>
        </p:spPr>
        <p:txBody>
          <a:bodyPr wrap="square"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CLINICAL WORKSTATION HOOK: </a:t>
            </a:r>
            <a:pPr indent="0" marL="0">
              <a:buNone/>
            </a:pPr>
            <a:r>
              <a:rPr lang="en-US" sz="1100" i="1" dirty="0">
                <a:solidFill>
                  <a:srgbClr val="0F172A"/>
                </a:solidFill>
                <a:latin typeface="Calibri" pitchFamily="34" charset="0"/>
                <a:ea typeface="Calibri" pitchFamily="34" charset="-122"/>
                <a:cs typeface="Calibri" pitchFamily="34" charset="-120"/>
              </a:rPr>
              <a:t>A classic 'double bubble' is seen in the fetal upper abdomen. How do recanalization arrest, pancreatic bud migration, and aberrant vacuolation produce this identical appearance?</a:t>
            </a:r>
            <a:endParaRPr lang="en-US" sz="1100" dirty="0"/>
          </a:p>
        </p:txBody>
      </p:sp>
      <p:sp>
        <p:nvSpPr>
          <p:cNvPr id="7" name="Shape 5"/>
          <p:cNvSpPr/>
          <p:nvPr/>
        </p:nvSpPr>
        <p:spPr>
          <a:xfrm>
            <a:off x="731520" y="2194560"/>
            <a:ext cx="10725912" cy="3383280"/>
          </a:xfrm>
          <a:prstGeom prst="rect">
            <a:avLst/>
          </a:prstGeom>
          <a:solidFill>
            <a:srgbClr val="FFFFFF"/>
          </a:solidFill>
          <a:ln w="15240">
            <a:solidFill>
              <a:srgbClr val="CBD5E1"/>
            </a:solidFill>
            <a:prstDash val="solid"/>
          </a:ln>
        </p:spPr>
      </p:sp>
      <p:sp>
        <p:nvSpPr>
          <p:cNvPr id="8" name="Shape 6"/>
          <p:cNvSpPr/>
          <p:nvPr/>
        </p:nvSpPr>
        <p:spPr>
          <a:xfrm>
            <a:off x="731520" y="2194560"/>
            <a:ext cx="10725912" cy="411480"/>
          </a:xfrm>
          <a:prstGeom prst="rect">
            <a:avLst/>
          </a:prstGeom>
          <a:solidFill>
            <a:srgbClr val="1E3A8A"/>
          </a:solidFill>
          <a:ln/>
        </p:spPr>
      </p:sp>
      <p:sp>
        <p:nvSpPr>
          <p:cNvPr id="9" name="Text 7"/>
          <p:cNvSpPr/>
          <p:nvPr/>
        </p:nvSpPr>
        <p:spPr>
          <a:xfrm>
            <a:off x="914400" y="219456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VISUAL LOOK-ALIKES WITH THREE DISTINCT MECHANISMS</a:t>
            </a:r>
            <a:endParaRPr lang="en-US" sz="1250" dirty="0"/>
          </a:p>
        </p:txBody>
      </p:sp>
      <p:sp>
        <p:nvSpPr>
          <p:cNvPr id="10" name="Text 8"/>
          <p:cNvSpPr/>
          <p:nvPr/>
        </p:nvSpPr>
        <p:spPr>
          <a:xfrm>
            <a:off x="960120" y="2697480"/>
            <a:ext cx="10268712" cy="278892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1. Duodenal Atresia (Recanalization Failure):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Tandler's arrest during weeks 7–8. Solid epithelial cord fails to recanalize. 30–40% associated with Trisomy 21 (Down syndrome).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2. Annular Pancreas (Migration Failure):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Ventral pancreatic bud fails to migrate clockwise behind the duodenum, encircling D2 as a constricting parenchymal ring.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3. Duodenal Duplication Cyst (Vacuolation Failure):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Aberrant vacuolation creates a parallel, non-communicating enteric cyst in the RUQ with a 2-layer 'gut signature' wall.
</a:t>
            </a:r>
            <a:endParaRPr lang="en-US" sz="1350" dirty="0"/>
          </a:p>
        </p:txBody>
      </p:sp>
      <p:sp>
        <p:nvSpPr>
          <p:cNvPr id="11" name="Shape 9"/>
          <p:cNvSpPr/>
          <p:nvPr/>
        </p:nvSpPr>
        <p:spPr>
          <a:xfrm>
            <a:off x="731520" y="5715000"/>
            <a:ext cx="10725912" cy="621792"/>
          </a:xfrm>
          <a:prstGeom prst="rect">
            <a:avLst/>
          </a:prstGeom>
          <a:solidFill>
            <a:srgbClr val="FFFBEB"/>
          </a:solidFill>
          <a:ln w="15240">
            <a:solidFill>
              <a:srgbClr val="D97706"/>
            </a:solidFill>
            <a:prstDash val="solid"/>
          </a:ln>
        </p:spPr>
      </p:sp>
      <p:sp>
        <p:nvSpPr>
          <p:cNvPr id="12" name="Text 10"/>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97706"/>
                </a:solidFill>
                <a:latin typeface="Calibri" pitchFamily="34" charset="0"/>
                <a:ea typeface="Calibri" pitchFamily="34" charset="-122"/>
                <a:cs typeface="Calibri" pitchFamily="34" charset="-120"/>
              </a:rPr>
              <a:t>💡 RADIOLOGY PEARL: </a:t>
            </a:r>
            <a:pPr indent="0" marL="0">
              <a:buNone/>
            </a:pPr>
            <a:r>
              <a:rPr lang="en-US" sz="1000" dirty="0">
                <a:solidFill>
                  <a:srgbClr val="0F172A"/>
                </a:solidFill>
                <a:latin typeface="Calibri" pitchFamily="34" charset="0"/>
                <a:ea typeface="Calibri" pitchFamily="34" charset="-122"/>
                <a:cs typeface="Calibri" pitchFamily="34" charset="-120"/>
              </a:rPr>
              <a:t>The Double Bubble is a radiological sign, not a diagnosis. Differentiate atresia from annular pancreas and duplication cysts!</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PROXIMAL OBSTRUCTION • ATRESIA &amp; ANNULAR PANCREAS</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Duodenal Atresia vs. Annular Pancreas: Workstation Signs</a:t>
            </a:r>
            <a:endParaRPr lang="en-US" sz="2300" dirty="0"/>
          </a:p>
        </p:txBody>
      </p:sp>
      <p:sp>
        <p:nvSpPr>
          <p:cNvPr id="5" name="Shape 3"/>
          <p:cNvSpPr/>
          <p:nvPr/>
        </p:nvSpPr>
        <p:spPr>
          <a:xfrm>
            <a:off x="731520" y="1554480"/>
            <a:ext cx="10725912" cy="4023360"/>
          </a:xfrm>
          <a:prstGeom prst="rect">
            <a:avLst/>
          </a:prstGeom>
          <a:solidFill>
            <a:srgbClr val="FFFFFF"/>
          </a:solidFill>
          <a:ln w="15240">
            <a:solidFill>
              <a:srgbClr val="CBD5E1"/>
            </a:solidFill>
            <a:prstDash val="solid"/>
          </a:ln>
        </p:spPr>
      </p:sp>
      <p:sp>
        <p:nvSpPr>
          <p:cNvPr id="6" name="Shape 4"/>
          <p:cNvSpPr/>
          <p:nvPr/>
        </p:nvSpPr>
        <p:spPr>
          <a:xfrm>
            <a:off x="731520" y="1554480"/>
            <a:ext cx="10725912" cy="411480"/>
          </a:xfrm>
          <a:prstGeom prst="rect">
            <a:avLst/>
          </a:prstGeom>
          <a:solidFill>
            <a:srgbClr val="0F766E"/>
          </a:solidFill>
          <a:ln/>
        </p:spPr>
      </p:sp>
      <p:sp>
        <p:nvSpPr>
          <p:cNvPr id="7" name="Text 5"/>
          <p:cNvSpPr/>
          <p:nvPr/>
        </p:nvSpPr>
        <p:spPr>
          <a:xfrm>
            <a:off x="914400" y="155448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RADIOLOGICAL DISCRIMINATORS &amp; THE PYLORIC CONTINUITY TEST</a:t>
            </a:r>
            <a:endParaRPr lang="en-US" sz="1250" dirty="0"/>
          </a:p>
        </p:txBody>
      </p:sp>
      <p:sp>
        <p:nvSpPr>
          <p:cNvPr id="8" name="Text 6"/>
          <p:cNvSpPr/>
          <p:nvPr/>
        </p:nvSpPr>
        <p:spPr>
          <a:xfrm>
            <a:off x="960120" y="2057400"/>
            <a:ext cx="10268712" cy="342900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Duodenal Atresia Imaging: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Distended stomach (bubble 1) and duodenal bulb (bubble 2) with direct fluid continuity across the pylorus. Complete absence of distal bowel gas postnatally; polyhydramnios in &gt;90%.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Annular Pancreas Imaging: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Double bubble distension, but cross-sectional MRI displays tissue isointense to pancreas encircling D2 ('crocodile-jaw' sign on MRCP). Distal bowel gas may be preserved if stenosis is incomplete.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Duplication Cyst Imaging: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Anechoic cystic mass exhibiting the 'gut signature' wall. Multiplanar MRI proves NO communication with the pylorus or duodenal bulb.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The Pyloric Continuity Rule: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Never diagnose duodenal atresia on ultrasound without demonstrating direct real-time fluid continuity across the pylorus!
</a:t>
            </a:r>
            <a:endParaRPr lang="en-US" sz="1350" dirty="0"/>
          </a:p>
        </p:txBody>
      </p:sp>
      <p:sp>
        <p:nvSpPr>
          <p:cNvPr id="9" name="Shape 7"/>
          <p:cNvSpPr/>
          <p:nvPr/>
        </p:nvSpPr>
        <p:spPr>
          <a:xfrm>
            <a:off x="731520" y="5715000"/>
            <a:ext cx="10725912" cy="621792"/>
          </a:xfrm>
          <a:prstGeom prst="rect">
            <a:avLst/>
          </a:prstGeom>
          <a:solidFill>
            <a:srgbClr val="FEF2F2"/>
          </a:solidFill>
          <a:ln w="15240">
            <a:solidFill>
              <a:srgbClr val="DC2626"/>
            </a:solidFill>
            <a:prstDash val="solid"/>
          </a:ln>
        </p:spPr>
      </p:sp>
      <p:sp>
        <p:nvSpPr>
          <p:cNvPr id="10" name="Text 8"/>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C2626"/>
                </a:solidFill>
                <a:latin typeface="Calibri" pitchFamily="34" charset="0"/>
                <a:ea typeface="Calibri" pitchFamily="34" charset="-122"/>
                <a:cs typeface="Calibri" pitchFamily="34" charset="-120"/>
              </a:rPr>
              <a:t>⚠️ RADIOLOGIST'S TRAP: </a:t>
            </a:r>
            <a:pPr indent="0" marL="0">
              <a:buNone/>
            </a:pPr>
            <a:r>
              <a:rPr lang="en-US" sz="1000" dirty="0">
                <a:solidFill>
                  <a:srgbClr val="0F172A"/>
                </a:solidFill>
                <a:latin typeface="Calibri" pitchFamily="34" charset="0"/>
                <a:ea typeface="Calibri" pitchFamily="34" charset="-122"/>
                <a:cs typeface="Calibri" pitchFamily="34" charset="-120"/>
              </a:rPr>
              <a:t>True duodenal atresia requires demonstrating fluid crossing the pylorus into the bulb, accompanied by an airless distal gut!</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MIDGUT MORPHOGENESIS • ROTATION STAGES</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The 270° Midgut Rotation: The Arterial Axis</a:t>
            </a:r>
            <a:endParaRPr lang="en-US" sz="2300" dirty="0"/>
          </a:p>
        </p:txBody>
      </p:sp>
      <p:sp>
        <p:nvSpPr>
          <p:cNvPr id="5" name="Shape 3"/>
          <p:cNvSpPr/>
          <p:nvPr/>
        </p:nvSpPr>
        <p:spPr>
          <a:xfrm>
            <a:off x="731520" y="1463040"/>
            <a:ext cx="10725912" cy="594360"/>
          </a:xfrm>
          <a:prstGeom prst="rect">
            <a:avLst/>
          </a:prstGeom>
          <a:solidFill>
            <a:srgbClr val="F0F9FF"/>
          </a:solidFill>
          <a:ln w="15240">
            <a:solidFill>
              <a:srgbClr val="0284C7"/>
            </a:solidFill>
            <a:prstDash val="solid"/>
          </a:ln>
        </p:spPr>
      </p:sp>
      <p:sp>
        <p:nvSpPr>
          <p:cNvPr id="6" name="Text 4"/>
          <p:cNvSpPr/>
          <p:nvPr/>
        </p:nvSpPr>
        <p:spPr>
          <a:xfrm>
            <a:off x="868680" y="1481328"/>
            <a:ext cx="10451592" cy="557784"/>
          </a:xfrm>
          <a:prstGeom prst="rect">
            <a:avLst/>
          </a:prstGeom>
          <a:noFill/>
          <a:ln/>
        </p:spPr>
        <p:txBody>
          <a:bodyPr wrap="square"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CLINICAL WORKSTATION HOOK: </a:t>
            </a:r>
            <a:pPr indent="0" marL="0">
              <a:buNone/>
            </a:pPr>
            <a:r>
              <a:rPr lang="en-US" sz="1100" i="1" dirty="0">
                <a:solidFill>
                  <a:srgbClr val="0F172A"/>
                </a:solidFill>
                <a:latin typeface="Calibri" pitchFamily="34" charset="0"/>
                <a:ea typeface="Calibri" pitchFamily="34" charset="-122"/>
                <a:cs typeface="Calibri" pitchFamily="34" charset="-120"/>
              </a:rPr>
              <a:t>The midgut performs a precise 270° counterclockwise spiral around the SMA. Trace the 3 embryological stages that dictate why the Ligament of Treitz must anchor to the left of the spine.</a:t>
            </a:r>
            <a:endParaRPr lang="en-US" sz="1100" dirty="0"/>
          </a:p>
        </p:txBody>
      </p:sp>
      <p:sp>
        <p:nvSpPr>
          <p:cNvPr id="7" name="Shape 5"/>
          <p:cNvSpPr/>
          <p:nvPr/>
        </p:nvSpPr>
        <p:spPr>
          <a:xfrm>
            <a:off x="731520" y="2194560"/>
            <a:ext cx="10725912" cy="3383280"/>
          </a:xfrm>
          <a:prstGeom prst="rect">
            <a:avLst/>
          </a:prstGeom>
          <a:solidFill>
            <a:srgbClr val="FFFFFF"/>
          </a:solidFill>
          <a:ln w="15240">
            <a:solidFill>
              <a:srgbClr val="CBD5E1"/>
            </a:solidFill>
            <a:prstDash val="solid"/>
          </a:ln>
        </p:spPr>
      </p:sp>
      <p:sp>
        <p:nvSpPr>
          <p:cNvPr id="8" name="Shape 6"/>
          <p:cNvSpPr/>
          <p:nvPr/>
        </p:nvSpPr>
        <p:spPr>
          <a:xfrm>
            <a:off x="731520" y="2194560"/>
            <a:ext cx="10725912" cy="411480"/>
          </a:xfrm>
          <a:prstGeom prst="rect">
            <a:avLst/>
          </a:prstGeom>
          <a:solidFill>
            <a:srgbClr val="1E3A8A"/>
          </a:solidFill>
          <a:ln/>
        </p:spPr>
      </p:sp>
      <p:sp>
        <p:nvSpPr>
          <p:cNvPr id="9" name="Text 7"/>
          <p:cNvSpPr/>
          <p:nvPr/>
        </p:nvSpPr>
        <p:spPr>
          <a:xfrm>
            <a:off x="914400" y="219456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THE SUPERIOR MESENTERIC ARTERY (SMA) PIVOT AXIS</a:t>
            </a:r>
            <a:endParaRPr lang="en-US" sz="1250" dirty="0"/>
          </a:p>
        </p:txBody>
      </p:sp>
      <p:sp>
        <p:nvSpPr>
          <p:cNvPr id="10" name="Text 8"/>
          <p:cNvSpPr/>
          <p:nvPr/>
        </p:nvSpPr>
        <p:spPr>
          <a:xfrm>
            <a:off x="960120" y="2697480"/>
            <a:ext cx="10268712" cy="278892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The Arterial Pivot: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Rotation occurs around the Superior Mesenteric Artery (SMA). The gut is divided into a pre-arterial loop (duodenojejunal) and post-arterial loop (cecocolic).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Stage 1 (Herniation, Wks 6–10 GA):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Midgut herniates into umbilical cord, rotating 90° counterclockwise (CCW). Pre-arterial DJ loop moves right; post-arterial cecocolic loop moves left.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Stage 2 (Reduction, Wks 10–12 GA):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Loops return to abdomen, rotating an additional 180° CCW (Total = 270° CCW). DJ loop passes BEHIND SMA to Treitz (L1, left of spine). Cecum passes IN FRONT OF SMA to RLQ.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Stage 3 (Fixation, Wk 12 to Term):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Mesenteric base broadens across 15–20 cm, fusing obliquely from LUQ (Treitz) to RLQ (cecum).
</a:t>
            </a:r>
            <a:endParaRPr lang="en-US" sz="1350" dirty="0"/>
          </a:p>
        </p:txBody>
      </p:sp>
      <p:sp>
        <p:nvSpPr>
          <p:cNvPr id="11" name="Shape 9"/>
          <p:cNvSpPr/>
          <p:nvPr/>
        </p:nvSpPr>
        <p:spPr>
          <a:xfrm>
            <a:off x="731520" y="5715000"/>
            <a:ext cx="10725912" cy="621792"/>
          </a:xfrm>
          <a:prstGeom prst="rect">
            <a:avLst/>
          </a:prstGeom>
          <a:solidFill>
            <a:srgbClr val="FFFBEB"/>
          </a:solidFill>
          <a:ln w="15240">
            <a:solidFill>
              <a:srgbClr val="D97706"/>
            </a:solidFill>
            <a:prstDash val="solid"/>
          </a:ln>
        </p:spPr>
      </p:sp>
      <p:sp>
        <p:nvSpPr>
          <p:cNvPr id="12" name="Text 10"/>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97706"/>
                </a:solidFill>
                <a:latin typeface="Calibri" pitchFamily="34" charset="0"/>
                <a:ea typeface="Calibri" pitchFamily="34" charset="-122"/>
                <a:cs typeface="Calibri" pitchFamily="34" charset="-120"/>
              </a:rPr>
              <a:t>💡 RADIOLOGY PEARL: </a:t>
            </a:r>
            <a:pPr indent="0" marL="0">
              <a:buNone/>
            </a:pPr>
            <a:r>
              <a:rPr lang="en-US" sz="1000" dirty="0">
                <a:solidFill>
                  <a:srgbClr val="0F172A"/>
                </a:solidFill>
                <a:latin typeface="Calibri" pitchFamily="34" charset="0"/>
                <a:ea typeface="Calibri" pitchFamily="34" charset="-122"/>
                <a:cs typeface="Calibri" pitchFamily="34" charset="-120"/>
              </a:rPr>
              <a:t>Normal rotation establishes a broad 15–20 cm diagonal mesenteric root that physically prevents the gut from twisting.</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MIDGUT ARREST • PATHOLOGICAL ANATOMY</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Midgut Malrotation: Arrest at 180° &amp; Ladd's Bands</a:t>
            </a:r>
            <a:endParaRPr lang="en-US" sz="2300" dirty="0"/>
          </a:p>
        </p:txBody>
      </p:sp>
      <p:sp>
        <p:nvSpPr>
          <p:cNvPr id="5" name="Shape 3"/>
          <p:cNvSpPr/>
          <p:nvPr/>
        </p:nvSpPr>
        <p:spPr>
          <a:xfrm>
            <a:off x="731520" y="1463040"/>
            <a:ext cx="10725912" cy="594360"/>
          </a:xfrm>
          <a:prstGeom prst="rect">
            <a:avLst/>
          </a:prstGeom>
          <a:solidFill>
            <a:srgbClr val="F0F9FF"/>
          </a:solidFill>
          <a:ln w="15240">
            <a:solidFill>
              <a:srgbClr val="0284C7"/>
            </a:solidFill>
            <a:prstDash val="solid"/>
          </a:ln>
        </p:spPr>
      </p:sp>
      <p:sp>
        <p:nvSpPr>
          <p:cNvPr id="6" name="Text 4"/>
          <p:cNvSpPr/>
          <p:nvPr/>
        </p:nvSpPr>
        <p:spPr>
          <a:xfrm>
            <a:off x="868680" y="1481328"/>
            <a:ext cx="10451592" cy="557784"/>
          </a:xfrm>
          <a:prstGeom prst="rect">
            <a:avLst/>
          </a:prstGeom>
          <a:noFill/>
          <a:ln/>
        </p:spPr>
        <p:txBody>
          <a:bodyPr wrap="square"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CLINICAL WORKSTATION HOOK: </a:t>
            </a:r>
            <a:pPr indent="0" marL="0">
              <a:buNone/>
            </a:pPr>
            <a:r>
              <a:rPr lang="en-US" sz="1100" i="1" dirty="0">
                <a:solidFill>
                  <a:srgbClr val="0F172A"/>
                </a:solidFill>
                <a:latin typeface="Calibri" pitchFamily="34" charset="0"/>
                <a:ea typeface="Calibri" pitchFamily="34" charset="-122"/>
                <a:cs typeface="Calibri" pitchFamily="34" charset="-120"/>
              </a:rPr>
              <a:t>Why can an infant who nursed normally for 3 weeks suddenly present with bilious emesis and progress to total bowel gangrene within 6 hours?</a:t>
            </a:r>
            <a:endParaRPr lang="en-US" sz="1100" dirty="0"/>
          </a:p>
        </p:txBody>
      </p:sp>
      <p:sp>
        <p:nvSpPr>
          <p:cNvPr id="7" name="Shape 5"/>
          <p:cNvSpPr/>
          <p:nvPr/>
        </p:nvSpPr>
        <p:spPr>
          <a:xfrm>
            <a:off x="731520" y="2194560"/>
            <a:ext cx="10725912" cy="3383280"/>
          </a:xfrm>
          <a:prstGeom prst="rect">
            <a:avLst/>
          </a:prstGeom>
          <a:solidFill>
            <a:srgbClr val="FFFFFF"/>
          </a:solidFill>
          <a:ln w="15240">
            <a:solidFill>
              <a:srgbClr val="CBD5E1"/>
            </a:solidFill>
            <a:prstDash val="solid"/>
          </a:ln>
        </p:spPr>
      </p:sp>
      <p:sp>
        <p:nvSpPr>
          <p:cNvPr id="8" name="Shape 6"/>
          <p:cNvSpPr/>
          <p:nvPr/>
        </p:nvSpPr>
        <p:spPr>
          <a:xfrm>
            <a:off x="731520" y="2194560"/>
            <a:ext cx="10725912" cy="411480"/>
          </a:xfrm>
          <a:prstGeom prst="rect">
            <a:avLst/>
          </a:prstGeom>
          <a:solidFill>
            <a:srgbClr val="B91C1C"/>
          </a:solidFill>
          <a:ln/>
        </p:spPr>
      </p:sp>
      <p:sp>
        <p:nvSpPr>
          <p:cNvPr id="9" name="Text 7"/>
          <p:cNvSpPr/>
          <p:nvPr/>
        </p:nvSpPr>
        <p:spPr>
          <a:xfrm>
            <a:off x="914400" y="219456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PATHOLOGY OF INCOMPLETE ROTATION (ARREST AT 180°)</a:t>
            </a:r>
            <a:endParaRPr lang="en-US" sz="1250" dirty="0"/>
          </a:p>
        </p:txBody>
      </p:sp>
      <p:sp>
        <p:nvSpPr>
          <p:cNvPr id="10" name="Text 8"/>
          <p:cNvSpPr/>
          <p:nvPr/>
        </p:nvSpPr>
        <p:spPr>
          <a:xfrm>
            <a:off x="960120" y="2697480"/>
            <a:ext cx="10268712" cy="278892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Cecal Subhepatic Arrest: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Cecum fails to complete its descent to the RLQ, remaining arrested in the epigastrium or subhepatic space.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Ladd's Peritoneal Bands: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Fibrous peritoneal reflections cross the 2nd and 3rd duodenum attempting to tether the cecum, causing extrinsic duodenal compression.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Narrow Mesenteric Base: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Instead of a broad 15–20 cm anchor, the entire midgut hangs on a narrow vascular pedicle centered exclusively on the SMA/SMV root.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Midgut Volvulus: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Clockwise torsion of the narrow pedicle around the SMA -&gt; mesenteric venous thrombosis, arterial occlusion, and total midgut gangrene (D3 to mid-transverse colon).
</a:t>
            </a:r>
            <a:endParaRPr lang="en-US" sz="1350" dirty="0"/>
          </a:p>
        </p:txBody>
      </p:sp>
      <p:sp>
        <p:nvSpPr>
          <p:cNvPr id="11" name="Shape 9"/>
          <p:cNvSpPr/>
          <p:nvPr/>
        </p:nvSpPr>
        <p:spPr>
          <a:xfrm>
            <a:off x="731520" y="5715000"/>
            <a:ext cx="10725912" cy="621792"/>
          </a:xfrm>
          <a:prstGeom prst="rect">
            <a:avLst/>
          </a:prstGeom>
          <a:solidFill>
            <a:srgbClr val="FEF2F2"/>
          </a:solidFill>
          <a:ln w="15240">
            <a:solidFill>
              <a:srgbClr val="DC2626"/>
            </a:solidFill>
            <a:prstDash val="solid"/>
          </a:ln>
        </p:spPr>
      </p:sp>
      <p:sp>
        <p:nvSpPr>
          <p:cNvPr id="12" name="Text 10"/>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C2626"/>
                </a:solidFill>
                <a:latin typeface="Calibri" pitchFamily="34" charset="0"/>
                <a:ea typeface="Calibri" pitchFamily="34" charset="-122"/>
                <a:cs typeface="Calibri" pitchFamily="34" charset="-120"/>
              </a:rPr>
              <a:t>⚠️ RADIOLOGIST'S TRAP: </a:t>
            </a:r>
            <a:pPr indent="0" marL="0">
              <a:buNone/>
            </a:pPr>
            <a:r>
              <a:rPr lang="en-US" sz="1000" dirty="0">
                <a:solidFill>
                  <a:srgbClr val="0F172A"/>
                </a:solidFill>
                <a:latin typeface="Calibri" pitchFamily="34" charset="0"/>
                <a:ea typeface="Calibri" pitchFamily="34" charset="-122"/>
                <a:cs typeface="Calibri" pitchFamily="34" charset="-120"/>
              </a:rPr>
              <a:t>Bilious vomiting in a neonate is a surgical emergency of midgut volvulus until proven otherwise!</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MIDGUT VOLVULUS • IMAGING &amp; PITFALLS</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Midgut Volvulus: The Mandatory Lateral View &amp; Doppler Trap</a:t>
            </a:r>
            <a:endParaRPr lang="en-US" sz="2300" dirty="0"/>
          </a:p>
        </p:txBody>
      </p:sp>
      <p:sp>
        <p:nvSpPr>
          <p:cNvPr id="5" name="Shape 3"/>
          <p:cNvSpPr/>
          <p:nvPr/>
        </p:nvSpPr>
        <p:spPr>
          <a:xfrm>
            <a:off x="731520" y="1554480"/>
            <a:ext cx="10725912" cy="4023360"/>
          </a:xfrm>
          <a:prstGeom prst="rect">
            <a:avLst/>
          </a:prstGeom>
          <a:solidFill>
            <a:srgbClr val="FFFFFF"/>
          </a:solidFill>
          <a:ln w="15240">
            <a:solidFill>
              <a:srgbClr val="CBD5E1"/>
            </a:solidFill>
            <a:prstDash val="solid"/>
          </a:ln>
        </p:spPr>
      </p:sp>
      <p:sp>
        <p:nvSpPr>
          <p:cNvPr id="6" name="Shape 4"/>
          <p:cNvSpPr/>
          <p:nvPr/>
        </p:nvSpPr>
        <p:spPr>
          <a:xfrm>
            <a:off x="731520" y="1554480"/>
            <a:ext cx="10725912" cy="411480"/>
          </a:xfrm>
          <a:prstGeom prst="rect">
            <a:avLst/>
          </a:prstGeom>
          <a:solidFill>
            <a:srgbClr val="1E293B"/>
          </a:solidFill>
          <a:ln/>
        </p:spPr>
      </p:sp>
      <p:sp>
        <p:nvSpPr>
          <p:cNvPr id="7" name="Text 5"/>
          <p:cNvSpPr/>
          <p:nvPr/>
        </p:nvSpPr>
        <p:spPr>
          <a:xfrm>
            <a:off x="914400" y="155448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FLUOROSCOPIC GOLD STANDARD VS. ULTRASOUND LIMITATIONS</a:t>
            </a:r>
            <a:endParaRPr lang="en-US" sz="1250" dirty="0"/>
          </a:p>
        </p:txBody>
      </p:sp>
      <p:sp>
        <p:nvSpPr>
          <p:cNvPr id="8" name="Text 6"/>
          <p:cNvSpPr/>
          <p:nvPr/>
        </p:nvSpPr>
        <p:spPr>
          <a:xfrm>
            <a:off x="960120" y="2057400"/>
            <a:ext cx="10268712" cy="342900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Upper GI Series (Gold Standard):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The DJ junction MUST cross the midline to the left of vertebral pedicles, rise to the level of the duodenal bulb on AP view, and DIVE POSTERIORLY INTO RETROPERITONEUM on the true lateral view.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Volvulus Fluoroscopic Sign: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'Corkscrew sign' or beaked duodenal tapering at D3.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Color Doppler 'Whirlpool Sign':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Clockwise swirling of SMV and mesenteric fat around the central SMA axis.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The Doppler False-Security Trap: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Up to 15–20% of infants with surgically confirmed malrotation have a completely NORMAL SMA/SMV relationship on Doppler! Normal US DOES NOT rule out malrotation.
</a:t>
            </a:r>
            <a:endParaRPr lang="en-US" sz="1350" dirty="0"/>
          </a:p>
        </p:txBody>
      </p:sp>
      <p:sp>
        <p:nvSpPr>
          <p:cNvPr id="9" name="Shape 7"/>
          <p:cNvSpPr/>
          <p:nvPr/>
        </p:nvSpPr>
        <p:spPr>
          <a:xfrm>
            <a:off x="731520" y="5715000"/>
            <a:ext cx="10725912" cy="621792"/>
          </a:xfrm>
          <a:prstGeom prst="rect">
            <a:avLst/>
          </a:prstGeom>
          <a:solidFill>
            <a:srgbClr val="FEF2F2"/>
          </a:solidFill>
          <a:ln w="15240">
            <a:solidFill>
              <a:srgbClr val="DC2626"/>
            </a:solidFill>
            <a:prstDash val="solid"/>
          </a:ln>
        </p:spPr>
      </p:sp>
      <p:sp>
        <p:nvSpPr>
          <p:cNvPr id="10" name="Text 8"/>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C2626"/>
                </a:solidFill>
                <a:latin typeface="Calibri" pitchFamily="34" charset="0"/>
                <a:ea typeface="Calibri" pitchFamily="34" charset="-122"/>
                <a:cs typeface="Calibri" pitchFamily="34" charset="-120"/>
              </a:rPr>
              <a:t>⚠️ RADIOLOGIST'S TRAP: </a:t>
            </a:r>
            <a:pPr indent="0" marL="0">
              <a:buNone/>
            </a:pPr>
            <a:r>
              <a:rPr lang="en-US" sz="1000" dirty="0">
                <a:solidFill>
                  <a:srgbClr val="0F172A"/>
                </a:solidFill>
                <a:latin typeface="Calibri" pitchFamily="34" charset="0"/>
                <a:ea typeface="Calibri" pitchFamily="34" charset="-122"/>
                <a:cs typeface="Calibri" pitchFamily="34" charset="-120"/>
              </a:rPr>
              <a:t>Never clear an infant with bilious emesis on ultrasound alone! An Upper GI fluoroscopy series with true lateral view is legally mandatory.</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ATRESIA PARADIGMS • RECANALIZATION VS. ISCHEMIA</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Intestinal Atresia Paradox: Duodenal vs. Jejunoileal</a:t>
            </a:r>
            <a:endParaRPr lang="en-US" sz="2300" dirty="0"/>
          </a:p>
        </p:txBody>
      </p:sp>
      <p:sp>
        <p:nvSpPr>
          <p:cNvPr id="5" name="Shape 3"/>
          <p:cNvSpPr/>
          <p:nvPr/>
        </p:nvSpPr>
        <p:spPr>
          <a:xfrm>
            <a:off x="731520" y="1463040"/>
            <a:ext cx="10725912" cy="594360"/>
          </a:xfrm>
          <a:prstGeom prst="rect">
            <a:avLst/>
          </a:prstGeom>
          <a:solidFill>
            <a:srgbClr val="F0F9FF"/>
          </a:solidFill>
          <a:ln w="15240">
            <a:solidFill>
              <a:srgbClr val="0284C7"/>
            </a:solidFill>
            <a:prstDash val="solid"/>
          </a:ln>
        </p:spPr>
      </p:sp>
      <p:sp>
        <p:nvSpPr>
          <p:cNvPr id="6" name="Text 4"/>
          <p:cNvSpPr/>
          <p:nvPr/>
        </p:nvSpPr>
        <p:spPr>
          <a:xfrm>
            <a:off x="868680" y="1481328"/>
            <a:ext cx="10451592" cy="557784"/>
          </a:xfrm>
          <a:prstGeom prst="rect">
            <a:avLst/>
          </a:prstGeom>
          <a:noFill/>
          <a:ln/>
        </p:spPr>
        <p:txBody>
          <a:bodyPr wrap="square"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CLINICAL WORKSTATION HOOK: </a:t>
            </a:r>
            <a:pPr indent="0" marL="0">
              <a:buNone/>
            </a:pPr>
            <a:r>
              <a:rPr lang="en-US" sz="1100" i="1" dirty="0">
                <a:solidFill>
                  <a:srgbClr val="0F172A"/>
                </a:solidFill>
                <a:latin typeface="Calibri" pitchFamily="34" charset="0"/>
                <a:ea typeface="Calibri" pitchFamily="34" charset="-122"/>
                <a:cs typeface="Calibri" pitchFamily="34" charset="-120"/>
              </a:rPr>
              <a:t>Both cause fetal bowel dilatation and polyhydramnios on prenatal imaging. Why does the proximal obstruction point directly to Down syndrome, while the distal obstruction represents an intrauterine vascular accident?</a:t>
            </a:r>
            <a:endParaRPr lang="en-US" sz="1100" dirty="0"/>
          </a:p>
        </p:txBody>
      </p:sp>
      <p:sp>
        <p:nvSpPr>
          <p:cNvPr id="7" name="Shape 5"/>
          <p:cNvSpPr/>
          <p:nvPr/>
        </p:nvSpPr>
        <p:spPr>
          <a:xfrm>
            <a:off x="731520" y="2194560"/>
            <a:ext cx="10725912" cy="3383280"/>
          </a:xfrm>
          <a:prstGeom prst="rect">
            <a:avLst/>
          </a:prstGeom>
          <a:solidFill>
            <a:srgbClr val="FFFFFF"/>
          </a:solidFill>
          <a:ln w="15240">
            <a:solidFill>
              <a:srgbClr val="CBD5E1"/>
            </a:solidFill>
            <a:prstDash val="solid"/>
          </a:ln>
        </p:spPr>
      </p:sp>
      <p:sp>
        <p:nvSpPr>
          <p:cNvPr id="8" name="Shape 6"/>
          <p:cNvSpPr/>
          <p:nvPr/>
        </p:nvSpPr>
        <p:spPr>
          <a:xfrm>
            <a:off x="731520" y="2194560"/>
            <a:ext cx="10725912" cy="411480"/>
          </a:xfrm>
          <a:prstGeom prst="rect">
            <a:avLst/>
          </a:prstGeom>
          <a:solidFill>
            <a:srgbClr val="0F766E"/>
          </a:solidFill>
          <a:ln/>
        </p:spPr>
      </p:sp>
      <p:sp>
        <p:nvSpPr>
          <p:cNvPr id="9" name="Text 7"/>
          <p:cNvSpPr/>
          <p:nvPr/>
        </p:nvSpPr>
        <p:spPr>
          <a:xfrm>
            <a:off x="914400" y="219456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TANDLER'S EPITHELIAL FAILURE VS. LOUW &amp; BARNARD'S VASCULAR STROKE</a:t>
            </a:r>
            <a:endParaRPr lang="en-US" sz="1250" dirty="0"/>
          </a:p>
        </p:txBody>
      </p:sp>
      <p:sp>
        <p:nvSpPr>
          <p:cNvPr id="10" name="Text 8"/>
          <p:cNvSpPr/>
          <p:nvPr/>
        </p:nvSpPr>
        <p:spPr>
          <a:xfrm>
            <a:off x="960120" y="2697480"/>
            <a:ext cx="10268712" cy="278892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Duodenal Atresia = Recanalization Failure: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Weeks 7–8 embryonic (CS 18–20). Endodermal hyperplasia occludes lumen ('solid cord'). Apoptosis fails to recanalize lumen by week 10. 30–40% Trisomy 21 (Down syndrome); annular pancreas, AVSD. Normal sterile peritoneum.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Jejunoileal Atresia = Late Ischemic Accident: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Weeks 14–28 GA (2nd/3rd trimester). The bowel recanalized normally in the 1st trimester! A late vascular accident (volvulus, intussusception, thromboembolism) causes ischemic necrosis and sterile resorption. Virtually zero aneuploidy risk; 10% Cystic Fibrosis; Meconium Peritonitis.
</a:t>
            </a:r>
            <a:endParaRPr lang="en-US" sz="1350" dirty="0"/>
          </a:p>
        </p:txBody>
      </p:sp>
      <p:sp>
        <p:nvSpPr>
          <p:cNvPr id="11" name="Shape 9"/>
          <p:cNvSpPr/>
          <p:nvPr/>
        </p:nvSpPr>
        <p:spPr>
          <a:xfrm>
            <a:off x="731520" y="5715000"/>
            <a:ext cx="10725912" cy="621792"/>
          </a:xfrm>
          <a:prstGeom prst="rect">
            <a:avLst/>
          </a:prstGeom>
          <a:solidFill>
            <a:srgbClr val="FFFBEB"/>
          </a:solidFill>
          <a:ln w="15240">
            <a:solidFill>
              <a:srgbClr val="D97706"/>
            </a:solidFill>
            <a:prstDash val="solid"/>
          </a:ln>
        </p:spPr>
      </p:sp>
      <p:sp>
        <p:nvSpPr>
          <p:cNvPr id="12" name="Text 10"/>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97706"/>
                </a:solidFill>
                <a:latin typeface="Calibri" pitchFamily="34" charset="0"/>
                <a:ea typeface="Calibri" pitchFamily="34" charset="-122"/>
                <a:cs typeface="Calibri" pitchFamily="34" charset="-120"/>
              </a:rPr>
              <a:t>💡 RADIOLOGY PEARL: </a:t>
            </a:r>
            <a:pPr indent="0" marL="0">
              <a:buNone/>
            </a:pPr>
            <a:r>
              <a:rPr lang="en-US" sz="1000" dirty="0">
                <a:solidFill>
                  <a:srgbClr val="0F172A"/>
                </a:solidFill>
                <a:latin typeface="Calibri" pitchFamily="34" charset="0"/>
                <a:ea typeface="Calibri" pitchFamily="34" charset="-122"/>
                <a:cs typeface="Calibri" pitchFamily="34" charset="-120"/>
              </a:rPr>
              <a:t>Proximal atresia (duodenal) = early recanalization arrest -&gt; karyotype. Distal atresia (jejunoileal) = late ischemic catastrophe -&gt; normal chromosomes, screen for CF.</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MECONIUM DYNAMICS • CHEMICAL PERITONITIS</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Meconium Dynamics: Chemical Peritonitis &amp; Scrotal Clues</a:t>
            </a:r>
            <a:endParaRPr lang="en-US" sz="2300" dirty="0"/>
          </a:p>
        </p:txBody>
      </p:sp>
      <p:sp>
        <p:nvSpPr>
          <p:cNvPr id="5" name="Shape 3"/>
          <p:cNvSpPr/>
          <p:nvPr/>
        </p:nvSpPr>
        <p:spPr>
          <a:xfrm>
            <a:off x="731520" y="1554480"/>
            <a:ext cx="10725912" cy="4023360"/>
          </a:xfrm>
          <a:prstGeom prst="rect">
            <a:avLst/>
          </a:prstGeom>
          <a:solidFill>
            <a:srgbClr val="FFFFFF"/>
          </a:solidFill>
          <a:ln w="15240">
            <a:solidFill>
              <a:srgbClr val="CBD5E1"/>
            </a:solidFill>
            <a:prstDash val="solid"/>
          </a:ln>
        </p:spPr>
      </p:sp>
      <p:sp>
        <p:nvSpPr>
          <p:cNvPr id="6" name="Shape 4"/>
          <p:cNvSpPr/>
          <p:nvPr/>
        </p:nvSpPr>
        <p:spPr>
          <a:xfrm>
            <a:off x="731520" y="1554480"/>
            <a:ext cx="10725912" cy="411480"/>
          </a:xfrm>
          <a:prstGeom prst="rect">
            <a:avLst/>
          </a:prstGeom>
          <a:solidFill>
            <a:srgbClr val="854D0E"/>
          </a:solidFill>
          <a:ln/>
        </p:spPr>
      </p:sp>
      <p:sp>
        <p:nvSpPr>
          <p:cNvPr id="7" name="Text 5"/>
          <p:cNvSpPr/>
          <p:nvPr/>
        </p:nvSpPr>
        <p:spPr>
          <a:xfrm>
            <a:off x="914400" y="155448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IN-UTERO BOWEL PERFORATION &amp; CALCIFICATION KINETICS</a:t>
            </a:r>
            <a:endParaRPr lang="en-US" sz="1250" dirty="0"/>
          </a:p>
        </p:txBody>
      </p:sp>
      <p:sp>
        <p:nvSpPr>
          <p:cNvPr id="8" name="Text 6"/>
          <p:cNvSpPr/>
          <p:nvPr/>
        </p:nvSpPr>
        <p:spPr>
          <a:xfrm>
            <a:off x="960120" y="2057400"/>
            <a:ext cx="10268712" cy="342900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Antenatal Bowel Perforation: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Occurs proximal to an atresia, in-utero volvulus, or meconium ileus (Cystic Fibrosis).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Intense Chemical Peritonitis: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Sterile fetal meconium, bile salts, and pancreatic enzymes spill into the peritoneal cavity, inciting intense foreign-body chemical peritonitis.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Rapid Dystrophic Calcification: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Precipitation of calcium salts occurs within 24–48 hours, leaving permanent punctate or linear calcifications along the liver capsule and bowel serosa.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The Scrotal Meconium Clue: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Meconium tracks down a patent processus vaginalis into the scrotum, forming scrotal/labial calcifications that confirm in-utero perforation!
</a:t>
            </a:r>
            <a:endParaRPr lang="en-US" sz="1350" dirty="0"/>
          </a:p>
        </p:txBody>
      </p:sp>
      <p:sp>
        <p:nvSpPr>
          <p:cNvPr id="9" name="Shape 7"/>
          <p:cNvSpPr/>
          <p:nvPr/>
        </p:nvSpPr>
        <p:spPr>
          <a:xfrm>
            <a:off x="731520" y="5715000"/>
            <a:ext cx="10725912" cy="621792"/>
          </a:xfrm>
          <a:prstGeom prst="rect">
            <a:avLst/>
          </a:prstGeom>
          <a:solidFill>
            <a:srgbClr val="FFFBEB"/>
          </a:solidFill>
          <a:ln w="15240">
            <a:solidFill>
              <a:srgbClr val="D97706"/>
            </a:solidFill>
            <a:prstDash val="solid"/>
          </a:ln>
        </p:spPr>
      </p:sp>
      <p:sp>
        <p:nvSpPr>
          <p:cNvPr id="10" name="Text 8"/>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97706"/>
                </a:solidFill>
                <a:latin typeface="Calibri" pitchFamily="34" charset="0"/>
                <a:ea typeface="Calibri" pitchFamily="34" charset="-122"/>
                <a:cs typeface="Calibri" pitchFamily="34" charset="-120"/>
              </a:rPr>
              <a:t>💡 RADIOLOGY PEARL: </a:t>
            </a:r>
            <a:pPr indent="0" marL="0">
              <a:buNone/>
            </a:pPr>
            <a:r>
              <a:rPr lang="en-US" sz="1000" dirty="0">
                <a:solidFill>
                  <a:srgbClr val="0F172A"/>
                </a:solidFill>
                <a:latin typeface="Calibri" pitchFamily="34" charset="0"/>
                <a:ea typeface="Calibri" pitchFamily="34" charset="-122"/>
                <a:cs typeface="Calibri" pitchFamily="34" charset="-120"/>
              </a:rPr>
              <a:t>In male fetuses with suspected peritonitis, scan the scrotum! Scrotal calcifications prove in-utero bowel perforation.</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DISTAL NEONATAL OBSTRUCTION • NEURAL CREST VS. CFTR</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Neonatal Distal Obstruction: Hirschsprung vs. Meconium Ileus</a:t>
            </a:r>
            <a:endParaRPr lang="en-US" sz="2300" dirty="0"/>
          </a:p>
        </p:txBody>
      </p:sp>
      <p:sp>
        <p:nvSpPr>
          <p:cNvPr id="5" name="Shape 3"/>
          <p:cNvSpPr/>
          <p:nvPr/>
        </p:nvSpPr>
        <p:spPr>
          <a:xfrm>
            <a:off x="731520" y="1463040"/>
            <a:ext cx="10725912" cy="594360"/>
          </a:xfrm>
          <a:prstGeom prst="rect">
            <a:avLst/>
          </a:prstGeom>
          <a:solidFill>
            <a:srgbClr val="F0F9FF"/>
          </a:solidFill>
          <a:ln w="15240">
            <a:solidFill>
              <a:srgbClr val="0284C7"/>
            </a:solidFill>
            <a:prstDash val="solid"/>
          </a:ln>
        </p:spPr>
      </p:sp>
      <p:sp>
        <p:nvSpPr>
          <p:cNvPr id="6" name="Text 4"/>
          <p:cNvSpPr/>
          <p:nvPr/>
        </p:nvSpPr>
        <p:spPr>
          <a:xfrm>
            <a:off x="868680" y="1481328"/>
            <a:ext cx="10451592" cy="557784"/>
          </a:xfrm>
          <a:prstGeom prst="rect">
            <a:avLst/>
          </a:prstGeom>
          <a:noFill/>
          <a:ln/>
        </p:spPr>
        <p:txBody>
          <a:bodyPr wrap="square"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CLINICAL WORKSTATION HOOK: </a:t>
            </a:r>
            <a:pPr indent="0" marL="0">
              <a:buNone/>
            </a:pPr>
            <a:r>
              <a:rPr lang="en-US" sz="1100" i="1" dirty="0">
                <a:solidFill>
                  <a:srgbClr val="0F172A"/>
                </a:solidFill>
                <a:latin typeface="Calibri" pitchFamily="34" charset="0"/>
                <a:ea typeface="Calibri" pitchFamily="34" charset="-122"/>
                <a:cs typeface="Calibri" pitchFamily="34" charset="-120"/>
              </a:rPr>
              <a:t>A newborn fails to pass meconium in the first 48 hours and develops abdominal distension. Contrast enema shows a small-caliber colon. How do neural crest migration and CFTR differentiate these surgical pathways?</a:t>
            </a:r>
            <a:endParaRPr lang="en-US" sz="1100" dirty="0"/>
          </a:p>
        </p:txBody>
      </p:sp>
      <p:sp>
        <p:nvSpPr>
          <p:cNvPr id="7" name="Shape 5"/>
          <p:cNvSpPr/>
          <p:nvPr/>
        </p:nvSpPr>
        <p:spPr>
          <a:xfrm>
            <a:off x="731520" y="2194560"/>
            <a:ext cx="10725912" cy="3383280"/>
          </a:xfrm>
          <a:prstGeom prst="rect">
            <a:avLst/>
          </a:prstGeom>
          <a:solidFill>
            <a:srgbClr val="FFFFFF"/>
          </a:solidFill>
          <a:ln w="15240">
            <a:solidFill>
              <a:srgbClr val="CBD5E1"/>
            </a:solidFill>
            <a:prstDash val="solid"/>
          </a:ln>
        </p:spPr>
      </p:sp>
      <p:sp>
        <p:nvSpPr>
          <p:cNvPr id="8" name="Shape 6"/>
          <p:cNvSpPr/>
          <p:nvPr/>
        </p:nvSpPr>
        <p:spPr>
          <a:xfrm>
            <a:off x="731520" y="2194560"/>
            <a:ext cx="10725912" cy="411480"/>
          </a:xfrm>
          <a:prstGeom prst="rect">
            <a:avLst/>
          </a:prstGeom>
          <a:solidFill>
            <a:srgbClr val="1E293B"/>
          </a:solidFill>
          <a:ln/>
        </p:spPr>
      </p:sp>
      <p:sp>
        <p:nvSpPr>
          <p:cNvPr id="9" name="Text 7"/>
          <p:cNvSpPr/>
          <p:nvPr/>
        </p:nvSpPr>
        <p:spPr>
          <a:xfrm>
            <a:off x="914400" y="219456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NEUROCRISTOPATHY VS. EXOCRINE OSMOTIC FAILURE</a:t>
            </a:r>
            <a:endParaRPr lang="en-US" sz="1250" dirty="0"/>
          </a:p>
        </p:txBody>
      </p:sp>
      <p:sp>
        <p:nvSpPr>
          <p:cNvPr id="10" name="Text 8"/>
          <p:cNvSpPr/>
          <p:nvPr/>
        </p:nvSpPr>
        <p:spPr>
          <a:xfrm>
            <a:off x="960120" y="2697480"/>
            <a:ext cx="10268712" cy="278892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Hirschsprung Disease (Aganglionic Megacolon):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Failure of vagal NEURAL CREST CELLS to complete craniocaudal migration between weeks 5 and 12 (RET mutations). Absence of ganglion cells in Meissner and Auerbach plexuses. Aganglionic rectosigmoid remains in continuous tonic spasm.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Meconium Ileus (Cystic Fibrosis):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Biallelic CFTR mutations (7q31.2). Dehydrated, tar-like meconium concretions plug the terminal ileum. Because no succus entericus reaches the colon, the entire colon remains in an unused, diminutive state (MICROCOLON).
</a:t>
            </a:r>
            <a:endParaRPr lang="en-US" sz="1350" dirty="0"/>
          </a:p>
        </p:txBody>
      </p:sp>
      <p:sp>
        <p:nvSpPr>
          <p:cNvPr id="11" name="Shape 9"/>
          <p:cNvSpPr/>
          <p:nvPr/>
        </p:nvSpPr>
        <p:spPr>
          <a:xfrm>
            <a:off x="731520" y="5715000"/>
            <a:ext cx="10725912" cy="621792"/>
          </a:xfrm>
          <a:prstGeom prst="rect">
            <a:avLst/>
          </a:prstGeom>
          <a:solidFill>
            <a:srgbClr val="FFFBEB"/>
          </a:solidFill>
          <a:ln w="15240">
            <a:solidFill>
              <a:srgbClr val="D97706"/>
            </a:solidFill>
            <a:prstDash val="solid"/>
          </a:ln>
        </p:spPr>
      </p:sp>
      <p:sp>
        <p:nvSpPr>
          <p:cNvPr id="12" name="Text 10"/>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97706"/>
                </a:solidFill>
                <a:latin typeface="Calibri" pitchFamily="34" charset="0"/>
                <a:ea typeface="Calibri" pitchFamily="34" charset="-122"/>
                <a:cs typeface="Calibri" pitchFamily="34" charset="-120"/>
              </a:rPr>
              <a:t>💡 RADIOLOGY PEARL: </a:t>
            </a:r>
            <a:pPr indent="0" marL="0">
              <a:buNone/>
            </a:pPr>
            <a:r>
              <a:rPr lang="en-US" sz="1000" dirty="0">
                <a:solidFill>
                  <a:srgbClr val="0F172A"/>
                </a:solidFill>
                <a:latin typeface="Calibri" pitchFamily="34" charset="0"/>
                <a:ea typeface="Calibri" pitchFamily="34" charset="-122"/>
                <a:cs typeface="Calibri" pitchFamily="34" charset="-120"/>
              </a:rPr>
              <a:t>Hirschsprung is a neural crest migration arrest; Meconium Ileus is an exocrine osmotic secretory failure.</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DISTAL NEONATAL OBSTRUCTION • CONTRAST ENEMA</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Distal Obstruction: Contrast Enema Signs &amp; The Total Aganglionosis Trap</a:t>
            </a:r>
            <a:endParaRPr lang="en-US" sz="2300" dirty="0"/>
          </a:p>
        </p:txBody>
      </p:sp>
      <p:sp>
        <p:nvSpPr>
          <p:cNvPr id="5" name="Shape 3"/>
          <p:cNvSpPr/>
          <p:nvPr/>
        </p:nvSpPr>
        <p:spPr>
          <a:xfrm>
            <a:off x="731520" y="1554480"/>
            <a:ext cx="10725912" cy="4023360"/>
          </a:xfrm>
          <a:prstGeom prst="rect">
            <a:avLst/>
          </a:prstGeom>
          <a:solidFill>
            <a:srgbClr val="FFFFFF"/>
          </a:solidFill>
          <a:ln w="15240">
            <a:solidFill>
              <a:srgbClr val="CBD5E1"/>
            </a:solidFill>
            <a:prstDash val="solid"/>
          </a:ln>
        </p:spPr>
      </p:sp>
      <p:sp>
        <p:nvSpPr>
          <p:cNvPr id="6" name="Shape 4"/>
          <p:cNvSpPr/>
          <p:nvPr/>
        </p:nvSpPr>
        <p:spPr>
          <a:xfrm>
            <a:off x="731520" y="1554480"/>
            <a:ext cx="10725912" cy="411480"/>
          </a:xfrm>
          <a:prstGeom prst="rect">
            <a:avLst/>
          </a:prstGeom>
          <a:solidFill>
            <a:srgbClr val="065F46"/>
          </a:solidFill>
          <a:ln/>
        </p:spPr>
      </p:sp>
      <p:sp>
        <p:nvSpPr>
          <p:cNvPr id="7" name="Text 5"/>
          <p:cNvSpPr/>
          <p:nvPr/>
        </p:nvSpPr>
        <p:spPr>
          <a:xfrm>
            <a:off x="914400" y="155448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FLUOROSCOPIC CONTRAST ENEMA DISCRIMINATORS</a:t>
            </a:r>
            <a:endParaRPr lang="en-US" sz="1250" dirty="0"/>
          </a:p>
        </p:txBody>
      </p:sp>
      <p:sp>
        <p:nvSpPr>
          <p:cNvPr id="8" name="Text 6"/>
          <p:cNvSpPr/>
          <p:nvPr/>
        </p:nvSpPr>
        <p:spPr>
          <a:xfrm>
            <a:off x="960120" y="2057400"/>
            <a:ext cx="10268712" cy="342900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Hirschsprung Contrast Enema: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Rectosigmoid Ratio Reversal (R/S &lt; 1.0; normal rectum is wider than sigmoid). Funnel-shaped transition zone from narrow aganglionic rectosigmoid to dilated normoganglionic descending colon with saw-tooth contractions. 24-hr barium retention.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Meconium Ileus Contrast Enema: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Microcolon ('String Sign'): Diffusely narrow colon throughout. Multiple round, radiolucent filling defects (inspissated meconium pellets) in the terminal ileum. Gastrografin is diagnostic and therapeutic.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Small Left Colon Syndrome: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Functional immaturity in infants of diabetic mothers; caliber change at splenic flexure; self-resolving.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Total Colonic Aganglionosis Trap: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In 5–10% of Hirschsprung disease, aganglionosis involves the ENTIRE colon. On contrast enema, this mimics meconium ileus with a generalized microcolon and NO transition zone! Suction biopsy is essential.
</a:t>
            </a:r>
            <a:endParaRPr lang="en-US" sz="1350" dirty="0"/>
          </a:p>
        </p:txBody>
      </p:sp>
      <p:sp>
        <p:nvSpPr>
          <p:cNvPr id="9" name="Shape 7"/>
          <p:cNvSpPr/>
          <p:nvPr/>
        </p:nvSpPr>
        <p:spPr>
          <a:xfrm>
            <a:off x="731520" y="5715000"/>
            <a:ext cx="10725912" cy="621792"/>
          </a:xfrm>
          <a:prstGeom prst="rect">
            <a:avLst/>
          </a:prstGeom>
          <a:solidFill>
            <a:srgbClr val="FEF2F2"/>
          </a:solidFill>
          <a:ln w="15240">
            <a:solidFill>
              <a:srgbClr val="DC2626"/>
            </a:solidFill>
            <a:prstDash val="solid"/>
          </a:ln>
        </p:spPr>
      </p:sp>
      <p:sp>
        <p:nvSpPr>
          <p:cNvPr id="10" name="Text 8"/>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C2626"/>
                </a:solidFill>
                <a:latin typeface="Calibri" pitchFamily="34" charset="0"/>
                <a:ea typeface="Calibri" pitchFamily="34" charset="-122"/>
                <a:cs typeface="Calibri" pitchFamily="34" charset="-120"/>
              </a:rPr>
              <a:t>⚠️ RADIOLOGIST'S TRAP: </a:t>
            </a:r>
            <a:pPr indent="0" marL="0">
              <a:buNone/>
            </a:pPr>
            <a:r>
              <a:rPr lang="en-US" sz="1000" dirty="0">
                <a:solidFill>
                  <a:srgbClr val="0F172A"/>
                </a:solidFill>
                <a:latin typeface="Calibri" pitchFamily="34" charset="0"/>
                <a:ea typeface="Calibri" pitchFamily="34" charset="-122"/>
                <a:cs typeface="Calibri" pitchFamily="34" charset="-120"/>
              </a:rPr>
              <a:t>Total colonic Hirschsprung produces a microcolon without a transition zone! Any newborn with microcolon and normal CF genetics needs rectal suction biopsy.</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CYSTIC RUQ LOOK-ALIKES • FOREGUT &amp; MIDGUT</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Pediatric RUQ Cysts: The 'Gut Signature' vs. The Biliary Tree</a:t>
            </a:r>
            <a:endParaRPr lang="en-US" sz="2300" dirty="0"/>
          </a:p>
        </p:txBody>
      </p:sp>
      <p:sp>
        <p:nvSpPr>
          <p:cNvPr id="5" name="Shape 3"/>
          <p:cNvSpPr/>
          <p:nvPr/>
        </p:nvSpPr>
        <p:spPr>
          <a:xfrm>
            <a:off x="731520" y="1463040"/>
            <a:ext cx="10725912" cy="594360"/>
          </a:xfrm>
          <a:prstGeom prst="rect">
            <a:avLst/>
          </a:prstGeom>
          <a:solidFill>
            <a:srgbClr val="F0F9FF"/>
          </a:solidFill>
          <a:ln w="15240">
            <a:solidFill>
              <a:srgbClr val="0284C7"/>
            </a:solidFill>
            <a:prstDash val="solid"/>
          </a:ln>
        </p:spPr>
      </p:sp>
      <p:sp>
        <p:nvSpPr>
          <p:cNvPr id="6" name="Text 4"/>
          <p:cNvSpPr/>
          <p:nvPr/>
        </p:nvSpPr>
        <p:spPr>
          <a:xfrm>
            <a:off x="868680" y="1481328"/>
            <a:ext cx="10451592" cy="557784"/>
          </a:xfrm>
          <a:prstGeom prst="rect">
            <a:avLst/>
          </a:prstGeom>
          <a:noFill/>
          <a:ln/>
        </p:spPr>
        <p:txBody>
          <a:bodyPr wrap="square"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CLINICAL WORKSTATION HOOK: </a:t>
            </a:r>
            <a:pPr indent="0" marL="0">
              <a:buNone/>
            </a:pPr>
            <a:r>
              <a:rPr lang="en-US" sz="1100" i="1" dirty="0">
                <a:solidFill>
                  <a:srgbClr val="0F172A"/>
                </a:solidFill>
                <a:latin typeface="Calibri" pitchFamily="34" charset="0"/>
                <a:ea typeface="Calibri" pitchFamily="34" charset="-122"/>
                <a:cs typeface="Calibri" pitchFamily="34" charset="-120"/>
              </a:rPr>
              <a:t>A fluid-filled right upper quadrant cystic mass in an infant: Is it an enteric duplication prone to life-threatening bleeding, a choledochal cyst requiring cancer-prophylactic excision, or a benign lymphangioma?</a:t>
            </a:r>
            <a:endParaRPr lang="en-US" sz="1100" dirty="0"/>
          </a:p>
        </p:txBody>
      </p:sp>
      <p:sp>
        <p:nvSpPr>
          <p:cNvPr id="7" name="Shape 5"/>
          <p:cNvSpPr/>
          <p:nvPr/>
        </p:nvSpPr>
        <p:spPr>
          <a:xfrm>
            <a:off x="731520" y="2194560"/>
            <a:ext cx="10725912" cy="3383280"/>
          </a:xfrm>
          <a:prstGeom prst="rect">
            <a:avLst/>
          </a:prstGeom>
          <a:solidFill>
            <a:srgbClr val="FFFFFF"/>
          </a:solidFill>
          <a:ln w="15240">
            <a:solidFill>
              <a:srgbClr val="CBD5E1"/>
            </a:solidFill>
            <a:prstDash val="solid"/>
          </a:ln>
        </p:spPr>
      </p:sp>
      <p:sp>
        <p:nvSpPr>
          <p:cNvPr id="8" name="Shape 6"/>
          <p:cNvSpPr/>
          <p:nvPr/>
        </p:nvSpPr>
        <p:spPr>
          <a:xfrm>
            <a:off x="731520" y="2194560"/>
            <a:ext cx="10725912" cy="411480"/>
          </a:xfrm>
          <a:prstGeom prst="rect">
            <a:avLst/>
          </a:prstGeom>
          <a:solidFill>
            <a:srgbClr val="831843"/>
          </a:solidFill>
          <a:ln/>
        </p:spPr>
      </p:sp>
      <p:sp>
        <p:nvSpPr>
          <p:cNvPr id="9" name="Text 7"/>
          <p:cNvSpPr/>
          <p:nvPr/>
        </p:nvSpPr>
        <p:spPr>
          <a:xfrm>
            <a:off x="914400" y="219456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ENTERIC DUPLICATION VS. CHOLEDOCHAL CYSTS</a:t>
            </a:r>
            <a:endParaRPr lang="en-US" sz="1250" dirty="0"/>
          </a:p>
        </p:txBody>
      </p:sp>
      <p:sp>
        <p:nvSpPr>
          <p:cNvPr id="10" name="Text 8"/>
          <p:cNvSpPr/>
          <p:nvPr/>
        </p:nvSpPr>
        <p:spPr>
          <a:xfrm>
            <a:off x="960120" y="2697480"/>
            <a:ext cx="10268712" cy="278892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Enteric Duplication Cyst: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Weeks 4–8 vacuolation failure. Possesses a smooth muscularis propria coat and true GI mucosa (heterotopic gastric mucosa in 30–50% causes ulceration and massive GI bleeding). Ultrasound shows the pathognomonic 'Gut Signature' (Double-Rim Sign): inner bright mucosa, outer hypoechoic smooth muscle.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Choledochal Cyst (Todani Spectrum):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Anomalous Pancreaticobiliary Ductal Junction (APBDJ). Pancreatic enzymes destroy duct wall elastin; LACKS muscularis propria; communicates with biliary tree; 20–30% lifetime risk of cholangiocarcinoma.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Cystic Biliary Atresia Trap: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In a jaundiced neonate, cystic biliary atresia mimics a Todani Type I cyst. Look for an absent/small gallbladder (&lt;1.5 cm) and the 'triangular cord sign' (&gt;4 mm fibrous plaque) to diagnose biliary atresia before the 60-day Kasai deadline!
</a:t>
            </a:r>
            <a:endParaRPr lang="en-US" sz="1350" dirty="0"/>
          </a:p>
        </p:txBody>
      </p:sp>
      <p:sp>
        <p:nvSpPr>
          <p:cNvPr id="11" name="Shape 9"/>
          <p:cNvSpPr/>
          <p:nvPr/>
        </p:nvSpPr>
        <p:spPr>
          <a:xfrm>
            <a:off x="731520" y="5715000"/>
            <a:ext cx="10725912" cy="621792"/>
          </a:xfrm>
          <a:prstGeom prst="rect">
            <a:avLst/>
          </a:prstGeom>
          <a:solidFill>
            <a:srgbClr val="FFFBEB"/>
          </a:solidFill>
          <a:ln w="15240">
            <a:solidFill>
              <a:srgbClr val="D97706"/>
            </a:solidFill>
            <a:prstDash val="solid"/>
          </a:ln>
        </p:spPr>
      </p:sp>
      <p:sp>
        <p:nvSpPr>
          <p:cNvPr id="12" name="Text 10"/>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97706"/>
                </a:solidFill>
                <a:latin typeface="Calibri" pitchFamily="34" charset="0"/>
                <a:ea typeface="Calibri" pitchFamily="34" charset="-122"/>
                <a:cs typeface="Calibri" pitchFamily="34" charset="-120"/>
              </a:rPr>
              <a:t>💡 RADIOLOGY PEARL: </a:t>
            </a:r>
            <a:pPr indent="0" marL="0">
              <a:buNone/>
            </a:pPr>
            <a:r>
              <a:rPr lang="en-US" sz="1000" dirty="0">
                <a:solidFill>
                  <a:srgbClr val="0F172A"/>
                </a:solidFill>
                <a:latin typeface="Calibri" pitchFamily="34" charset="0"/>
                <a:ea typeface="Calibri" pitchFamily="34" charset="-122"/>
                <a:cs typeface="Calibri" pitchFamily="34" charset="-120"/>
              </a:rPr>
              <a:t>The 'gut signature' double-rim sign confirms duplication cyst. Choledochal cysts communicate with bile ducts and lack smooth muscle.</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DIAPHRAGMATIC CLEAVAGE • WEEKS 4–10</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Congenital Diaphragmatic Hernia: The Dual-Hit Hypothesis</a:t>
            </a:r>
            <a:endParaRPr lang="en-US" sz="2300" dirty="0"/>
          </a:p>
        </p:txBody>
      </p:sp>
      <p:sp>
        <p:nvSpPr>
          <p:cNvPr id="5" name="Shape 3"/>
          <p:cNvSpPr/>
          <p:nvPr/>
        </p:nvSpPr>
        <p:spPr>
          <a:xfrm>
            <a:off x="731520" y="1463040"/>
            <a:ext cx="10725912" cy="594360"/>
          </a:xfrm>
          <a:prstGeom prst="rect">
            <a:avLst/>
          </a:prstGeom>
          <a:solidFill>
            <a:srgbClr val="F0F9FF"/>
          </a:solidFill>
          <a:ln w="15240">
            <a:solidFill>
              <a:srgbClr val="0284C7"/>
            </a:solidFill>
            <a:prstDash val="solid"/>
          </a:ln>
        </p:spPr>
      </p:sp>
      <p:sp>
        <p:nvSpPr>
          <p:cNvPr id="6" name="Text 4"/>
          <p:cNvSpPr/>
          <p:nvPr/>
        </p:nvSpPr>
        <p:spPr>
          <a:xfrm>
            <a:off x="868680" y="1481328"/>
            <a:ext cx="10451592" cy="557784"/>
          </a:xfrm>
          <a:prstGeom prst="rect">
            <a:avLst/>
          </a:prstGeom>
          <a:noFill/>
          <a:ln/>
        </p:spPr>
        <p:txBody>
          <a:bodyPr wrap="square"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CLINICAL WORKSTATION HOOK: </a:t>
            </a:r>
            <a:pPr indent="0" marL="0">
              <a:buNone/>
            </a:pPr>
            <a:r>
              <a:rPr lang="en-US" sz="1100" i="1" dirty="0">
                <a:solidFill>
                  <a:srgbClr val="0F172A"/>
                </a:solidFill>
                <a:latin typeface="Calibri" pitchFamily="34" charset="0"/>
                <a:ea typeface="Calibri" pitchFamily="34" charset="-122"/>
                <a:cs typeface="Calibri" pitchFamily="34" charset="-120"/>
              </a:rPr>
              <a:t>85% are left-sided and posterolateral. Why does the timing of pleuroperitoneal closure dictate not just a diaphragmatic defect, but lethal pulmonary hypoplasia?</a:t>
            </a:r>
            <a:endParaRPr lang="en-US" sz="1100" dirty="0"/>
          </a:p>
        </p:txBody>
      </p:sp>
      <p:sp>
        <p:nvSpPr>
          <p:cNvPr id="7" name="Shape 5"/>
          <p:cNvSpPr/>
          <p:nvPr/>
        </p:nvSpPr>
        <p:spPr>
          <a:xfrm>
            <a:off x="731520" y="2194560"/>
            <a:ext cx="10725912" cy="3383280"/>
          </a:xfrm>
          <a:prstGeom prst="rect">
            <a:avLst/>
          </a:prstGeom>
          <a:solidFill>
            <a:srgbClr val="FFFFFF"/>
          </a:solidFill>
          <a:ln w="15240">
            <a:solidFill>
              <a:srgbClr val="CBD5E1"/>
            </a:solidFill>
            <a:prstDash val="solid"/>
          </a:ln>
        </p:spPr>
      </p:sp>
      <p:sp>
        <p:nvSpPr>
          <p:cNvPr id="8" name="Shape 6"/>
          <p:cNvSpPr/>
          <p:nvPr/>
        </p:nvSpPr>
        <p:spPr>
          <a:xfrm>
            <a:off x="731520" y="2194560"/>
            <a:ext cx="10725912" cy="411480"/>
          </a:xfrm>
          <a:prstGeom prst="rect">
            <a:avLst/>
          </a:prstGeom>
          <a:solidFill>
            <a:srgbClr val="1E3A8A"/>
          </a:solidFill>
          <a:ln/>
        </p:spPr>
      </p:sp>
      <p:sp>
        <p:nvSpPr>
          <p:cNvPr id="9" name="Text 7"/>
          <p:cNvSpPr/>
          <p:nvPr/>
        </p:nvSpPr>
        <p:spPr>
          <a:xfrm>
            <a:off x="914400" y="219456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BOCHDALEK CLEAVAGE ARREST &amp; ARTERIOLAR DYSGENESIS</a:t>
            </a:r>
            <a:endParaRPr lang="en-US" sz="1250" dirty="0"/>
          </a:p>
        </p:txBody>
      </p:sp>
      <p:sp>
        <p:nvSpPr>
          <p:cNvPr id="10" name="Text 8"/>
          <p:cNvSpPr/>
          <p:nvPr/>
        </p:nvSpPr>
        <p:spPr>
          <a:xfrm>
            <a:off x="960120" y="2697480"/>
            <a:ext cx="10268712" cy="278892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Embryogenesis: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Failure of the pleuroperitoneal fold (PPF) mesenchyme to fuse with the septum transversum before midgut returns at week 10. Left canal closes later and is larger than right; right is protected by liver.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The Dual-Hit Hypothesis: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Herniation during the pseudoglandular lung stage (wks 5–16) arrests bronchial branching. Concurrently, primary genetic mutations (GATA4, WT1) independently disrupt bilateral pulmonary arteriolar muscularization.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Morgagni Defect: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Anterior retrosternal space of Larrey (90% right-sided); late failure of sternal/costal muscular slips; minimal pulmonary hypoplasia.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Right-Sided CDH Mimicker: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Right-sided CDH herniates liver and gallbladder, misdiagnosed as CPAM or sequestration. Trace portal veins or fluid gallbladder into chest with Doppler!
</a:t>
            </a:r>
            <a:endParaRPr lang="en-US" sz="1350" dirty="0"/>
          </a:p>
        </p:txBody>
      </p:sp>
      <p:sp>
        <p:nvSpPr>
          <p:cNvPr id="11" name="Shape 9"/>
          <p:cNvSpPr/>
          <p:nvPr/>
        </p:nvSpPr>
        <p:spPr>
          <a:xfrm>
            <a:off x="731520" y="5715000"/>
            <a:ext cx="10725912" cy="621792"/>
          </a:xfrm>
          <a:prstGeom prst="rect">
            <a:avLst/>
          </a:prstGeom>
          <a:solidFill>
            <a:srgbClr val="FFFBEB"/>
          </a:solidFill>
          <a:ln w="15240">
            <a:solidFill>
              <a:srgbClr val="D97706"/>
            </a:solidFill>
            <a:prstDash val="solid"/>
          </a:ln>
        </p:spPr>
      </p:sp>
      <p:sp>
        <p:nvSpPr>
          <p:cNvPr id="12" name="Text 10"/>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97706"/>
                </a:solidFill>
                <a:latin typeface="Calibri" pitchFamily="34" charset="0"/>
                <a:ea typeface="Calibri" pitchFamily="34" charset="-122"/>
                <a:cs typeface="Calibri" pitchFamily="34" charset="-120"/>
              </a:rPr>
              <a:t>💡 RADIOLOGY PEARL: </a:t>
            </a:r>
            <a:pPr indent="0" marL="0">
              <a:buNone/>
            </a:pPr>
            <a:r>
              <a:rPr lang="en-US" sz="1000" dirty="0">
                <a:solidFill>
                  <a:srgbClr val="0F172A"/>
                </a:solidFill>
                <a:latin typeface="Calibri" pitchFamily="34" charset="0"/>
                <a:ea typeface="Calibri" pitchFamily="34" charset="-122"/>
                <a:cs typeface="Calibri" pitchFamily="34" charset="-120"/>
              </a:rPr>
              <a:t>CDH is a bilateral pulmonary vascular disease, not just a diaphragmatic hole! Genetic hits disrupt bilateral pulmonary arterioles.</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DIAPHRAGMATIC CLEAVAGE • TOTAL TRIAL</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CDH Prognostic Matrix: The TOTAL Trial Criteria (NEJM 2021)</a:t>
            </a:r>
            <a:endParaRPr lang="en-US" sz="2300" dirty="0"/>
          </a:p>
        </p:txBody>
      </p:sp>
      <p:sp>
        <p:nvSpPr>
          <p:cNvPr id="5" name="Shape 3"/>
          <p:cNvSpPr/>
          <p:nvPr/>
        </p:nvSpPr>
        <p:spPr>
          <a:xfrm>
            <a:off x="731520" y="1554480"/>
            <a:ext cx="10725912" cy="4023360"/>
          </a:xfrm>
          <a:prstGeom prst="rect">
            <a:avLst/>
          </a:prstGeom>
          <a:solidFill>
            <a:srgbClr val="FFFFFF"/>
          </a:solidFill>
          <a:ln w="15240">
            <a:solidFill>
              <a:srgbClr val="CBD5E1"/>
            </a:solidFill>
            <a:prstDash val="solid"/>
          </a:ln>
        </p:spPr>
      </p:sp>
      <p:sp>
        <p:nvSpPr>
          <p:cNvPr id="6" name="Shape 4"/>
          <p:cNvSpPr/>
          <p:nvPr/>
        </p:nvSpPr>
        <p:spPr>
          <a:xfrm>
            <a:off x="731520" y="1554480"/>
            <a:ext cx="10725912" cy="411480"/>
          </a:xfrm>
          <a:prstGeom prst="rect">
            <a:avLst/>
          </a:prstGeom>
          <a:solidFill>
            <a:srgbClr val="047857"/>
          </a:solidFill>
          <a:ln/>
        </p:spPr>
      </p:sp>
      <p:sp>
        <p:nvSpPr>
          <p:cNvPr id="7" name="Text 5"/>
          <p:cNvSpPr/>
          <p:nvPr/>
        </p:nvSpPr>
        <p:spPr>
          <a:xfrm>
            <a:off x="914400" y="155448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QUANTITATIVE BIOMARKERS FOR FETAL SURGERY (FETO)</a:t>
            </a:r>
            <a:endParaRPr lang="en-US" sz="1250" dirty="0"/>
          </a:p>
        </p:txBody>
      </p:sp>
      <p:sp>
        <p:nvSpPr>
          <p:cNvPr id="8" name="Text 6"/>
          <p:cNvSpPr/>
          <p:nvPr/>
        </p:nvSpPr>
        <p:spPr>
          <a:xfrm>
            <a:off x="960120" y="2057400"/>
            <a:ext cx="10268712" cy="342900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Observed/Expected LHR on 2D US: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Measured at 22–32 wks GA:
• Severe CDH: o/e LHR &lt; 25% (Survival &lt;15–20% without FETO; ECMO &gt; 80%)
• Moderate CDH: o/e LHR 25–34.9% (liver-up) or 25–44.9% (liver-down)
• Mild CDH: o/e LHR &gt;= 45% (Survival &gt; 85%).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Liver Herniation ('Liver-Up'):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Herniation of the left hepatic lobe into the chest reduces survival by ~40% across all LHR strata.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MRI Total Fetal Lung Volume: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o/e TFLV &lt; 25% predicts extreme pulmonary hypoplasia.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FETO Balloon Occlusion: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Tracheal balloon occlusion at 27–29 wks traps lung fluid to accelerate alveolar growth, removed at 34 wks.
</a:t>
            </a:r>
            <a:endParaRPr lang="en-US" sz="1350" dirty="0"/>
          </a:p>
        </p:txBody>
      </p:sp>
      <p:sp>
        <p:nvSpPr>
          <p:cNvPr id="9" name="Shape 7"/>
          <p:cNvSpPr/>
          <p:nvPr/>
        </p:nvSpPr>
        <p:spPr>
          <a:xfrm>
            <a:off x="731520" y="5715000"/>
            <a:ext cx="10725912" cy="621792"/>
          </a:xfrm>
          <a:prstGeom prst="rect">
            <a:avLst/>
          </a:prstGeom>
          <a:solidFill>
            <a:srgbClr val="FFFBEB"/>
          </a:solidFill>
          <a:ln w="15240">
            <a:solidFill>
              <a:srgbClr val="D97706"/>
            </a:solidFill>
            <a:prstDash val="solid"/>
          </a:ln>
        </p:spPr>
      </p:sp>
      <p:sp>
        <p:nvSpPr>
          <p:cNvPr id="10" name="Text 8"/>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97706"/>
                </a:solidFill>
                <a:latin typeface="Calibri" pitchFamily="34" charset="0"/>
                <a:ea typeface="Calibri" pitchFamily="34" charset="-122"/>
                <a:cs typeface="Calibri" pitchFamily="34" charset="-120"/>
              </a:rPr>
              <a:t>💡 RADIOLOGY PEARL: </a:t>
            </a:r>
            <a:pPr indent="0" marL="0">
              <a:buNone/>
            </a:pPr>
            <a:r>
              <a:rPr lang="en-US" sz="1000" dirty="0">
                <a:solidFill>
                  <a:srgbClr val="0F172A"/>
                </a:solidFill>
                <a:latin typeface="Calibri" pitchFamily="34" charset="0"/>
                <a:ea typeface="Calibri" pitchFamily="34" charset="-122"/>
                <a:cs typeface="Calibri" pitchFamily="34" charset="-120"/>
              </a:rPr>
              <a:t>o/e LHR &lt; 25% predicts severe pulmonary hypoplasia; fetoscopic endoluminal tracheal occlusion (FETO) rescues lung development.</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CLOACAL CLEAVAGE • WEEKS 4–7</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Cloacal Partitioning: Krickenbeck ARM &amp; Persistent Cloaca</a:t>
            </a:r>
            <a:endParaRPr lang="en-US" sz="2300" dirty="0"/>
          </a:p>
        </p:txBody>
      </p:sp>
      <p:sp>
        <p:nvSpPr>
          <p:cNvPr id="5" name="Shape 3"/>
          <p:cNvSpPr/>
          <p:nvPr/>
        </p:nvSpPr>
        <p:spPr>
          <a:xfrm>
            <a:off x="731520" y="1463040"/>
            <a:ext cx="10725912" cy="594360"/>
          </a:xfrm>
          <a:prstGeom prst="rect">
            <a:avLst/>
          </a:prstGeom>
          <a:solidFill>
            <a:srgbClr val="F0F9FF"/>
          </a:solidFill>
          <a:ln w="15240">
            <a:solidFill>
              <a:srgbClr val="0284C7"/>
            </a:solidFill>
            <a:prstDash val="solid"/>
          </a:ln>
        </p:spPr>
      </p:sp>
      <p:sp>
        <p:nvSpPr>
          <p:cNvPr id="6" name="Text 4"/>
          <p:cNvSpPr/>
          <p:nvPr/>
        </p:nvSpPr>
        <p:spPr>
          <a:xfrm>
            <a:off x="868680" y="1481328"/>
            <a:ext cx="10451592" cy="557784"/>
          </a:xfrm>
          <a:prstGeom prst="rect">
            <a:avLst/>
          </a:prstGeom>
          <a:noFill/>
          <a:ln/>
        </p:spPr>
        <p:txBody>
          <a:bodyPr wrap="square"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CLINICAL WORKSTATION HOOK: </a:t>
            </a:r>
            <a:pPr indent="0" marL="0">
              <a:buNone/>
            </a:pPr>
            <a:r>
              <a:rPr lang="en-US" sz="1100" i="1" dirty="0">
                <a:solidFill>
                  <a:srgbClr val="0F172A"/>
                </a:solidFill>
                <a:latin typeface="Calibri" pitchFamily="34" charset="0"/>
                <a:ea typeface="Calibri" pitchFamily="34" charset="-122"/>
                <a:cs typeface="Calibri" pitchFamily="34" charset="-120"/>
              </a:rPr>
              <a:t>A newborn female has a single perineal opening, and another infant has chronic constipation and an abnormal sacrum. Why is aspirating a presacral mass in the latter an act of surgical disaster?</a:t>
            </a:r>
            <a:endParaRPr lang="en-US" sz="1100" dirty="0"/>
          </a:p>
        </p:txBody>
      </p:sp>
      <p:sp>
        <p:nvSpPr>
          <p:cNvPr id="7" name="Shape 5"/>
          <p:cNvSpPr/>
          <p:nvPr/>
        </p:nvSpPr>
        <p:spPr>
          <a:xfrm>
            <a:off x="731520" y="2194560"/>
            <a:ext cx="10725912" cy="3383280"/>
          </a:xfrm>
          <a:prstGeom prst="rect">
            <a:avLst/>
          </a:prstGeom>
          <a:solidFill>
            <a:srgbClr val="FFFFFF"/>
          </a:solidFill>
          <a:ln w="15240">
            <a:solidFill>
              <a:srgbClr val="CBD5E1"/>
            </a:solidFill>
            <a:prstDash val="solid"/>
          </a:ln>
        </p:spPr>
      </p:sp>
      <p:sp>
        <p:nvSpPr>
          <p:cNvPr id="8" name="Shape 6"/>
          <p:cNvSpPr/>
          <p:nvPr/>
        </p:nvSpPr>
        <p:spPr>
          <a:xfrm>
            <a:off x="731520" y="2194560"/>
            <a:ext cx="10725912" cy="411480"/>
          </a:xfrm>
          <a:prstGeom prst="rect">
            <a:avLst/>
          </a:prstGeom>
          <a:solidFill>
            <a:srgbClr val="312E81"/>
          </a:solidFill>
          <a:ln/>
        </p:spPr>
      </p:sp>
      <p:sp>
        <p:nvSpPr>
          <p:cNvPr id="9" name="Text 7"/>
          <p:cNvSpPr/>
          <p:nvPr/>
        </p:nvSpPr>
        <p:spPr>
          <a:xfrm>
            <a:off x="914400" y="219456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URORECTAL SEPTATION &amp; THE KRICKENBECK CONSENSUS (2005)</a:t>
            </a:r>
            <a:endParaRPr lang="en-US" sz="1250" dirty="0"/>
          </a:p>
        </p:txBody>
      </p:sp>
      <p:sp>
        <p:nvSpPr>
          <p:cNvPr id="10" name="Text 8"/>
          <p:cNvSpPr/>
          <p:nvPr/>
        </p:nvSpPr>
        <p:spPr>
          <a:xfrm>
            <a:off x="960120" y="2697480"/>
            <a:ext cx="10268712" cy="278892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The Urorectal Septum (Weeks 4–7):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The Tourneux cranial fold and Rathke lateral folds descend and fuse with the cloacal membrane, dividing the cloaca into the anterior Urogenital Sinus and posterior Anorectal Canal.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Krickenbeck Clinical Classification: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Replaced obsolete Wingspread criteria. Categorizes ARMs by specific fistulae: Perineal, Rectourethral (bulbar/prostatic), Rectovesical, Rectovestibular, Persistent Cloaca, ARM without fistula.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Persistent Cloaca (Exclusively Female):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Complete failure of urorectal descent. Urethra, vagina, and rectum empty into a SINGLE common perineal channel. Fetal/neonatal MRI displays hydrocolpos (fluid-distended vagina) + enterolithiasis (calcified meconium).
</a:t>
            </a:r>
            <a:endParaRPr lang="en-US" sz="1350" dirty="0"/>
          </a:p>
        </p:txBody>
      </p:sp>
      <p:sp>
        <p:nvSpPr>
          <p:cNvPr id="11" name="Shape 9"/>
          <p:cNvSpPr/>
          <p:nvPr/>
        </p:nvSpPr>
        <p:spPr>
          <a:xfrm>
            <a:off x="731520" y="5715000"/>
            <a:ext cx="10725912" cy="621792"/>
          </a:xfrm>
          <a:prstGeom prst="rect">
            <a:avLst/>
          </a:prstGeom>
          <a:solidFill>
            <a:srgbClr val="FFFBEB"/>
          </a:solidFill>
          <a:ln w="15240">
            <a:solidFill>
              <a:srgbClr val="D97706"/>
            </a:solidFill>
            <a:prstDash val="solid"/>
          </a:ln>
        </p:spPr>
      </p:sp>
      <p:sp>
        <p:nvSpPr>
          <p:cNvPr id="12" name="Text 10"/>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97706"/>
                </a:solidFill>
                <a:latin typeface="Calibri" pitchFamily="34" charset="0"/>
                <a:ea typeface="Calibri" pitchFamily="34" charset="-122"/>
                <a:cs typeface="Calibri" pitchFamily="34" charset="-120"/>
              </a:rPr>
              <a:t>💡 RADIOLOGY PEARL: </a:t>
            </a:r>
            <a:pPr indent="0" marL="0">
              <a:buNone/>
            </a:pPr>
            <a:r>
              <a:rPr lang="en-US" sz="1000" dirty="0">
                <a:solidFill>
                  <a:srgbClr val="0F172A"/>
                </a:solidFill>
                <a:latin typeface="Calibri" pitchFamily="34" charset="0"/>
                <a:ea typeface="Calibri" pitchFamily="34" charset="-122"/>
                <a:cs typeface="Calibri" pitchFamily="34" charset="-120"/>
              </a:rPr>
              <a:t>Hydrocolpos + enterolithiasis (calcified meconium from urine-feces mixing via fistula) on fetal MRI proves persistent cloaca.</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ANORECTAL MORPHOGENESIS • CURRARINO TRIAD</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Currarino Syndrome: The MNX1 Gene &amp; The Sacral Trap</a:t>
            </a:r>
            <a:endParaRPr lang="en-US" sz="2300" dirty="0"/>
          </a:p>
        </p:txBody>
      </p:sp>
      <p:sp>
        <p:nvSpPr>
          <p:cNvPr id="5" name="Shape 3"/>
          <p:cNvSpPr/>
          <p:nvPr/>
        </p:nvSpPr>
        <p:spPr>
          <a:xfrm>
            <a:off x="731520" y="1554480"/>
            <a:ext cx="10725912" cy="4023360"/>
          </a:xfrm>
          <a:prstGeom prst="rect">
            <a:avLst/>
          </a:prstGeom>
          <a:solidFill>
            <a:srgbClr val="FFFFFF"/>
          </a:solidFill>
          <a:ln w="15240">
            <a:solidFill>
              <a:srgbClr val="CBD5E1"/>
            </a:solidFill>
            <a:prstDash val="solid"/>
          </a:ln>
        </p:spPr>
      </p:sp>
      <p:sp>
        <p:nvSpPr>
          <p:cNvPr id="6" name="Shape 4"/>
          <p:cNvSpPr/>
          <p:nvPr/>
        </p:nvSpPr>
        <p:spPr>
          <a:xfrm>
            <a:off x="731520" y="1554480"/>
            <a:ext cx="10725912" cy="411480"/>
          </a:xfrm>
          <a:prstGeom prst="rect">
            <a:avLst/>
          </a:prstGeom>
          <a:solidFill>
            <a:srgbClr val="881337"/>
          </a:solidFill>
          <a:ln/>
        </p:spPr>
      </p:sp>
      <p:sp>
        <p:nvSpPr>
          <p:cNvPr id="7" name="Text 5"/>
          <p:cNvSpPr/>
          <p:nvPr/>
        </p:nvSpPr>
        <p:spPr>
          <a:xfrm>
            <a:off x="914400" y="155448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THE HEREDITARY SACRAL PHENOTYPE (CURRARINO 1981)</a:t>
            </a:r>
            <a:endParaRPr lang="en-US" sz="1250" dirty="0"/>
          </a:p>
        </p:txBody>
      </p:sp>
      <p:sp>
        <p:nvSpPr>
          <p:cNvPr id="8" name="Text 6"/>
          <p:cNvSpPr/>
          <p:nvPr/>
        </p:nvSpPr>
        <p:spPr>
          <a:xfrm>
            <a:off x="960120" y="2057400"/>
            <a:ext cx="10268712" cy="342900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Genetics &amp; Blastogenesis: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Carnegie Stage 12 blastogenesis arrest. Autosomal dominant mutation / haploinsufficiency of MNX1 gene (formerly HLXB9) on chromosome 7q36.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The Pathognomonic Triad: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1. Sacral Anomaly (Scimitar sacrum / hemisacral defect with preserved S1/S2)
2. Anorectal Malformation (anal stenosis, ectopia)
3. Presacral Mass (Anterior sacral meningocele in 60%, mature teratoma, or duplication cyst).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Imaging Hallmarks: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Frontal pelvic X-ray shows 'Scimitar sacrum' (sickle-shaped sacral defect). Pelvic MRI confirms anterior meningocele communicating with thecal sac; rules out tethered cord.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The Fatal Biopsy Trap: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NEVER BIOPSY A PRESACRAL MASS IN CURRARINO SYNDROME! Puncturing an anterior sacral meningocele causes catastrophic bacterial meningitis, CSF fistulae, and death!
</a:t>
            </a:r>
            <a:endParaRPr lang="en-US" sz="1350" dirty="0"/>
          </a:p>
        </p:txBody>
      </p:sp>
      <p:sp>
        <p:nvSpPr>
          <p:cNvPr id="9" name="Shape 7"/>
          <p:cNvSpPr/>
          <p:nvPr/>
        </p:nvSpPr>
        <p:spPr>
          <a:xfrm>
            <a:off x="731520" y="5715000"/>
            <a:ext cx="10725912" cy="621792"/>
          </a:xfrm>
          <a:prstGeom prst="rect">
            <a:avLst/>
          </a:prstGeom>
          <a:solidFill>
            <a:srgbClr val="FEF2F2"/>
          </a:solidFill>
          <a:ln w="15240">
            <a:solidFill>
              <a:srgbClr val="DC2626"/>
            </a:solidFill>
            <a:prstDash val="solid"/>
          </a:ln>
        </p:spPr>
      </p:sp>
      <p:sp>
        <p:nvSpPr>
          <p:cNvPr id="10" name="Text 8"/>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C2626"/>
                </a:solidFill>
                <a:latin typeface="Calibri" pitchFamily="34" charset="0"/>
                <a:ea typeface="Calibri" pitchFamily="34" charset="-122"/>
                <a:cs typeface="Calibri" pitchFamily="34" charset="-120"/>
              </a:rPr>
              <a:t>⚠️ RADIOLOGIST'S TRAP: </a:t>
            </a:r>
            <a:pPr indent="0" marL="0">
              <a:buNone/>
            </a:pPr>
            <a:r>
              <a:rPr lang="en-US" sz="1000" dirty="0">
                <a:solidFill>
                  <a:srgbClr val="0F172A"/>
                </a:solidFill>
                <a:latin typeface="Calibri" pitchFamily="34" charset="0"/>
                <a:ea typeface="Calibri" pitchFamily="34" charset="-122"/>
                <a:cs typeface="Calibri" pitchFamily="34" charset="-120"/>
              </a:rPr>
              <a:t>Always inspect the sacrum on frontal films before touching a presacral mass! Scimitar sacrum + presacral mass = Anterior Sacral Meningocele.</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RENAL INDUCTION • WEEKS 4–8</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The Triphasic Kidney &amp; Reciprocal Inductive Dialogue</a:t>
            </a:r>
            <a:endParaRPr lang="en-US" sz="2300" dirty="0"/>
          </a:p>
        </p:txBody>
      </p:sp>
      <p:sp>
        <p:nvSpPr>
          <p:cNvPr id="5" name="Shape 3"/>
          <p:cNvSpPr/>
          <p:nvPr/>
        </p:nvSpPr>
        <p:spPr>
          <a:xfrm>
            <a:off x="731520" y="1463040"/>
            <a:ext cx="10725912" cy="594360"/>
          </a:xfrm>
          <a:prstGeom prst="rect">
            <a:avLst/>
          </a:prstGeom>
          <a:solidFill>
            <a:srgbClr val="F0F9FF"/>
          </a:solidFill>
          <a:ln w="15240">
            <a:solidFill>
              <a:srgbClr val="0284C7"/>
            </a:solidFill>
            <a:prstDash val="solid"/>
          </a:ln>
        </p:spPr>
      </p:sp>
      <p:sp>
        <p:nvSpPr>
          <p:cNvPr id="6" name="Text 4"/>
          <p:cNvSpPr/>
          <p:nvPr/>
        </p:nvSpPr>
        <p:spPr>
          <a:xfrm>
            <a:off x="868680" y="1481328"/>
            <a:ext cx="10451592" cy="557784"/>
          </a:xfrm>
          <a:prstGeom prst="rect">
            <a:avLst/>
          </a:prstGeom>
          <a:noFill/>
          <a:ln/>
        </p:spPr>
        <p:txBody>
          <a:bodyPr wrap="square"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CLINICAL WORKSTATION HOOK: </a:t>
            </a:r>
            <a:pPr indent="0" marL="0">
              <a:buNone/>
            </a:pPr>
            <a:r>
              <a:rPr lang="en-US" sz="1100" i="1" dirty="0">
                <a:solidFill>
                  <a:srgbClr val="0F172A"/>
                </a:solidFill>
                <a:latin typeface="Calibri" pitchFamily="34" charset="0"/>
                <a:ea typeface="Calibri" pitchFamily="34" charset="-122"/>
                <a:cs typeface="Calibri" pitchFamily="34" charset="-120"/>
              </a:rPr>
              <a:t>The human embryo builds three sequential renal systems. Why does the definitive metanephros depend on an exquisite reciprocal dialogue between two distinct mesodermal lineages?</a:t>
            </a:r>
            <a:endParaRPr lang="en-US" sz="1100" dirty="0"/>
          </a:p>
        </p:txBody>
      </p:sp>
      <p:sp>
        <p:nvSpPr>
          <p:cNvPr id="7" name="Shape 5"/>
          <p:cNvSpPr/>
          <p:nvPr/>
        </p:nvSpPr>
        <p:spPr>
          <a:xfrm>
            <a:off x="731520" y="2194560"/>
            <a:ext cx="10725912" cy="3383280"/>
          </a:xfrm>
          <a:prstGeom prst="rect">
            <a:avLst/>
          </a:prstGeom>
          <a:solidFill>
            <a:srgbClr val="FFFFFF"/>
          </a:solidFill>
          <a:ln w="15240">
            <a:solidFill>
              <a:srgbClr val="CBD5E1"/>
            </a:solidFill>
            <a:prstDash val="solid"/>
          </a:ln>
        </p:spPr>
      </p:sp>
      <p:sp>
        <p:nvSpPr>
          <p:cNvPr id="8" name="Shape 6"/>
          <p:cNvSpPr/>
          <p:nvPr/>
        </p:nvSpPr>
        <p:spPr>
          <a:xfrm>
            <a:off x="731520" y="2194560"/>
            <a:ext cx="10725912" cy="411480"/>
          </a:xfrm>
          <a:prstGeom prst="rect">
            <a:avLst/>
          </a:prstGeom>
          <a:solidFill>
            <a:srgbClr val="1E3A8A"/>
          </a:solidFill>
          <a:ln/>
        </p:spPr>
      </p:sp>
      <p:sp>
        <p:nvSpPr>
          <p:cNvPr id="9" name="Text 7"/>
          <p:cNvSpPr/>
          <p:nvPr/>
        </p:nvSpPr>
        <p:spPr>
          <a:xfrm>
            <a:off x="914400" y="219456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PRONEPHROS, MESONEPHROS &amp; THE METANEPHRIC BLASTEMA</a:t>
            </a:r>
            <a:endParaRPr lang="en-US" sz="1250" dirty="0"/>
          </a:p>
        </p:txBody>
      </p:sp>
      <p:sp>
        <p:nvSpPr>
          <p:cNvPr id="10" name="Text 8"/>
          <p:cNvSpPr/>
          <p:nvPr/>
        </p:nvSpPr>
        <p:spPr>
          <a:xfrm>
            <a:off x="960120" y="2697480"/>
            <a:ext cx="10268712" cy="278892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Pronephros (Week 4):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Non-functional cervical nephrotomes; rapidly regresses completely.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Mesonephros (Weeks 4–8):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Functional temporary embryonic kidney; gives rise to the critical WOLFFIAN (mesonephric) DUCT which guides genital and ureteric development.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Metanephros (Week 5 onwards):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The definitive permanent kidney formed by reciprocal inductive signaling between two mesodermal components:
1. Ureteric Bud (Wolffian outgrowth): forms collecting system (ureter, pelvis, calyces, collecting tubules).
2. Metanephric Blastema (Sacral cord): forms excretory nephrons (glomeruli, tubules).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The Golden Morphogenetic Rule: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NO URETERIC BUD = NO BLASTEMA INDUCTION = RENAL AGENESIS.
</a:t>
            </a:r>
            <a:endParaRPr lang="en-US" sz="1350" dirty="0"/>
          </a:p>
        </p:txBody>
      </p:sp>
      <p:sp>
        <p:nvSpPr>
          <p:cNvPr id="11" name="Shape 9"/>
          <p:cNvSpPr/>
          <p:nvPr/>
        </p:nvSpPr>
        <p:spPr>
          <a:xfrm>
            <a:off x="731520" y="5715000"/>
            <a:ext cx="10725912" cy="621792"/>
          </a:xfrm>
          <a:prstGeom prst="rect">
            <a:avLst/>
          </a:prstGeom>
          <a:solidFill>
            <a:srgbClr val="FFFBEB"/>
          </a:solidFill>
          <a:ln w="15240">
            <a:solidFill>
              <a:srgbClr val="D97706"/>
            </a:solidFill>
            <a:prstDash val="solid"/>
          </a:ln>
        </p:spPr>
      </p:sp>
      <p:sp>
        <p:nvSpPr>
          <p:cNvPr id="12" name="Text 10"/>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97706"/>
                </a:solidFill>
                <a:latin typeface="Calibri" pitchFamily="34" charset="0"/>
                <a:ea typeface="Calibri" pitchFamily="34" charset="-122"/>
                <a:cs typeface="Calibri" pitchFamily="34" charset="-120"/>
              </a:rPr>
              <a:t>💡 RADIOLOGY PEARL: </a:t>
            </a:r>
            <a:pPr indent="0" marL="0">
              <a:buNone/>
            </a:pPr>
            <a:r>
              <a:rPr lang="en-US" sz="1000" dirty="0">
                <a:solidFill>
                  <a:srgbClr val="0F172A"/>
                </a:solidFill>
                <a:latin typeface="Calibri" pitchFamily="34" charset="0"/>
                <a:ea typeface="Calibri" pitchFamily="34" charset="-122"/>
                <a:cs typeface="Calibri" pitchFamily="34" charset="-120"/>
              </a:rPr>
              <a:t>No ureteric bud = no blastemal induction = complete renal agenesis!</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RENAL AGENESIS • ADRENAL AUTONOMY</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The Missing Metanephros: Adrenal Independence</a:t>
            </a:r>
            <a:endParaRPr lang="en-US" sz="2300" dirty="0"/>
          </a:p>
        </p:txBody>
      </p:sp>
      <p:sp>
        <p:nvSpPr>
          <p:cNvPr id="5" name="Shape 3"/>
          <p:cNvSpPr/>
          <p:nvPr/>
        </p:nvSpPr>
        <p:spPr>
          <a:xfrm>
            <a:off x="731520" y="1463040"/>
            <a:ext cx="10725912" cy="594360"/>
          </a:xfrm>
          <a:prstGeom prst="rect">
            <a:avLst/>
          </a:prstGeom>
          <a:solidFill>
            <a:srgbClr val="F0F9FF"/>
          </a:solidFill>
          <a:ln w="15240">
            <a:solidFill>
              <a:srgbClr val="0284C7"/>
            </a:solidFill>
            <a:prstDash val="solid"/>
          </a:ln>
        </p:spPr>
      </p:sp>
      <p:sp>
        <p:nvSpPr>
          <p:cNvPr id="6" name="Text 4"/>
          <p:cNvSpPr/>
          <p:nvPr/>
        </p:nvSpPr>
        <p:spPr>
          <a:xfrm>
            <a:off x="868680" y="1481328"/>
            <a:ext cx="10451592" cy="557784"/>
          </a:xfrm>
          <a:prstGeom prst="rect">
            <a:avLst/>
          </a:prstGeom>
          <a:noFill/>
          <a:ln/>
        </p:spPr>
        <p:txBody>
          <a:bodyPr wrap="square"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CLINICAL WORKSTATION HOOK: </a:t>
            </a:r>
            <a:pPr indent="0" marL="0">
              <a:buNone/>
            </a:pPr>
            <a:r>
              <a:rPr lang="en-US" sz="1100" i="1" dirty="0">
                <a:solidFill>
                  <a:srgbClr val="0F172A"/>
                </a:solidFill>
                <a:latin typeface="Calibri" pitchFamily="34" charset="0"/>
                <a:ea typeface="Calibri" pitchFamily="34" charset="-122"/>
                <a:cs typeface="Calibri" pitchFamily="34" charset="-120"/>
              </a:rPr>
              <a:t>You scan an empty renal bed in a newborn. The adrenal gland is present and elongated. Does this prove renal agenesis, or is there a functional ectopic kidney hiding in the pelvis?</a:t>
            </a:r>
            <a:endParaRPr lang="en-US" sz="1100" dirty="0"/>
          </a:p>
        </p:txBody>
      </p:sp>
      <p:sp>
        <p:nvSpPr>
          <p:cNvPr id="7" name="Shape 5"/>
          <p:cNvSpPr/>
          <p:nvPr/>
        </p:nvSpPr>
        <p:spPr>
          <a:xfrm>
            <a:off x="731520" y="2194560"/>
            <a:ext cx="10725912" cy="3383280"/>
          </a:xfrm>
          <a:prstGeom prst="rect">
            <a:avLst/>
          </a:prstGeom>
          <a:solidFill>
            <a:srgbClr val="FFFFFF"/>
          </a:solidFill>
          <a:ln w="15240">
            <a:solidFill>
              <a:srgbClr val="CBD5E1"/>
            </a:solidFill>
            <a:prstDash val="solid"/>
          </a:ln>
        </p:spPr>
      </p:sp>
      <p:sp>
        <p:nvSpPr>
          <p:cNvPr id="8" name="Shape 6"/>
          <p:cNvSpPr/>
          <p:nvPr/>
        </p:nvSpPr>
        <p:spPr>
          <a:xfrm>
            <a:off x="731520" y="2194560"/>
            <a:ext cx="10725912" cy="411480"/>
          </a:xfrm>
          <a:prstGeom prst="rect">
            <a:avLst/>
          </a:prstGeom>
          <a:solidFill>
            <a:srgbClr val="0F172A"/>
          </a:solidFill>
          <a:ln/>
        </p:spPr>
      </p:sp>
      <p:sp>
        <p:nvSpPr>
          <p:cNvPr id="9" name="Text 7"/>
          <p:cNvSpPr/>
          <p:nvPr/>
        </p:nvSpPr>
        <p:spPr>
          <a:xfrm>
            <a:off x="914400" y="219456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WHY ADRENAL ORGANOGENESIS DOES NOT DEPEND ON THE KIDNEY</a:t>
            </a:r>
            <a:endParaRPr lang="en-US" sz="1250" dirty="0"/>
          </a:p>
        </p:txBody>
      </p:sp>
      <p:sp>
        <p:nvSpPr>
          <p:cNvPr id="10" name="Text 8"/>
          <p:cNvSpPr/>
          <p:nvPr/>
        </p:nvSpPr>
        <p:spPr>
          <a:xfrm>
            <a:off x="960120" y="2697480"/>
            <a:ext cx="10268712" cy="278892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Dual Embryological Origins: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 Adrenal Cortex: Coelomic mesothelium (week 5).
• Adrenal Medulla: Ectodermal neural crest cells (week 7).
• Metanephric Kidney: Intermediate mesoderm induced by ureteric bud (week 5).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The Autonomy Rule: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Adrenal organogenesis is COMPLETELY INDEPENDENT of renal development! Even in bilateral renal agenesis (Potter sequence), both adrenal glands are present and normal in size in their suprarenal beds.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Mechanical Morphogenesis: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Normally, cranial pressure from the ascending kidney reaches the adrenal by week 9, molding it into an inverted 'V' or 'Y' shape.
</a:t>
            </a:r>
            <a:endParaRPr lang="en-US" sz="1350" dirty="0"/>
          </a:p>
        </p:txBody>
      </p:sp>
      <p:sp>
        <p:nvSpPr>
          <p:cNvPr id="11" name="Shape 9"/>
          <p:cNvSpPr/>
          <p:nvPr/>
        </p:nvSpPr>
        <p:spPr>
          <a:xfrm>
            <a:off x="731520" y="5715000"/>
            <a:ext cx="10725912" cy="621792"/>
          </a:xfrm>
          <a:prstGeom prst="rect">
            <a:avLst/>
          </a:prstGeom>
          <a:solidFill>
            <a:srgbClr val="FFFBEB"/>
          </a:solidFill>
          <a:ln w="15240">
            <a:solidFill>
              <a:srgbClr val="D97706"/>
            </a:solidFill>
            <a:prstDash val="solid"/>
          </a:ln>
        </p:spPr>
      </p:sp>
      <p:sp>
        <p:nvSpPr>
          <p:cNvPr id="12" name="Text 10"/>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97706"/>
                </a:solidFill>
                <a:latin typeface="Calibri" pitchFamily="34" charset="0"/>
                <a:ea typeface="Calibri" pitchFamily="34" charset="-122"/>
                <a:cs typeface="Calibri" pitchFamily="34" charset="-120"/>
              </a:rPr>
              <a:t>💡 RADIOLOGY PEARL: </a:t>
            </a:r>
            <a:pPr indent="0" marL="0">
              <a:buNone/>
            </a:pPr>
            <a:r>
              <a:rPr lang="en-US" sz="1000" dirty="0">
                <a:solidFill>
                  <a:srgbClr val="0F172A"/>
                </a:solidFill>
                <a:latin typeface="Calibri" pitchFamily="34" charset="0"/>
                <a:ea typeface="Calibri" pitchFamily="34" charset="-122"/>
                <a:cs typeface="Calibri" pitchFamily="34" charset="-120"/>
              </a:rPr>
              <a:t>The adrenal gland develops independently of the kidney and is ALWAYS present in an empty renal fossa.</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RENAL AGENESIS • WORKSTATION SIGN</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The 'Lying-Down' Adrenal Sign &amp; Aortic Doppler Protocol</a:t>
            </a:r>
            <a:endParaRPr lang="en-US" sz="2300" dirty="0"/>
          </a:p>
        </p:txBody>
      </p:sp>
      <p:sp>
        <p:nvSpPr>
          <p:cNvPr id="5" name="Shape 3"/>
          <p:cNvSpPr/>
          <p:nvPr/>
        </p:nvSpPr>
        <p:spPr>
          <a:xfrm>
            <a:off x="731520" y="1554480"/>
            <a:ext cx="10725912" cy="4023360"/>
          </a:xfrm>
          <a:prstGeom prst="rect">
            <a:avLst/>
          </a:prstGeom>
          <a:solidFill>
            <a:srgbClr val="FFFFFF"/>
          </a:solidFill>
          <a:ln w="15240">
            <a:solidFill>
              <a:srgbClr val="CBD5E1"/>
            </a:solidFill>
            <a:prstDash val="solid"/>
          </a:ln>
        </p:spPr>
      </p:sp>
      <p:sp>
        <p:nvSpPr>
          <p:cNvPr id="6" name="Shape 4"/>
          <p:cNvSpPr/>
          <p:nvPr/>
        </p:nvSpPr>
        <p:spPr>
          <a:xfrm>
            <a:off x="731520" y="1554480"/>
            <a:ext cx="10725912" cy="411480"/>
          </a:xfrm>
          <a:prstGeom prst="rect">
            <a:avLst/>
          </a:prstGeom>
          <a:solidFill>
            <a:srgbClr val="0284C7"/>
          </a:solidFill>
          <a:ln/>
        </p:spPr>
      </p:sp>
      <p:sp>
        <p:nvSpPr>
          <p:cNvPr id="7" name="Text 5"/>
          <p:cNvSpPr/>
          <p:nvPr/>
        </p:nvSpPr>
        <p:spPr>
          <a:xfrm>
            <a:off x="914400" y="155448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DIFFERENTIATING RENAL AGENESIS FROM PELVIC ECTOPIA</a:t>
            </a:r>
            <a:endParaRPr lang="en-US" sz="1250" dirty="0"/>
          </a:p>
        </p:txBody>
      </p:sp>
      <p:sp>
        <p:nvSpPr>
          <p:cNvPr id="8" name="Text 6"/>
          <p:cNvSpPr/>
          <p:nvPr/>
        </p:nvSpPr>
        <p:spPr>
          <a:xfrm>
            <a:off x="960120" y="2057400"/>
            <a:ext cx="10268712" cy="342900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'Lying-Down Adrenal' Sign (Pancake Adrenal):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Without the upward molding pressure of the ascending kidney (in Renal Agenesis OR Pelvic Ectopia), the adrenal remains flat, discoid, and elongated parallel along the psoas muscle.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The Neonatal Adrenal Mimic: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Neonatal adrenals are proportionally massive (1/3 kidney size). Under ultrasound, the hypoechoic cortex and echogenic medulla closely mimic a normal kidney!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Aortic Color Doppler Sweep: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 Renal Agenesis: Complete absence of the main renal artery branching from the aorta.
• Pelvic Ectopic Kidney: Main renal artery absent at T12–L1, but a low feeding artery arises from distal aorta or iliac vessels.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Genital Co-Anomalies: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Unilateral renal agenesis is associated with genital anomalies in 50–70% of females (OHVIRA) and 15% of males (Zinner syndrome).
</a:t>
            </a:r>
            <a:endParaRPr lang="en-US" sz="1350" dirty="0"/>
          </a:p>
        </p:txBody>
      </p:sp>
      <p:sp>
        <p:nvSpPr>
          <p:cNvPr id="9" name="Shape 7"/>
          <p:cNvSpPr/>
          <p:nvPr/>
        </p:nvSpPr>
        <p:spPr>
          <a:xfrm>
            <a:off x="731520" y="5715000"/>
            <a:ext cx="10725912" cy="621792"/>
          </a:xfrm>
          <a:prstGeom prst="rect">
            <a:avLst/>
          </a:prstGeom>
          <a:solidFill>
            <a:srgbClr val="FEF2F2"/>
          </a:solidFill>
          <a:ln w="15240">
            <a:solidFill>
              <a:srgbClr val="DC2626"/>
            </a:solidFill>
            <a:prstDash val="solid"/>
          </a:ln>
        </p:spPr>
      </p:sp>
      <p:sp>
        <p:nvSpPr>
          <p:cNvPr id="10" name="Text 8"/>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C2626"/>
                </a:solidFill>
                <a:latin typeface="Calibri" pitchFamily="34" charset="0"/>
                <a:ea typeface="Calibri" pitchFamily="34" charset="-122"/>
                <a:cs typeface="Calibri" pitchFamily="34" charset="-120"/>
              </a:rPr>
              <a:t>⚠️ RADIOLOGIST'S TRAP: </a:t>
            </a:r>
            <a:pPr indent="0" marL="0">
              <a:buNone/>
            </a:pPr>
            <a:r>
              <a:rPr lang="en-US" sz="1000" dirty="0">
                <a:solidFill>
                  <a:srgbClr val="0F172A"/>
                </a:solidFill>
                <a:latin typeface="Calibri" pitchFamily="34" charset="0"/>
                <a:ea typeface="Calibri" pitchFamily="34" charset="-122"/>
                <a:cs typeface="Calibri" pitchFamily="34" charset="-120"/>
              </a:rPr>
              <a:t>A flat 'lying-down' adrenal mimics a normal kidney in neonates! Interrogate the aorta with Doppler to confirm absence of the renal artery.</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RENAL ASCENT &amp; FUSION • HORSESHOE KIDNEY</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Horseshoe Kidney: The L3 IMA Roof &amp; Adenopathy Mimic</a:t>
            </a:r>
            <a:endParaRPr lang="en-US" sz="2300" dirty="0"/>
          </a:p>
        </p:txBody>
      </p:sp>
      <p:sp>
        <p:nvSpPr>
          <p:cNvPr id="5" name="Shape 3"/>
          <p:cNvSpPr/>
          <p:nvPr/>
        </p:nvSpPr>
        <p:spPr>
          <a:xfrm>
            <a:off x="731520" y="1463040"/>
            <a:ext cx="10725912" cy="594360"/>
          </a:xfrm>
          <a:prstGeom prst="rect">
            <a:avLst/>
          </a:prstGeom>
          <a:solidFill>
            <a:srgbClr val="F0F9FF"/>
          </a:solidFill>
          <a:ln w="15240">
            <a:solidFill>
              <a:srgbClr val="0284C7"/>
            </a:solidFill>
            <a:prstDash val="solid"/>
          </a:ln>
        </p:spPr>
      </p:sp>
      <p:sp>
        <p:nvSpPr>
          <p:cNvPr id="6" name="Text 4"/>
          <p:cNvSpPr/>
          <p:nvPr/>
        </p:nvSpPr>
        <p:spPr>
          <a:xfrm>
            <a:off x="868680" y="1481328"/>
            <a:ext cx="10451592" cy="557784"/>
          </a:xfrm>
          <a:prstGeom prst="rect">
            <a:avLst/>
          </a:prstGeom>
          <a:noFill/>
          <a:ln/>
        </p:spPr>
        <p:txBody>
          <a:bodyPr wrap="square"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CLINICAL WORKSTATION HOOK: </a:t>
            </a:r>
            <a:pPr indent="0" marL="0">
              <a:buNone/>
            </a:pPr>
            <a:r>
              <a:rPr lang="en-US" sz="1100" i="1" dirty="0">
                <a:solidFill>
                  <a:srgbClr val="0F172A"/>
                </a:solidFill>
                <a:latin typeface="Calibri" pitchFamily="34" charset="0"/>
                <a:ea typeface="Calibri" pitchFamily="34" charset="-122"/>
                <a:cs typeface="Calibri" pitchFamily="34" charset="-120"/>
              </a:rPr>
              <a:t>Metanephric kidneys begin in the sacral pelvis and end at T12. Why does a horseshoe kidney always stop climbing precisely at L3, while a crossed-fused ectopic kidney crosses the midline entirely?</a:t>
            </a:r>
            <a:endParaRPr lang="en-US" sz="1100" dirty="0"/>
          </a:p>
        </p:txBody>
      </p:sp>
      <p:sp>
        <p:nvSpPr>
          <p:cNvPr id="7" name="Shape 5"/>
          <p:cNvSpPr/>
          <p:nvPr/>
        </p:nvSpPr>
        <p:spPr>
          <a:xfrm>
            <a:off x="731520" y="2194560"/>
            <a:ext cx="10725912" cy="3383280"/>
          </a:xfrm>
          <a:prstGeom prst="rect">
            <a:avLst/>
          </a:prstGeom>
          <a:solidFill>
            <a:srgbClr val="FFFFFF"/>
          </a:solidFill>
          <a:ln w="15240">
            <a:solidFill>
              <a:srgbClr val="CBD5E1"/>
            </a:solidFill>
            <a:prstDash val="solid"/>
          </a:ln>
        </p:spPr>
      </p:sp>
      <p:sp>
        <p:nvSpPr>
          <p:cNvPr id="8" name="Shape 6"/>
          <p:cNvSpPr/>
          <p:nvPr/>
        </p:nvSpPr>
        <p:spPr>
          <a:xfrm>
            <a:off x="731520" y="2194560"/>
            <a:ext cx="10725912" cy="411480"/>
          </a:xfrm>
          <a:prstGeom prst="rect">
            <a:avLst/>
          </a:prstGeom>
          <a:solidFill>
            <a:srgbClr val="1E3A8A"/>
          </a:solidFill>
          <a:ln/>
        </p:spPr>
      </p:sp>
      <p:sp>
        <p:nvSpPr>
          <p:cNvPr id="9" name="Text 7"/>
          <p:cNvSpPr/>
          <p:nvPr/>
        </p:nvSpPr>
        <p:spPr>
          <a:xfrm>
            <a:off x="914400" y="219456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LOWER POLE FUSION &amp; ROTATIONAL ARREST</a:t>
            </a:r>
            <a:endParaRPr lang="en-US" sz="1250" dirty="0"/>
          </a:p>
        </p:txBody>
      </p:sp>
      <p:sp>
        <p:nvSpPr>
          <p:cNvPr id="10" name="Text 8"/>
          <p:cNvSpPr/>
          <p:nvPr/>
        </p:nvSpPr>
        <p:spPr>
          <a:xfrm>
            <a:off x="960120" y="2697480"/>
            <a:ext cx="10268712" cy="278892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Pelvic Fusion (Weeks 4–6):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Lower blastemal poles touch and fuse across the midline in the true pelvis (95% lower pole, 5% upper pole) before ascent begins.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The IMA Roof Arrest: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As the fused parenchymal isthmus ascends, it impinges against the Inferior Mesenteric Artery (IMA) originating from the anterior aorta at L3! Ascent is permanently arrested.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Rotational Arrest: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Medial 90° rotation also halts: calyces point posteriorly; ureters drape anteriorly over the isthmus.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Malignancy &amp; UPJ Complications: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UPJ obstruction in 30% from aberrant lower-pole vessels. 6- to 8-fold increased incidence of Wilms tumor; increased carcinoid tumors of the isthmus; RCC and TCC from urinary stasis.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The Adenopathy Trap: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The parenchymal isthmus crossing anterior to aorta/IVC can mimic retroperitoneal adenopathy on non-contrast CT. Verify contrast enhancement identical to renal cortex.
</a:t>
            </a:r>
            <a:endParaRPr lang="en-US" sz="1350" dirty="0"/>
          </a:p>
        </p:txBody>
      </p:sp>
      <p:sp>
        <p:nvSpPr>
          <p:cNvPr id="11" name="Shape 9"/>
          <p:cNvSpPr/>
          <p:nvPr/>
        </p:nvSpPr>
        <p:spPr>
          <a:xfrm>
            <a:off x="731520" y="5715000"/>
            <a:ext cx="10725912" cy="621792"/>
          </a:xfrm>
          <a:prstGeom prst="rect">
            <a:avLst/>
          </a:prstGeom>
          <a:solidFill>
            <a:srgbClr val="FFFBEB"/>
          </a:solidFill>
          <a:ln w="15240">
            <a:solidFill>
              <a:srgbClr val="D97706"/>
            </a:solidFill>
            <a:prstDash val="solid"/>
          </a:ln>
        </p:spPr>
      </p:sp>
      <p:sp>
        <p:nvSpPr>
          <p:cNvPr id="12" name="Text 10"/>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97706"/>
                </a:solidFill>
                <a:latin typeface="Calibri" pitchFamily="34" charset="0"/>
                <a:ea typeface="Calibri" pitchFamily="34" charset="-122"/>
                <a:cs typeface="Calibri" pitchFamily="34" charset="-120"/>
              </a:rPr>
              <a:t>💡 RADIOLOGY PEARL: </a:t>
            </a:r>
            <a:pPr indent="0" marL="0">
              <a:buNone/>
            </a:pPr>
            <a:r>
              <a:rPr lang="en-US" sz="1000" dirty="0">
                <a:solidFill>
                  <a:srgbClr val="0F172A"/>
                </a:solidFill>
                <a:latin typeface="Calibri" pitchFamily="34" charset="0"/>
                <a:ea typeface="Calibri" pitchFamily="34" charset="-122"/>
                <a:cs typeface="Calibri" pitchFamily="34" charset="-120"/>
              </a:rPr>
              <a:t>The isthmus of a horseshoe kidney always sits at L3 beneath the IMA. Remember the 6x Wilms tumor risk in pediatric patients!</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RENAL ASCENT &amp; FUSION • CROSSED ECTOPIA</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Crossed-Fused Renal Ectopia: The Crossed Ureter Law</a:t>
            </a:r>
            <a:endParaRPr lang="en-US" sz="2300" dirty="0"/>
          </a:p>
        </p:txBody>
      </p:sp>
      <p:sp>
        <p:nvSpPr>
          <p:cNvPr id="5" name="Shape 3"/>
          <p:cNvSpPr/>
          <p:nvPr/>
        </p:nvSpPr>
        <p:spPr>
          <a:xfrm>
            <a:off x="731520" y="1554480"/>
            <a:ext cx="10725912" cy="4023360"/>
          </a:xfrm>
          <a:prstGeom prst="rect">
            <a:avLst/>
          </a:prstGeom>
          <a:solidFill>
            <a:srgbClr val="FFFFFF"/>
          </a:solidFill>
          <a:ln w="15240">
            <a:solidFill>
              <a:srgbClr val="CBD5E1"/>
            </a:solidFill>
            <a:prstDash val="solid"/>
          </a:ln>
        </p:spPr>
      </p:sp>
      <p:sp>
        <p:nvSpPr>
          <p:cNvPr id="6" name="Shape 4"/>
          <p:cNvSpPr/>
          <p:nvPr/>
        </p:nvSpPr>
        <p:spPr>
          <a:xfrm>
            <a:off x="731520" y="1554480"/>
            <a:ext cx="10725912" cy="411480"/>
          </a:xfrm>
          <a:prstGeom prst="rect">
            <a:avLst/>
          </a:prstGeom>
          <a:solidFill>
            <a:srgbClr val="065F46"/>
          </a:solidFill>
          <a:ln/>
        </p:spPr>
      </p:sp>
      <p:sp>
        <p:nvSpPr>
          <p:cNvPr id="7" name="Text 5"/>
          <p:cNvSpPr/>
          <p:nvPr/>
        </p:nvSpPr>
        <p:spPr>
          <a:xfrm>
            <a:off x="914400" y="155448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CONTRALATERAL BUD TRAJECTORY &amp; IMMUTABLE URETERIC LAW</a:t>
            </a:r>
            <a:endParaRPr lang="en-US" sz="1250" dirty="0"/>
          </a:p>
        </p:txBody>
      </p:sp>
      <p:sp>
        <p:nvSpPr>
          <p:cNvPr id="8" name="Text 6"/>
          <p:cNvSpPr/>
          <p:nvPr/>
        </p:nvSpPr>
        <p:spPr>
          <a:xfrm>
            <a:off x="960120" y="2057400"/>
            <a:ext cx="10268712" cy="342900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Embryogenesis: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Abnormal lateral flexion of the caudal trunk directs the ureteric bud across the midline, or the contralateral blastema is pulled across. 90% fuse with the orthotopic kidney (left-to-right crossing 3x more common).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The Immutable Ureteric Law: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The ectopic kidney's ureter ALWAYS crosses back over the midline to insert into its embryologically correct ipsilateral bladder trigone!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Vascular Supply: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Supplied by multiple aberrant low aortic and common iliac branches reflecting arrested pelvic ascent.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Imaging Hallmark: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Solitary enlarged, reniform mass containing two separate collecting systems; empty contralateral renal fossa.
</a:t>
            </a:r>
            <a:endParaRPr lang="en-US" sz="1350" dirty="0"/>
          </a:p>
        </p:txBody>
      </p:sp>
      <p:sp>
        <p:nvSpPr>
          <p:cNvPr id="9" name="Shape 7"/>
          <p:cNvSpPr/>
          <p:nvPr/>
        </p:nvSpPr>
        <p:spPr>
          <a:xfrm>
            <a:off x="731520" y="5715000"/>
            <a:ext cx="10725912" cy="621792"/>
          </a:xfrm>
          <a:prstGeom prst="rect">
            <a:avLst/>
          </a:prstGeom>
          <a:solidFill>
            <a:srgbClr val="FFFBEB"/>
          </a:solidFill>
          <a:ln w="15240">
            <a:solidFill>
              <a:srgbClr val="D97706"/>
            </a:solidFill>
            <a:prstDash val="solid"/>
          </a:ln>
        </p:spPr>
      </p:sp>
      <p:sp>
        <p:nvSpPr>
          <p:cNvPr id="10" name="Text 8"/>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97706"/>
                </a:solidFill>
                <a:latin typeface="Calibri" pitchFamily="34" charset="0"/>
                <a:ea typeface="Calibri" pitchFamily="34" charset="-122"/>
                <a:cs typeface="Calibri" pitchFamily="34" charset="-120"/>
              </a:rPr>
              <a:t>💡 RADIOLOGY PEARL: </a:t>
            </a:r>
            <a:pPr indent="0" marL="0">
              <a:buNone/>
            </a:pPr>
            <a:r>
              <a:rPr lang="en-US" sz="1000" dirty="0">
                <a:solidFill>
                  <a:srgbClr val="0F172A"/>
                </a:solidFill>
                <a:latin typeface="Calibri" pitchFamily="34" charset="0"/>
                <a:ea typeface="Calibri" pitchFamily="34" charset="-122"/>
                <a:cs typeface="Calibri" pitchFamily="34" charset="-120"/>
              </a:rPr>
              <a:t>No matter where an ectopic kidney migrates, its ureter always crosses back to its own normal side of the bladder trigone!</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RENAL CYSTIC SPECTRUM • TIMING HYPOTHESIS</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Cystic Dysplasia: Connecting Timing to Parenchymal Destiny</a:t>
            </a:r>
            <a:endParaRPr lang="en-US" sz="2300" dirty="0"/>
          </a:p>
        </p:txBody>
      </p:sp>
      <p:sp>
        <p:nvSpPr>
          <p:cNvPr id="5" name="Shape 3"/>
          <p:cNvSpPr/>
          <p:nvPr/>
        </p:nvSpPr>
        <p:spPr>
          <a:xfrm>
            <a:off x="731520" y="1463040"/>
            <a:ext cx="10725912" cy="594360"/>
          </a:xfrm>
          <a:prstGeom prst="rect">
            <a:avLst/>
          </a:prstGeom>
          <a:solidFill>
            <a:srgbClr val="F0F9FF"/>
          </a:solidFill>
          <a:ln w="15240">
            <a:solidFill>
              <a:srgbClr val="0284C7"/>
            </a:solidFill>
            <a:prstDash val="solid"/>
          </a:ln>
        </p:spPr>
      </p:sp>
      <p:sp>
        <p:nvSpPr>
          <p:cNvPr id="6" name="Text 4"/>
          <p:cNvSpPr/>
          <p:nvPr/>
        </p:nvSpPr>
        <p:spPr>
          <a:xfrm>
            <a:off x="868680" y="1481328"/>
            <a:ext cx="10451592" cy="557784"/>
          </a:xfrm>
          <a:prstGeom prst="rect">
            <a:avLst/>
          </a:prstGeom>
          <a:noFill/>
          <a:ln/>
        </p:spPr>
        <p:txBody>
          <a:bodyPr wrap="square"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CLINICAL WORKSTATION HOOK: </a:t>
            </a:r>
            <a:pPr indent="0" marL="0">
              <a:buNone/>
            </a:pPr>
            <a:r>
              <a:rPr lang="en-US" sz="1100" i="1" dirty="0">
                <a:solidFill>
                  <a:srgbClr val="0F172A"/>
                </a:solidFill>
                <a:latin typeface="Calibri" pitchFamily="34" charset="0"/>
                <a:ea typeface="Calibri" pitchFamily="34" charset="-122"/>
                <a:cs typeface="Calibri" pitchFamily="34" charset="-120"/>
              </a:rPr>
              <a:t>Why does early urinary tract obstruction before 10 weeks produce a multicystic dysplastic bag with zero function, while late obstruction after 14 weeks produces simple hydronephrosis with salvageable cortex?</a:t>
            </a:r>
            <a:endParaRPr lang="en-US" sz="1100" dirty="0"/>
          </a:p>
        </p:txBody>
      </p:sp>
      <p:sp>
        <p:nvSpPr>
          <p:cNvPr id="7" name="Shape 5"/>
          <p:cNvSpPr/>
          <p:nvPr/>
        </p:nvSpPr>
        <p:spPr>
          <a:xfrm>
            <a:off x="731520" y="2194560"/>
            <a:ext cx="10725912" cy="3383280"/>
          </a:xfrm>
          <a:prstGeom prst="rect">
            <a:avLst/>
          </a:prstGeom>
          <a:solidFill>
            <a:srgbClr val="FFFFFF"/>
          </a:solidFill>
          <a:ln w="15240">
            <a:solidFill>
              <a:srgbClr val="CBD5E1"/>
            </a:solidFill>
            <a:prstDash val="solid"/>
          </a:ln>
        </p:spPr>
      </p:sp>
      <p:sp>
        <p:nvSpPr>
          <p:cNvPr id="8" name="Shape 6"/>
          <p:cNvSpPr/>
          <p:nvPr/>
        </p:nvSpPr>
        <p:spPr>
          <a:xfrm>
            <a:off x="731520" y="2194560"/>
            <a:ext cx="10725912" cy="411480"/>
          </a:xfrm>
          <a:prstGeom prst="rect">
            <a:avLst/>
          </a:prstGeom>
          <a:solidFill>
            <a:srgbClr val="334155"/>
          </a:solidFill>
          <a:ln/>
        </p:spPr>
      </p:sp>
      <p:sp>
        <p:nvSpPr>
          <p:cNvPr id="9" name="Text 7"/>
          <p:cNvSpPr/>
          <p:nvPr/>
        </p:nvSpPr>
        <p:spPr>
          <a:xfrm>
            <a:off x="914400" y="219456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THE DEVELOPMENTAL TIMING HYPOTHESIS</a:t>
            </a:r>
            <a:endParaRPr lang="en-US" sz="1250" dirty="0"/>
          </a:p>
        </p:txBody>
      </p:sp>
      <p:sp>
        <p:nvSpPr>
          <p:cNvPr id="10" name="Text 8"/>
          <p:cNvSpPr/>
          <p:nvPr/>
        </p:nvSpPr>
        <p:spPr>
          <a:xfrm>
            <a:off x="960120" y="2697480"/>
            <a:ext cx="10268712" cy="278892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Insult &lt; 8–10 Weeks (Early Branching Phase):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--&gt; MULTICYSTIC DYSPLASTIC KIDNEY (MCDK). Complete atresia of early ureteric bud. Blastemal induction aborts; tubules balloon into non-communicating cysts with primitive stroma and cartilage metaplasia. ZERO functioning nephrons.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Insult &gt; 14 Weeks (Late Functioning Phase):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--&gt; HYDRONEPHROSIS / PUJO / PUV. Nephrons are already formed! Continued urine filtration against outflow block causes caliceal dilatation and cortical thinning with preserved functional rim.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Ciliopathy (Not an Obstruction!):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--&gt; ARPKD (PKHD1 / Fibrocystin). Symmetrical cylindrical ectasia of 100% of collecting ducts. Massively enlarged hyperechoic kidneys; oligohydramnios; Congenital Hepatic Fibrosis in 100%.
</a:t>
            </a:r>
            <a:endParaRPr lang="en-US" sz="1350" dirty="0"/>
          </a:p>
        </p:txBody>
      </p:sp>
      <p:sp>
        <p:nvSpPr>
          <p:cNvPr id="11" name="Shape 9"/>
          <p:cNvSpPr/>
          <p:nvPr/>
        </p:nvSpPr>
        <p:spPr>
          <a:xfrm>
            <a:off x="731520" y="5715000"/>
            <a:ext cx="10725912" cy="621792"/>
          </a:xfrm>
          <a:prstGeom prst="rect">
            <a:avLst/>
          </a:prstGeom>
          <a:solidFill>
            <a:srgbClr val="FFFBEB"/>
          </a:solidFill>
          <a:ln w="15240">
            <a:solidFill>
              <a:srgbClr val="D97706"/>
            </a:solidFill>
            <a:prstDash val="solid"/>
          </a:ln>
        </p:spPr>
      </p:sp>
      <p:sp>
        <p:nvSpPr>
          <p:cNvPr id="12" name="Text 10"/>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97706"/>
                </a:solidFill>
                <a:latin typeface="Calibri" pitchFamily="34" charset="0"/>
                <a:ea typeface="Calibri" pitchFamily="34" charset="-122"/>
                <a:cs typeface="Calibri" pitchFamily="34" charset="-120"/>
              </a:rPr>
              <a:t>💡 RADIOLOGY PEARL: </a:t>
            </a:r>
            <a:pPr indent="0" marL="0">
              <a:buNone/>
            </a:pPr>
            <a:r>
              <a:rPr lang="en-US" sz="1000" dirty="0">
                <a:solidFill>
                  <a:srgbClr val="0F172A"/>
                </a:solidFill>
                <a:latin typeface="Calibri" pitchFamily="34" charset="0"/>
                <a:ea typeface="Calibri" pitchFamily="34" charset="-122"/>
                <a:cs typeface="Calibri" pitchFamily="34" charset="-120"/>
              </a:rPr>
              <a:t>Obstruction &lt;10 weeks destroys nephrogenesis (MCDK); obstruction &gt;14 weeks dilates formed nephrons (Hydronephrosis).</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RENAL CYSTIC SPECTRUM • WORKSTATION SIGNS</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MCDK vs. Hydronephrosis vs. ARPKD: Workstation Rules</a:t>
            </a:r>
            <a:endParaRPr lang="en-US" sz="2300" dirty="0"/>
          </a:p>
        </p:txBody>
      </p:sp>
      <p:sp>
        <p:nvSpPr>
          <p:cNvPr id="5" name="Shape 3"/>
          <p:cNvSpPr/>
          <p:nvPr/>
        </p:nvSpPr>
        <p:spPr>
          <a:xfrm>
            <a:off x="731520" y="1554480"/>
            <a:ext cx="10725912" cy="4023360"/>
          </a:xfrm>
          <a:prstGeom prst="rect">
            <a:avLst/>
          </a:prstGeom>
          <a:solidFill>
            <a:srgbClr val="FFFFFF"/>
          </a:solidFill>
          <a:ln w="15240">
            <a:solidFill>
              <a:srgbClr val="CBD5E1"/>
            </a:solidFill>
            <a:prstDash val="solid"/>
          </a:ln>
        </p:spPr>
      </p:sp>
      <p:sp>
        <p:nvSpPr>
          <p:cNvPr id="6" name="Shape 4"/>
          <p:cNvSpPr/>
          <p:nvPr/>
        </p:nvSpPr>
        <p:spPr>
          <a:xfrm>
            <a:off x="731520" y="1554480"/>
            <a:ext cx="10725912" cy="411480"/>
          </a:xfrm>
          <a:prstGeom prst="rect">
            <a:avLst/>
          </a:prstGeom>
          <a:solidFill>
            <a:srgbClr val="166534"/>
          </a:solidFill>
          <a:ln/>
        </p:spPr>
      </p:sp>
      <p:sp>
        <p:nvSpPr>
          <p:cNvPr id="7" name="Text 5"/>
          <p:cNvSpPr/>
          <p:nvPr/>
        </p:nvSpPr>
        <p:spPr>
          <a:xfrm>
            <a:off x="914400" y="155448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DIAGNOSTIC DISCRIMINATORS &amp; THE PARENTAL ULTRASOUND RULE</a:t>
            </a:r>
            <a:endParaRPr lang="en-US" sz="1250" dirty="0"/>
          </a:p>
        </p:txBody>
      </p:sp>
      <p:sp>
        <p:nvSpPr>
          <p:cNvPr id="8" name="Text 6"/>
          <p:cNvSpPr/>
          <p:nvPr/>
        </p:nvSpPr>
        <p:spPr>
          <a:xfrm>
            <a:off x="960120" y="2057400"/>
            <a:ext cx="10268712" cy="342900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The Communication Test (MCDK vs. Hydro):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 Severe Hydronephrosis: Dilated calyces COMMUNICATE freely with a central dilated renal pelvis; cortical rim preserved.
• MCDK: Multiple cysts do NOT communicate with each other; NO renal pelvis; 0% split function on Tc-99m DMSA scan.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MCDK Natural History: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Spontaneous involution occurs in 60% by age 5. Contralateral kidney has anomalies in 30–40% (VUR, UPJ obstruction).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ARPKD Ductal Plate Malformation: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100% of patients have Congenital Hepatic Fibrosis (CHF) from arrested ductal plate remodeling.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The Parental Ultrasound Rule: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When encountering bilateral enlarged echogenic fetal kidneys, SCAN THE PARENTS' KIDNEYS! Finding cysts in either parent confirms Autosomal Dominant transmission (ADPKD), which carries a radically better prognosis than infantile ARPKD.
</a:t>
            </a:r>
            <a:endParaRPr lang="en-US" sz="1350" dirty="0"/>
          </a:p>
        </p:txBody>
      </p:sp>
      <p:sp>
        <p:nvSpPr>
          <p:cNvPr id="9" name="Shape 7"/>
          <p:cNvSpPr/>
          <p:nvPr/>
        </p:nvSpPr>
        <p:spPr>
          <a:xfrm>
            <a:off x="731520" y="5715000"/>
            <a:ext cx="10725912" cy="621792"/>
          </a:xfrm>
          <a:prstGeom prst="rect">
            <a:avLst/>
          </a:prstGeom>
          <a:solidFill>
            <a:srgbClr val="FEF2F2"/>
          </a:solidFill>
          <a:ln w="15240">
            <a:solidFill>
              <a:srgbClr val="DC2626"/>
            </a:solidFill>
            <a:prstDash val="solid"/>
          </a:ln>
        </p:spPr>
      </p:sp>
      <p:sp>
        <p:nvSpPr>
          <p:cNvPr id="10" name="Text 8"/>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C2626"/>
                </a:solidFill>
                <a:latin typeface="Calibri" pitchFamily="34" charset="0"/>
                <a:ea typeface="Calibri" pitchFamily="34" charset="-122"/>
                <a:cs typeface="Calibri" pitchFamily="34" charset="-120"/>
              </a:rPr>
              <a:t>⚠️ RADIOLOGIST'S TRAP: </a:t>
            </a:r>
            <a:pPr indent="0" marL="0">
              <a:buNone/>
            </a:pPr>
            <a:r>
              <a:rPr lang="en-US" sz="1000" dirty="0">
                <a:solidFill>
                  <a:srgbClr val="0F172A"/>
                </a:solidFill>
                <a:latin typeface="Calibri" pitchFamily="34" charset="0"/>
                <a:ea typeface="Calibri" pitchFamily="34" charset="-122"/>
                <a:cs typeface="Calibri" pitchFamily="34" charset="-120"/>
              </a:rPr>
              <a:t>Dilated calyces communicate with a central pelvis in hydronephrosis; cysts do NOT communicate in MCDK. When kidneys are echogenic, scan the parents!</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URETERIC BUD SPROUTING • WEEKS 5–7</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Duplex Collecting Systems: The Weigert-Meyer Rule</a:t>
            </a:r>
            <a:endParaRPr lang="en-US" sz="2300" dirty="0"/>
          </a:p>
        </p:txBody>
      </p:sp>
      <p:sp>
        <p:nvSpPr>
          <p:cNvPr id="5" name="Shape 3"/>
          <p:cNvSpPr/>
          <p:nvPr/>
        </p:nvSpPr>
        <p:spPr>
          <a:xfrm>
            <a:off x="731520" y="1463040"/>
            <a:ext cx="10725912" cy="594360"/>
          </a:xfrm>
          <a:prstGeom prst="rect">
            <a:avLst/>
          </a:prstGeom>
          <a:solidFill>
            <a:srgbClr val="F0F9FF"/>
          </a:solidFill>
          <a:ln w="15240">
            <a:solidFill>
              <a:srgbClr val="0284C7"/>
            </a:solidFill>
            <a:prstDash val="solid"/>
          </a:ln>
        </p:spPr>
      </p:sp>
      <p:sp>
        <p:nvSpPr>
          <p:cNvPr id="6" name="Text 4"/>
          <p:cNvSpPr/>
          <p:nvPr/>
        </p:nvSpPr>
        <p:spPr>
          <a:xfrm>
            <a:off x="868680" y="1481328"/>
            <a:ext cx="10451592" cy="557784"/>
          </a:xfrm>
          <a:prstGeom prst="rect">
            <a:avLst/>
          </a:prstGeom>
          <a:noFill/>
          <a:ln/>
        </p:spPr>
        <p:txBody>
          <a:bodyPr wrap="square"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CLINICAL WORKSTATION HOOK: </a:t>
            </a:r>
            <a:pPr indent="0" marL="0">
              <a:buNone/>
            </a:pPr>
            <a:r>
              <a:rPr lang="en-US" sz="1100" i="1" dirty="0">
                <a:solidFill>
                  <a:srgbClr val="0F172A"/>
                </a:solidFill>
                <a:latin typeface="Calibri" pitchFamily="34" charset="0"/>
                <a:ea typeface="Calibri" pitchFamily="34" charset="-122"/>
                <a:cs typeface="Calibri" pitchFamily="34" charset="-120"/>
              </a:rPr>
              <a:t>When a kidney develops two ureters, why does the upper pole ALWAYS obstruct, while the lower pole ALWAYS refluxes? The developmental geometry of the Wolffian duct dictates this immutable law.</a:t>
            </a:r>
            <a:endParaRPr lang="en-US" sz="1100" dirty="0"/>
          </a:p>
        </p:txBody>
      </p:sp>
      <p:sp>
        <p:nvSpPr>
          <p:cNvPr id="7" name="Shape 5"/>
          <p:cNvSpPr/>
          <p:nvPr/>
        </p:nvSpPr>
        <p:spPr>
          <a:xfrm>
            <a:off x="731520" y="2194560"/>
            <a:ext cx="10725912" cy="3383280"/>
          </a:xfrm>
          <a:prstGeom prst="rect">
            <a:avLst/>
          </a:prstGeom>
          <a:solidFill>
            <a:srgbClr val="FFFFFF"/>
          </a:solidFill>
          <a:ln w="15240">
            <a:solidFill>
              <a:srgbClr val="CBD5E1"/>
            </a:solidFill>
            <a:prstDash val="solid"/>
          </a:ln>
        </p:spPr>
      </p:sp>
      <p:sp>
        <p:nvSpPr>
          <p:cNvPr id="8" name="Shape 6"/>
          <p:cNvSpPr/>
          <p:nvPr/>
        </p:nvSpPr>
        <p:spPr>
          <a:xfrm>
            <a:off x="731520" y="2194560"/>
            <a:ext cx="10725912" cy="411480"/>
          </a:xfrm>
          <a:prstGeom prst="rect">
            <a:avLst/>
          </a:prstGeom>
          <a:solidFill>
            <a:srgbClr val="1E3A8A"/>
          </a:solidFill>
          <a:ln/>
        </p:spPr>
      </p:sp>
      <p:sp>
        <p:nvSpPr>
          <p:cNvPr id="9" name="Text 7"/>
          <p:cNvSpPr/>
          <p:nvPr/>
        </p:nvSpPr>
        <p:spPr>
          <a:xfrm>
            <a:off x="914400" y="219456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DUAL URETERIC BUD MORPHOGENESIS &amp; WOLFFIAN ABSORPTION</a:t>
            </a:r>
            <a:endParaRPr lang="en-US" sz="1250" dirty="0"/>
          </a:p>
        </p:txBody>
      </p:sp>
      <p:sp>
        <p:nvSpPr>
          <p:cNvPr id="10" name="Text 8"/>
          <p:cNvSpPr/>
          <p:nvPr/>
        </p:nvSpPr>
        <p:spPr>
          <a:xfrm>
            <a:off x="960120" y="2697480"/>
            <a:ext cx="10268712" cy="278892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Two Independent Ureteric Buds: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Two buds sprout from the mesonephric (Wolffian) duct: a cranial bud (destined for lower pole) and a caudal bud (destined for upper pole).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Asynchronous Bladder Incorporation: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As the caudal Wolffian duct is absorbed into the expanding urogenital sinus (forming the bladder trigone), the CRANIAL bud (Lower Pole) separates FIRST and migrates superolaterally.
The CAUDAL bud (Upper Pole) remains attached longer, separates LATER, and is dragged CAUDALLY AND MEDIALLY.
</a:t>
            </a:r>
            <a:endParaRPr lang="en-US" sz="1350" dirty="0"/>
          </a:p>
        </p:txBody>
      </p:sp>
      <p:sp>
        <p:nvSpPr>
          <p:cNvPr id="11" name="Shape 9"/>
          <p:cNvSpPr/>
          <p:nvPr/>
        </p:nvSpPr>
        <p:spPr>
          <a:xfrm>
            <a:off x="731520" y="5715000"/>
            <a:ext cx="10725912" cy="621792"/>
          </a:xfrm>
          <a:prstGeom prst="rect">
            <a:avLst/>
          </a:prstGeom>
          <a:solidFill>
            <a:srgbClr val="FFFBEB"/>
          </a:solidFill>
          <a:ln w="15240">
            <a:solidFill>
              <a:srgbClr val="D97706"/>
            </a:solidFill>
            <a:prstDash val="solid"/>
          </a:ln>
        </p:spPr>
      </p:sp>
      <p:sp>
        <p:nvSpPr>
          <p:cNvPr id="12" name="Text 10"/>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97706"/>
                </a:solidFill>
                <a:latin typeface="Calibri" pitchFamily="34" charset="0"/>
                <a:ea typeface="Calibri" pitchFamily="34" charset="-122"/>
                <a:cs typeface="Calibri" pitchFamily="34" charset="-120"/>
              </a:rPr>
              <a:t>💡 RADIOLOGY PEARL: </a:t>
            </a:r>
            <a:pPr indent="0" marL="0">
              <a:buNone/>
            </a:pPr>
            <a:r>
              <a:rPr lang="en-US" sz="1000" dirty="0">
                <a:solidFill>
                  <a:srgbClr val="0F172A"/>
                </a:solidFill>
                <a:latin typeface="Calibri" pitchFamily="34" charset="0"/>
                <a:ea typeface="Calibri" pitchFamily="34" charset="-122"/>
                <a:cs typeface="Calibri" pitchFamily="34" charset="-120"/>
              </a:rPr>
              <a:t>The Weigert-Meyer rule is pure embryological geometry: lower pole bud separates first; upper pole bud separates late.</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DUPLEX KIDNEYS • DUMI &amp; DROOPING LILY</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Duplex Kidneys: The DUMI Mnemonic &amp; Drooping Lily Sign</a:t>
            </a:r>
            <a:endParaRPr lang="en-US" sz="2300" dirty="0"/>
          </a:p>
        </p:txBody>
      </p:sp>
      <p:sp>
        <p:nvSpPr>
          <p:cNvPr id="5" name="Shape 3"/>
          <p:cNvSpPr/>
          <p:nvPr/>
        </p:nvSpPr>
        <p:spPr>
          <a:xfrm>
            <a:off x="731520" y="1554480"/>
            <a:ext cx="10725912" cy="4023360"/>
          </a:xfrm>
          <a:prstGeom prst="rect">
            <a:avLst/>
          </a:prstGeom>
          <a:solidFill>
            <a:srgbClr val="FFFFFF"/>
          </a:solidFill>
          <a:ln w="15240">
            <a:solidFill>
              <a:srgbClr val="CBD5E1"/>
            </a:solidFill>
            <a:prstDash val="solid"/>
          </a:ln>
        </p:spPr>
      </p:sp>
      <p:sp>
        <p:nvSpPr>
          <p:cNvPr id="6" name="Shape 4"/>
          <p:cNvSpPr/>
          <p:nvPr/>
        </p:nvSpPr>
        <p:spPr>
          <a:xfrm>
            <a:off x="731520" y="1554480"/>
            <a:ext cx="10725912" cy="411480"/>
          </a:xfrm>
          <a:prstGeom prst="rect">
            <a:avLst/>
          </a:prstGeom>
          <a:solidFill>
            <a:srgbClr val="0F766E"/>
          </a:solidFill>
          <a:ln/>
        </p:spPr>
      </p:sp>
      <p:sp>
        <p:nvSpPr>
          <p:cNvPr id="7" name="Text 5"/>
          <p:cNvSpPr/>
          <p:nvPr/>
        </p:nvSpPr>
        <p:spPr>
          <a:xfrm>
            <a:off x="914400" y="155448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CLINICAL PHENOTYPE &amp; FEMALE CONTINUOUS INCONTINENCE</a:t>
            </a:r>
            <a:endParaRPr lang="en-US" sz="1250" dirty="0"/>
          </a:p>
        </p:txBody>
      </p:sp>
      <p:sp>
        <p:nvSpPr>
          <p:cNvPr id="8" name="Text 6"/>
          <p:cNvSpPr/>
          <p:nvPr/>
        </p:nvSpPr>
        <p:spPr>
          <a:xfrm>
            <a:off x="960120" y="2057400"/>
            <a:ext cx="10268712" cy="342900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Upper Pole (DUMI: Duplex Upper Medial Inferior):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Inserts INFEROMEDIALLY, often ectopic (bladder neck, posterior urethra in males; urethra, vagina, vestibule in females). Prone to stenosis or an INTRAVESICAL URETEROCELE -&gt; Obstruction &amp; Hydronephrosis.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Lower Pole: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Inserts SUPEROLATERALLY with a short, perpendicular submucosal tunnel -&gt; Incompetent flap valve -&gt; VESICOURETERAL REFLUX (VUR) &amp; pyelonephritis.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'Drooping Lily' Sign: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On contrast fluoroscopy / coronal CT: Massively dilated, non-functioning upper pole moiety displaces functioning opacified lower pole calyces inferolaterally ('drooping flower').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Female Incontinence Trap: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In males, ectopic ureters insert ABOVE the external sphincter (obstruction, no incontinence). In females, ectopic ureters can insert BELOW the sphincter (distal urethra, vagina, vestibule), causing CONTINUOUS NON-STOP DRIBBLING INCONTINENCE despite normal voiding!
</a:t>
            </a:r>
            <a:endParaRPr lang="en-US" sz="1350" dirty="0"/>
          </a:p>
        </p:txBody>
      </p:sp>
      <p:sp>
        <p:nvSpPr>
          <p:cNvPr id="9" name="Shape 7"/>
          <p:cNvSpPr/>
          <p:nvPr/>
        </p:nvSpPr>
        <p:spPr>
          <a:xfrm>
            <a:off x="731520" y="5715000"/>
            <a:ext cx="10725912" cy="621792"/>
          </a:xfrm>
          <a:prstGeom prst="rect">
            <a:avLst/>
          </a:prstGeom>
          <a:solidFill>
            <a:srgbClr val="FEF2F2"/>
          </a:solidFill>
          <a:ln w="15240">
            <a:solidFill>
              <a:srgbClr val="DC2626"/>
            </a:solidFill>
            <a:prstDash val="solid"/>
          </a:ln>
        </p:spPr>
      </p:sp>
      <p:sp>
        <p:nvSpPr>
          <p:cNvPr id="10" name="Text 8"/>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C2626"/>
                </a:solidFill>
                <a:latin typeface="Calibri" pitchFamily="34" charset="0"/>
                <a:ea typeface="Calibri" pitchFamily="34" charset="-122"/>
                <a:cs typeface="Calibri" pitchFamily="34" charset="-120"/>
              </a:rPr>
              <a:t>⚠️ RADIOLOGIST'S TRAP: </a:t>
            </a:r>
            <a:pPr indent="0" marL="0">
              <a:buNone/>
            </a:pPr>
            <a:r>
              <a:rPr lang="en-US" sz="1000" dirty="0">
                <a:solidFill>
                  <a:srgbClr val="0F172A"/>
                </a:solidFill>
                <a:latin typeface="Calibri" pitchFamily="34" charset="0"/>
                <a:ea typeface="Calibri" pitchFamily="34" charset="-122"/>
                <a:cs typeface="Calibri" pitchFamily="34" charset="-120"/>
              </a:rPr>
              <a:t>Mnemonic DUMI: Duplex Upper Medial Inferior. An ectopic upper pole ureter in a girl causes continuous non-stop dribbling urinary incontinence!</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UMBILICAL STALK REMNANTS • SPATIAL PLANES</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The Weeping Umbilicus: Urachal vs. Vitelline Conduits</a:t>
            </a:r>
            <a:endParaRPr lang="en-US" sz="2300" dirty="0"/>
          </a:p>
        </p:txBody>
      </p:sp>
      <p:sp>
        <p:nvSpPr>
          <p:cNvPr id="5" name="Shape 3"/>
          <p:cNvSpPr/>
          <p:nvPr/>
        </p:nvSpPr>
        <p:spPr>
          <a:xfrm>
            <a:off x="731520" y="1463040"/>
            <a:ext cx="10725912" cy="594360"/>
          </a:xfrm>
          <a:prstGeom prst="rect">
            <a:avLst/>
          </a:prstGeom>
          <a:solidFill>
            <a:srgbClr val="F0F9FF"/>
          </a:solidFill>
          <a:ln w="15240">
            <a:solidFill>
              <a:srgbClr val="0284C7"/>
            </a:solidFill>
            <a:prstDash val="solid"/>
          </a:ln>
        </p:spPr>
      </p:sp>
      <p:sp>
        <p:nvSpPr>
          <p:cNvPr id="6" name="Text 4"/>
          <p:cNvSpPr/>
          <p:nvPr/>
        </p:nvSpPr>
        <p:spPr>
          <a:xfrm>
            <a:off x="868680" y="1481328"/>
            <a:ext cx="10451592" cy="557784"/>
          </a:xfrm>
          <a:prstGeom prst="rect">
            <a:avLst/>
          </a:prstGeom>
          <a:noFill/>
          <a:ln/>
        </p:spPr>
        <p:txBody>
          <a:bodyPr wrap="square"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CLINICAL WORKSTATION HOOK: </a:t>
            </a:r>
            <a:pPr indent="0" marL="0">
              <a:buNone/>
            </a:pPr>
            <a:r>
              <a:rPr lang="en-US" sz="1100" i="1" dirty="0">
                <a:solidFill>
                  <a:srgbClr val="0F172A"/>
                </a:solidFill>
                <a:latin typeface="Calibri" pitchFamily="34" charset="0"/>
                <a:ea typeface="Calibri" pitchFamily="34" charset="-122"/>
                <a:cs typeface="Calibri" pitchFamily="34" charset="-120"/>
              </a:rPr>
              <a:t>A 1-month-old infant has a continuously weeping umbilicus. Is the fluid coming from the urinary bladder or the terminal ileum? Why does an adult urachal mass present an adenocarcinoma rather than urothelial carcinoma?</a:t>
            </a:r>
            <a:endParaRPr lang="en-US" sz="1100" dirty="0"/>
          </a:p>
        </p:txBody>
      </p:sp>
      <p:sp>
        <p:nvSpPr>
          <p:cNvPr id="7" name="Shape 5"/>
          <p:cNvSpPr/>
          <p:nvPr/>
        </p:nvSpPr>
        <p:spPr>
          <a:xfrm>
            <a:off x="731520" y="2194560"/>
            <a:ext cx="10725912" cy="3383280"/>
          </a:xfrm>
          <a:prstGeom prst="rect">
            <a:avLst/>
          </a:prstGeom>
          <a:solidFill>
            <a:srgbClr val="FFFFFF"/>
          </a:solidFill>
          <a:ln w="15240">
            <a:solidFill>
              <a:srgbClr val="CBD5E1"/>
            </a:solidFill>
            <a:prstDash val="solid"/>
          </a:ln>
        </p:spPr>
      </p:sp>
      <p:sp>
        <p:nvSpPr>
          <p:cNvPr id="8" name="Shape 6"/>
          <p:cNvSpPr/>
          <p:nvPr/>
        </p:nvSpPr>
        <p:spPr>
          <a:xfrm>
            <a:off x="731520" y="2194560"/>
            <a:ext cx="10725912" cy="411480"/>
          </a:xfrm>
          <a:prstGeom prst="rect">
            <a:avLst/>
          </a:prstGeom>
          <a:solidFill>
            <a:srgbClr val="0F172A"/>
          </a:solidFill>
          <a:ln/>
        </p:spPr>
      </p:sp>
      <p:sp>
        <p:nvSpPr>
          <p:cNvPr id="9" name="Text 7"/>
          <p:cNvSpPr/>
          <p:nvPr/>
        </p:nvSpPr>
        <p:spPr>
          <a:xfrm>
            <a:off x="914400" y="219456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EXTRAPERITONEAL ALLANTOIS VS. INTRAPERITONEAL YOLK STALK</a:t>
            </a:r>
            <a:endParaRPr lang="en-US" sz="1250" dirty="0"/>
          </a:p>
        </p:txBody>
      </p:sp>
      <p:sp>
        <p:nvSpPr>
          <p:cNvPr id="10" name="Text 8"/>
          <p:cNvSpPr/>
          <p:nvPr/>
        </p:nvSpPr>
        <p:spPr>
          <a:xfrm>
            <a:off x="960120" y="2697480"/>
            <a:ext cx="10268712" cy="278892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Urachal Remnants (Allantoic Origin):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Derived from intra-embryonic allantois connecting bladder dome to umbilicus. Normally obliterates by 3rd trimester into Median Umbilical Ligament. Strictly EXTRAPERITONEAL in prevesical Retzius space. Patent urachus (urine leakage), urachal cyst, sinus, diverticulum. 90% of adult urachal cancers are ADENOCARCINOMAS (cloacal glandular metaplasia).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Vitelline Remnants (Yolk Stalk Origin):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Connects primitive midgut to yolk sac. Normally obliterates by weeks 5–9. Strictly INTRAPERITONEAL, associated with ileum. Patent vitelline duct (fecal discharge), Meckel diverticulum (Rule of 2s; ectopic gastric mucosa), vitelline cyst/band (internal volvulus). Exhibits two-layered 'gut signature' wall.
</a:t>
            </a:r>
            <a:endParaRPr lang="en-US" sz="1350" dirty="0"/>
          </a:p>
        </p:txBody>
      </p:sp>
      <p:sp>
        <p:nvSpPr>
          <p:cNvPr id="11" name="Shape 9"/>
          <p:cNvSpPr/>
          <p:nvPr/>
        </p:nvSpPr>
        <p:spPr>
          <a:xfrm>
            <a:off x="731520" y="5715000"/>
            <a:ext cx="10725912" cy="621792"/>
          </a:xfrm>
          <a:prstGeom prst="rect">
            <a:avLst/>
          </a:prstGeom>
          <a:solidFill>
            <a:srgbClr val="FFFBEB"/>
          </a:solidFill>
          <a:ln w="15240">
            <a:solidFill>
              <a:srgbClr val="D97706"/>
            </a:solidFill>
            <a:prstDash val="solid"/>
          </a:ln>
        </p:spPr>
      </p:sp>
      <p:sp>
        <p:nvSpPr>
          <p:cNvPr id="12" name="Text 10"/>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97706"/>
                </a:solidFill>
                <a:latin typeface="Calibri" pitchFamily="34" charset="0"/>
                <a:ea typeface="Calibri" pitchFamily="34" charset="-122"/>
                <a:cs typeface="Calibri" pitchFamily="34" charset="-120"/>
              </a:rPr>
              <a:t>💡 RADIOLOGY PEARL: </a:t>
            </a:r>
            <a:pPr indent="0" marL="0">
              <a:buNone/>
            </a:pPr>
            <a:r>
              <a:rPr lang="en-US" sz="1000" dirty="0">
                <a:solidFill>
                  <a:srgbClr val="0F172A"/>
                </a:solidFill>
                <a:latin typeface="Calibri" pitchFamily="34" charset="0"/>
                <a:ea typeface="Calibri" pitchFamily="34" charset="-122"/>
                <a:cs typeface="Calibri" pitchFamily="34" charset="-120"/>
              </a:rPr>
              <a:t>Urachal lesions are extraperitoneal superior to bladder; Vitelline lesions are intraperitoneal near the ileum with a gut-signature wall.</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UMBILICAL STALK REMNANTS • CLINICAL HAZARD</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The Weeping Umbilicus: The Silver Nitrate Disaster</a:t>
            </a:r>
            <a:endParaRPr lang="en-US" sz="2300" dirty="0"/>
          </a:p>
        </p:txBody>
      </p:sp>
      <p:sp>
        <p:nvSpPr>
          <p:cNvPr id="5" name="Shape 3"/>
          <p:cNvSpPr/>
          <p:nvPr/>
        </p:nvSpPr>
        <p:spPr>
          <a:xfrm>
            <a:off x="731520" y="1554480"/>
            <a:ext cx="10725912" cy="4023360"/>
          </a:xfrm>
          <a:prstGeom prst="rect">
            <a:avLst/>
          </a:prstGeom>
          <a:solidFill>
            <a:srgbClr val="FFFFFF"/>
          </a:solidFill>
          <a:ln w="15240">
            <a:solidFill>
              <a:srgbClr val="CBD5E1"/>
            </a:solidFill>
            <a:prstDash val="solid"/>
          </a:ln>
        </p:spPr>
      </p:sp>
      <p:sp>
        <p:nvSpPr>
          <p:cNvPr id="6" name="Shape 4"/>
          <p:cNvSpPr/>
          <p:nvPr/>
        </p:nvSpPr>
        <p:spPr>
          <a:xfrm>
            <a:off x="731520" y="1554480"/>
            <a:ext cx="10725912" cy="411480"/>
          </a:xfrm>
          <a:prstGeom prst="rect">
            <a:avLst/>
          </a:prstGeom>
          <a:solidFill>
            <a:srgbClr val="9A3412"/>
          </a:solidFill>
          <a:ln/>
        </p:spPr>
      </p:sp>
      <p:sp>
        <p:nvSpPr>
          <p:cNvPr id="7" name="Text 5"/>
          <p:cNvSpPr/>
          <p:nvPr/>
        </p:nvSpPr>
        <p:spPr>
          <a:xfrm>
            <a:off x="914400" y="155448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WHY YOU NEVER CAUTERIZE WITHOUT ULTRASOUND</a:t>
            </a:r>
            <a:endParaRPr lang="en-US" sz="1250" dirty="0"/>
          </a:p>
        </p:txBody>
      </p:sp>
      <p:sp>
        <p:nvSpPr>
          <p:cNvPr id="8" name="Text 6"/>
          <p:cNvSpPr/>
          <p:nvPr/>
        </p:nvSpPr>
        <p:spPr>
          <a:xfrm>
            <a:off x="960120" y="2057400"/>
            <a:ext cx="10268712" cy="342900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The Common Clinical Mistake: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Pediatricians and family practitioners frequently mistake a red, weeping umbilical stoma for a benign 'umbilical granuloma'.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The Chemical Cauterization Hazard: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Applying silver nitrate sticks to an unrecognized patent vitelline duct polyp or patent urachus burns through the thin embryonic mucosa.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The Catastrophic Outcome: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Direct small bowel perforation, fecal peritonitis, or bladder dome necrosis!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The Mandatory Protocol: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Every weeping or discharging umbilical lesion in an infant MUST undergo high-frequency ultrasound prior to any local manipulation.
</a:t>
            </a:r>
            <a:endParaRPr lang="en-US" sz="1350" dirty="0"/>
          </a:p>
        </p:txBody>
      </p:sp>
      <p:sp>
        <p:nvSpPr>
          <p:cNvPr id="9" name="Shape 7"/>
          <p:cNvSpPr/>
          <p:nvPr/>
        </p:nvSpPr>
        <p:spPr>
          <a:xfrm>
            <a:off x="731520" y="5715000"/>
            <a:ext cx="10725912" cy="621792"/>
          </a:xfrm>
          <a:prstGeom prst="rect">
            <a:avLst/>
          </a:prstGeom>
          <a:solidFill>
            <a:srgbClr val="FEF2F2"/>
          </a:solidFill>
          <a:ln w="15240">
            <a:solidFill>
              <a:srgbClr val="DC2626"/>
            </a:solidFill>
            <a:prstDash val="solid"/>
          </a:ln>
        </p:spPr>
      </p:sp>
      <p:sp>
        <p:nvSpPr>
          <p:cNvPr id="10" name="Text 8"/>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C2626"/>
                </a:solidFill>
                <a:latin typeface="Calibri" pitchFamily="34" charset="0"/>
                <a:ea typeface="Calibri" pitchFamily="34" charset="-122"/>
                <a:cs typeface="Calibri" pitchFamily="34" charset="-120"/>
              </a:rPr>
              <a:t>⚠️ RADIOLOGIST'S TRAP: </a:t>
            </a:r>
            <a:pPr indent="0" marL="0">
              <a:buNone/>
            </a:pPr>
            <a:r>
              <a:rPr lang="en-US" sz="1000" dirty="0">
                <a:solidFill>
                  <a:srgbClr val="0F172A"/>
                </a:solidFill>
                <a:latin typeface="Calibri" pitchFamily="34" charset="0"/>
                <a:ea typeface="Calibri" pitchFamily="34" charset="-122"/>
                <a:cs typeface="Calibri" pitchFamily="34" charset="-120"/>
              </a:rPr>
              <a:t>Never apply silver nitrate to an apparent 'umbilical granuloma' without ultrasound! You could burn into the ileum or bladder.</a:t>
            </a:r>
            <a:endParaRPr lang="en-US" sz="10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LOWER URINARY TRACT • MEGACYSTIS</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Fetal Megacystis: First-Trimester Sonographic Rules</a:t>
            </a:r>
            <a:endParaRPr lang="en-US" sz="2300" dirty="0"/>
          </a:p>
        </p:txBody>
      </p:sp>
      <p:sp>
        <p:nvSpPr>
          <p:cNvPr id="5" name="Shape 3"/>
          <p:cNvSpPr/>
          <p:nvPr/>
        </p:nvSpPr>
        <p:spPr>
          <a:xfrm>
            <a:off x="731520" y="1463040"/>
            <a:ext cx="10725912" cy="594360"/>
          </a:xfrm>
          <a:prstGeom prst="rect">
            <a:avLst/>
          </a:prstGeom>
          <a:solidFill>
            <a:srgbClr val="F0F9FF"/>
          </a:solidFill>
          <a:ln w="15240">
            <a:solidFill>
              <a:srgbClr val="0284C7"/>
            </a:solidFill>
            <a:prstDash val="solid"/>
          </a:ln>
        </p:spPr>
      </p:sp>
      <p:sp>
        <p:nvSpPr>
          <p:cNvPr id="6" name="Text 4"/>
          <p:cNvSpPr/>
          <p:nvPr/>
        </p:nvSpPr>
        <p:spPr>
          <a:xfrm>
            <a:off x="868680" y="1481328"/>
            <a:ext cx="10451592" cy="557784"/>
          </a:xfrm>
          <a:prstGeom prst="rect">
            <a:avLst/>
          </a:prstGeom>
          <a:noFill/>
          <a:ln/>
        </p:spPr>
        <p:txBody>
          <a:bodyPr wrap="square"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CLINICAL WORKSTATION HOOK: </a:t>
            </a:r>
            <a:pPr indent="0" marL="0">
              <a:buNone/>
            </a:pPr>
            <a:r>
              <a:rPr lang="en-US" sz="1100" i="1" dirty="0">
                <a:solidFill>
                  <a:srgbClr val="0F172A"/>
                </a:solidFill>
                <a:latin typeface="Calibri" pitchFamily="34" charset="0"/>
                <a:ea typeface="Calibri" pitchFamily="34" charset="-122"/>
                <a:cs typeface="Calibri" pitchFamily="34" charset="-120"/>
              </a:rPr>
              <a:t>Massive megacystis in a male fetus. Does the 'keyhole sign' guarantee posterior urethral valves, or could the bladder wall be flaccid due to primary mesodermal deficiency?</a:t>
            </a:r>
            <a:endParaRPr lang="en-US" sz="1100" dirty="0"/>
          </a:p>
        </p:txBody>
      </p:sp>
      <p:sp>
        <p:nvSpPr>
          <p:cNvPr id="7" name="Shape 5"/>
          <p:cNvSpPr/>
          <p:nvPr/>
        </p:nvSpPr>
        <p:spPr>
          <a:xfrm>
            <a:off x="731520" y="2194560"/>
            <a:ext cx="10725912" cy="3383280"/>
          </a:xfrm>
          <a:prstGeom prst="rect">
            <a:avLst/>
          </a:prstGeom>
          <a:solidFill>
            <a:srgbClr val="FFFFFF"/>
          </a:solidFill>
          <a:ln w="15240">
            <a:solidFill>
              <a:srgbClr val="CBD5E1"/>
            </a:solidFill>
            <a:prstDash val="solid"/>
          </a:ln>
        </p:spPr>
      </p:sp>
      <p:sp>
        <p:nvSpPr>
          <p:cNvPr id="8" name="Shape 6"/>
          <p:cNvSpPr/>
          <p:nvPr/>
        </p:nvSpPr>
        <p:spPr>
          <a:xfrm>
            <a:off x="731520" y="2194560"/>
            <a:ext cx="10725912" cy="411480"/>
          </a:xfrm>
          <a:prstGeom prst="rect">
            <a:avLst/>
          </a:prstGeom>
          <a:solidFill>
            <a:srgbClr val="1E3A8A"/>
          </a:solidFill>
          <a:ln/>
        </p:spPr>
      </p:sp>
      <p:sp>
        <p:nvSpPr>
          <p:cNvPr id="9" name="Text 7"/>
          <p:cNvSpPr/>
          <p:nvPr/>
        </p:nvSpPr>
        <p:spPr>
          <a:xfrm>
            <a:off x="914400" y="219456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FIRST-TRIMESTER LONGITUDINAL BLADDER DIAMETERS</a:t>
            </a:r>
            <a:endParaRPr lang="en-US" sz="1250" dirty="0"/>
          </a:p>
        </p:txBody>
      </p:sp>
      <p:sp>
        <p:nvSpPr>
          <p:cNvPr id="10" name="Text 8"/>
          <p:cNvSpPr/>
          <p:nvPr/>
        </p:nvSpPr>
        <p:spPr>
          <a:xfrm>
            <a:off x="960120" y="2697480"/>
            <a:ext cx="10268712" cy="278892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Normal Bladder at 11–13+6 Weeks: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Longitudinal bladder diameter is normally &lt; 7 mm.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Mild to Moderate Megacystis (7 to 15 mm):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Carries a 20–25% risk of chromosomal aneuploidy (Trisomy 18, 13). In 50%, megacystis resolves spontaneously.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Severe Megacystis (&gt; 15 mm):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Carries a ~100% risk of progressive obstructive uropathy (PUV, urethral atresia) or severe aneuploidy. Spontaneous resolution is virtually zero.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Second-Trimester Evaluation: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Assess bladder wall thickness, posterior urethral dilatation, and ureteral tortuosity.
</a:t>
            </a:r>
            <a:endParaRPr lang="en-US" sz="1350" dirty="0"/>
          </a:p>
        </p:txBody>
      </p:sp>
      <p:sp>
        <p:nvSpPr>
          <p:cNvPr id="11" name="Shape 9"/>
          <p:cNvSpPr/>
          <p:nvPr/>
        </p:nvSpPr>
        <p:spPr>
          <a:xfrm>
            <a:off x="731520" y="5715000"/>
            <a:ext cx="10725912" cy="621792"/>
          </a:xfrm>
          <a:prstGeom prst="rect">
            <a:avLst/>
          </a:prstGeom>
          <a:solidFill>
            <a:srgbClr val="FFFBEB"/>
          </a:solidFill>
          <a:ln w="15240">
            <a:solidFill>
              <a:srgbClr val="D97706"/>
            </a:solidFill>
            <a:prstDash val="solid"/>
          </a:ln>
        </p:spPr>
      </p:sp>
      <p:sp>
        <p:nvSpPr>
          <p:cNvPr id="12" name="Text 10"/>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97706"/>
                </a:solidFill>
                <a:latin typeface="Calibri" pitchFamily="34" charset="0"/>
                <a:ea typeface="Calibri" pitchFamily="34" charset="-122"/>
                <a:cs typeface="Calibri" pitchFamily="34" charset="-120"/>
              </a:rPr>
              <a:t>💡 RADIOLOGY PEARL: </a:t>
            </a:r>
            <a:pPr indent="0" marL="0">
              <a:buNone/>
            </a:pPr>
            <a:r>
              <a:rPr lang="en-US" sz="1000" dirty="0">
                <a:solidFill>
                  <a:srgbClr val="0F172A"/>
                </a:solidFill>
                <a:latin typeface="Calibri" pitchFamily="34" charset="0"/>
                <a:ea typeface="Calibri" pitchFamily="34" charset="-122"/>
                <a:cs typeface="Calibri" pitchFamily="34" charset="-120"/>
              </a:rPr>
              <a:t>First-trimester megacystis: 7–15 mm = check karyotype (Trisomy 18/13); &gt;15 mm = ~100% risk of severe obstructive uropathy.</a:t>
            </a:r>
            <a:endParaRPr lang="en-US" sz="10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LOWER URINARY TRACT • PUV VS. PRUNE BELLY</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LUTO: Posterior Urethral Valves (COP) vs. Prune Belly</a:t>
            </a:r>
            <a:endParaRPr lang="en-US" sz="2300" dirty="0"/>
          </a:p>
        </p:txBody>
      </p:sp>
      <p:sp>
        <p:nvSpPr>
          <p:cNvPr id="5" name="Shape 3"/>
          <p:cNvSpPr/>
          <p:nvPr/>
        </p:nvSpPr>
        <p:spPr>
          <a:xfrm>
            <a:off x="731520" y="1554480"/>
            <a:ext cx="10725912" cy="4023360"/>
          </a:xfrm>
          <a:prstGeom prst="rect">
            <a:avLst/>
          </a:prstGeom>
          <a:solidFill>
            <a:srgbClr val="FFFFFF"/>
          </a:solidFill>
          <a:ln w="15240">
            <a:solidFill>
              <a:srgbClr val="CBD5E1"/>
            </a:solidFill>
            <a:prstDash val="solid"/>
          </a:ln>
        </p:spPr>
      </p:sp>
      <p:sp>
        <p:nvSpPr>
          <p:cNvPr id="6" name="Shape 4"/>
          <p:cNvSpPr/>
          <p:nvPr/>
        </p:nvSpPr>
        <p:spPr>
          <a:xfrm>
            <a:off x="731520" y="1554480"/>
            <a:ext cx="10725912" cy="411480"/>
          </a:xfrm>
          <a:prstGeom prst="rect">
            <a:avLst/>
          </a:prstGeom>
          <a:solidFill>
            <a:srgbClr val="065F46"/>
          </a:solidFill>
          <a:ln/>
        </p:spPr>
      </p:sp>
      <p:sp>
        <p:nvSpPr>
          <p:cNvPr id="7" name="Text 5"/>
          <p:cNvSpPr/>
          <p:nvPr/>
        </p:nvSpPr>
        <p:spPr>
          <a:xfrm>
            <a:off x="914400" y="155448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MECHANICAL OUTFLOW BLOCK VS. MESODERMAL DYSPLASIA</a:t>
            </a:r>
            <a:endParaRPr lang="en-US" sz="1250" dirty="0"/>
          </a:p>
        </p:txBody>
      </p:sp>
      <p:sp>
        <p:nvSpPr>
          <p:cNvPr id="8" name="Text 6"/>
          <p:cNvSpPr/>
          <p:nvPr/>
        </p:nvSpPr>
        <p:spPr>
          <a:xfrm>
            <a:off x="960120" y="2057400"/>
            <a:ext cx="10268712" cy="342900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Posterior Urethral Valves (PUV):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Arises weeks 7–9 GA from abnormal integration of mesonephric (Wolffian) ducts into urogenital sinus floor at verumontanum. Modern pathology: Dewan's Congenital Obstructive Posterior Urethral Membrane (COP). Bladder wall is disproportionately THICKENED, trabeculated, and hypertrophied. Dilated posterior urethra forms the 'KEYHOLE SIGN'.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Prune Belly Syndrome (Eagle-Barrett):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Primary mesodermal arrest weeks 6–10 affecting abdominal somatopleure and urinary smooth muscle. Triad: (1) Abdominal muscle deficiency, (2) Bilateral cryptorchidism, (3) Massive urinary dilatation. Bladder is MASSIVE, THIN-WALLED, SMOOTH, and FLACCID. Ureters are wildly coiled and tortuous. NO keyhole sign!
</a:t>
            </a:r>
            <a:endParaRPr lang="en-US" sz="1350" dirty="0"/>
          </a:p>
        </p:txBody>
      </p:sp>
      <p:sp>
        <p:nvSpPr>
          <p:cNvPr id="9" name="Shape 7"/>
          <p:cNvSpPr/>
          <p:nvPr/>
        </p:nvSpPr>
        <p:spPr>
          <a:xfrm>
            <a:off x="731520" y="5715000"/>
            <a:ext cx="10725912" cy="621792"/>
          </a:xfrm>
          <a:prstGeom prst="rect">
            <a:avLst/>
          </a:prstGeom>
          <a:solidFill>
            <a:srgbClr val="FFFBEB"/>
          </a:solidFill>
          <a:ln w="15240">
            <a:solidFill>
              <a:srgbClr val="D97706"/>
            </a:solidFill>
            <a:prstDash val="solid"/>
          </a:ln>
        </p:spPr>
      </p:sp>
      <p:sp>
        <p:nvSpPr>
          <p:cNvPr id="10" name="Text 8"/>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97706"/>
                </a:solidFill>
                <a:latin typeface="Calibri" pitchFamily="34" charset="0"/>
                <a:ea typeface="Calibri" pitchFamily="34" charset="-122"/>
                <a:cs typeface="Calibri" pitchFamily="34" charset="-120"/>
              </a:rPr>
              <a:t>💡 RADIOLOGY PEARL: </a:t>
            </a:r>
            <a:pPr indent="0" marL="0">
              <a:buNone/>
            </a:pPr>
            <a:r>
              <a:rPr lang="en-US" sz="1000" dirty="0">
                <a:solidFill>
                  <a:srgbClr val="0F172A"/>
                </a:solidFill>
                <a:latin typeface="Calibri" pitchFamily="34" charset="0"/>
                <a:ea typeface="Calibri" pitchFamily="34" charset="-122"/>
                <a:cs typeface="Calibri" pitchFamily="34" charset="-120"/>
              </a:rPr>
              <a:t>Thick trabeculated wall + Keyhole sign = PUV; Thin flaccid megacystis + wildly tortuous ureters + cryptorchidism = Prune Belly.</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LOWER URINARY TRACT • THE VURD MECHANISM</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The VURD Syndrome: The Protective Pop-Off Valve</a:t>
            </a:r>
            <a:endParaRPr lang="en-US" sz="2300" dirty="0"/>
          </a:p>
        </p:txBody>
      </p:sp>
      <p:sp>
        <p:nvSpPr>
          <p:cNvPr id="5" name="Shape 3"/>
          <p:cNvSpPr/>
          <p:nvPr/>
        </p:nvSpPr>
        <p:spPr>
          <a:xfrm>
            <a:off x="731520" y="1554480"/>
            <a:ext cx="10725912" cy="4023360"/>
          </a:xfrm>
          <a:prstGeom prst="rect">
            <a:avLst/>
          </a:prstGeom>
          <a:solidFill>
            <a:srgbClr val="FFFFFF"/>
          </a:solidFill>
          <a:ln w="15240">
            <a:solidFill>
              <a:srgbClr val="CBD5E1"/>
            </a:solidFill>
            <a:prstDash val="solid"/>
          </a:ln>
        </p:spPr>
      </p:sp>
      <p:sp>
        <p:nvSpPr>
          <p:cNvPr id="6" name="Shape 4"/>
          <p:cNvSpPr/>
          <p:nvPr/>
        </p:nvSpPr>
        <p:spPr>
          <a:xfrm>
            <a:off x="731520" y="1554480"/>
            <a:ext cx="10725912" cy="411480"/>
          </a:xfrm>
          <a:prstGeom prst="rect">
            <a:avLst/>
          </a:prstGeom>
          <a:solidFill>
            <a:srgbClr val="0F172A"/>
          </a:solidFill>
          <a:ln/>
        </p:spPr>
      </p:sp>
      <p:sp>
        <p:nvSpPr>
          <p:cNvPr id="7" name="Text 5"/>
          <p:cNvSpPr/>
          <p:nvPr/>
        </p:nvSpPr>
        <p:spPr>
          <a:xfrm>
            <a:off x="914400" y="155448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POSTERIOR URETHRAL VALVES, UNILATERAL REFLUX, AND RENAL DYSPLASIA</a:t>
            </a:r>
            <a:endParaRPr lang="en-US" sz="1250" dirty="0"/>
          </a:p>
        </p:txBody>
      </p:sp>
      <p:sp>
        <p:nvSpPr>
          <p:cNvPr id="8" name="Text 6"/>
          <p:cNvSpPr/>
          <p:nvPr/>
        </p:nvSpPr>
        <p:spPr>
          <a:xfrm>
            <a:off x="960120" y="2057400"/>
            <a:ext cx="10268712" cy="342900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The Physics of Closed Obstruction: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PUV generates severe hydrostatic back-pressure that rapidly destroys developing nephrons in both kidneys, leading to bilateral dysplasia and renal failure.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The VURD Safety Pop-Off: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In VURD syndrome, massive high-grade vesicoureteral reflux occurs into ONE kidney. This refluxing unit acts as an endogenous high-pressure pop-off safety valve!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Nephron Preservation: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The refluxing kidney sacrifices itself to absorb hydrostatic pressure and becomes dysplastic. But the CONTRALATERAL non-refluxing kidney is protected and retains normal nephron function!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Fornix Rupture &amp; Urinoma: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Similarly, calyceal fornix rupture producing a perinephric urinoma or urinary ascites decompress the system and preserves renal parenchyma.
</a:t>
            </a:r>
            <a:endParaRPr lang="en-US" sz="1350" dirty="0"/>
          </a:p>
        </p:txBody>
      </p:sp>
      <p:sp>
        <p:nvSpPr>
          <p:cNvPr id="9" name="Shape 7"/>
          <p:cNvSpPr/>
          <p:nvPr/>
        </p:nvSpPr>
        <p:spPr>
          <a:xfrm>
            <a:off x="731520" y="5715000"/>
            <a:ext cx="10725912" cy="621792"/>
          </a:xfrm>
          <a:prstGeom prst="rect">
            <a:avLst/>
          </a:prstGeom>
          <a:solidFill>
            <a:srgbClr val="FFFBEB"/>
          </a:solidFill>
          <a:ln w="15240">
            <a:solidFill>
              <a:srgbClr val="D97706"/>
            </a:solidFill>
            <a:prstDash val="solid"/>
          </a:ln>
        </p:spPr>
      </p:sp>
      <p:sp>
        <p:nvSpPr>
          <p:cNvPr id="10" name="Text 8"/>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97706"/>
                </a:solidFill>
                <a:latin typeface="Calibri" pitchFamily="34" charset="0"/>
                <a:ea typeface="Calibri" pitchFamily="34" charset="-122"/>
                <a:cs typeface="Calibri" pitchFamily="34" charset="-120"/>
              </a:rPr>
              <a:t>💡 RADIOLOGY PEARL: </a:t>
            </a:r>
            <a:pPr indent="0" marL="0">
              <a:buNone/>
            </a:pPr>
            <a:r>
              <a:rPr lang="en-US" sz="1000" dirty="0">
                <a:solidFill>
                  <a:srgbClr val="0F172A"/>
                </a:solidFill>
                <a:latin typeface="Calibri" pitchFamily="34" charset="0"/>
                <a:ea typeface="Calibri" pitchFamily="34" charset="-122"/>
                <a:cs typeface="Calibri" pitchFamily="34" charset="-120"/>
              </a:rPr>
              <a:t>Unilateral severe reflux (VURD) or calyceal rupture with urinoma in PUV is a POSITIVE sign that decompresses the other kidney!</a:t>
            </a:r>
            <a:endParaRPr lang="en-US" sz="10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ADRENAL MORPHOGENESIS • WEEKS 5–20</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The Vascularized Giant: Fetal Adrenal Cortex</a:t>
            </a:r>
            <a:endParaRPr lang="en-US" sz="2300" dirty="0"/>
          </a:p>
        </p:txBody>
      </p:sp>
      <p:sp>
        <p:nvSpPr>
          <p:cNvPr id="5" name="Shape 3"/>
          <p:cNvSpPr/>
          <p:nvPr/>
        </p:nvSpPr>
        <p:spPr>
          <a:xfrm>
            <a:off x="731520" y="1463040"/>
            <a:ext cx="10725912" cy="594360"/>
          </a:xfrm>
          <a:prstGeom prst="rect">
            <a:avLst/>
          </a:prstGeom>
          <a:solidFill>
            <a:srgbClr val="F0F9FF"/>
          </a:solidFill>
          <a:ln w="15240">
            <a:solidFill>
              <a:srgbClr val="0284C7"/>
            </a:solidFill>
            <a:prstDash val="solid"/>
          </a:ln>
        </p:spPr>
      </p:sp>
      <p:sp>
        <p:nvSpPr>
          <p:cNvPr id="6" name="Text 4"/>
          <p:cNvSpPr/>
          <p:nvPr/>
        </p:nvSpPr>
        <p:spPr>
          <a:xfrm>
            <a:off x="868680" y="1481328"/>
            <a:ext cx="10451592" cy="557784"/>
          </a:xfrm>
          <a:prstGeom prst="rect">
            <a:avLst/>
          </a:prstGeom>
          <a:noFill/>
          <a:ln/>
        </p:spPr>
        <p:txBody>
          <a:bodyPr wrap="square"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CLINICAL WORKSTATION HOOK: </a:t>
            </a:r>
            <a:pPr indent="0" marL="0">
              <a:buNone/>
            </a:pPr>
            <a:r>
              <a:rPr lang="en-US" sz="1100" i="1" dirty="0">
                <a:solidFill>
                  <a:srgbClr val="0F172A"/>
                </a:solidFill>
                <a:latin typeface="Calibri" pitchFamily="34" charset="0"/>
                <a:ea typeface="Calibri" pitchFamily="34" charset="-122"/>
                <a:cs typeface="Calibri" pitchFamily="34" charset="-120"/>
              </a:rPr>
              <a:t>At 20 weeks, the fetal adrenal is 20 times larger relative to body weight than in an adult! Why does its unique single-vein drainage make it exquisitely vulnerable to hemorrhage?</a:t>
            </a:r>
            <a:endParaRPr lang="en-US" sz="1100" dirty="0"/>
          </a:p>
        </p:txBody>
      </p:sp>
      <p:sp>
        <p:nvSpPr>
          <p:cNvPr id="7" name="Shape 5"/>
          <p:cNvSpPr/>
          <p:nvPr/>
        </p:nvSpPr>
        <p:spPr>
          <a:xfrm>
            <a:off x="731520" y="2194560"/>
            <a:ext cx="10725912" cy="3383280"/>
          </a:xfrm>
          <a:prstGeom prst="rect">
            <a:avLst/>
          </a:prstGeom>
          <a:solidFill>
            <a:srgbClr val="FFFFFF"/>
          </a:solidFill>
          <a:ln w="15240">
            <a:solidFill>
              <a:srgbClr val="CBD5E1"/>
            </a:solidFill>
            <a:prstDash val="solid"/>
          </a:ln>
        </p:spPr>
      </p:sp>
      <p:sp>
        <p:nvSpPr>
          <p:cNvPr id="8" name="Shape 6"/>
          <p:cNvSpPr/>
          <p:nvPr/>
        </p:nvSpPr>
        <p:spPr>
          <a:xfrm>
            <a:off x="731520" y="2194560"/>
            <a:ext cx="10725912" cy="411480"/>
          </a:xfrm>
          <a:prstGeom prst="rect">
            <a:avLst/>
          </a:prstGeom>
          <a:solidFill>
            <a:srgbClr val="0F172A"/>
          </a:solidFill>
          <a:ln/>
        </p:spPr>
      </p:sp>
      <p:sp>
        <p:nvSpPr>
          <p:cNvPr id="9" name="Text 7"/>
          <p:cNvSpPr/>
          <p:nvPr/>
        </p:nvSpPr>
        <p:spPr>
          <a:xfrm>
            <a:off x="914400" y="219456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EMBRYOLOGY &amp; UNIQUE VASCULAR ARCHITECTURE</a:t>
            </a:r>
            <a:endParaRPr lang="en-US" sz="1250" dirty="0"/>
          </a:p>
        </p:txBody>
      </p:sp>
      <p:sp>
        <p:nvSpPr>
          <p:cNvPr id="10" name="Text 8"/>
          <p:cNvSpPr/>
          <p:nvPr/>
        </p:nvSpPr>
        <p:spPr>
          <a:xfrm>
            <a:off x="960120" y="2697480"/>
            <a:ext cx="10268712" cy="278892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Dual Embryonic Origin: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Cortex arises from coelomic mesothelium (week 5); medulla from neural crest (week 7).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The Fetal Cortex (80–85% of Gland):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At 20 weeks, the fetal adrenal is a steroidogenic factory converting maternal cholesterol into DHEA-S (the obligate precursor for placental estriol synthesis).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The Vascular Inflow-Outflow Mismatch: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Supplied by THREE suprarenal arteries (superior from phrenic, middle from aorta, inferior from renal), but drained by a SOLITARY central adrenal vein (into IVC on right, left renal vein on left).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Perinatal Congestion: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Perinatal stress, hypoxia, or birth trauma causes sudden venous hypertensive congestion, rupturing fragile sinusoids into massive adrenal hematoma.
</a:t>
            </a:r>
            <a:endParaRPr lang="en-US" sz="1350" dirty="0"/>
          </a:p>
        </p:txBody>
      </p:sp>
      <p:sp>
        <p:nvSpPr>
          <p:cNvPr id="11" name="Shape 9"/>
          <p:cNvSpPr/>
          <p:nvPr/>
        </p:nvSpPr>
        <p:spPr>
          <a:xfrm>
            <a:off x="731520" y="5715000"/>
            <a:ext cx="10725912" cy="621792"/>
          </a:xfrm>
          <a:prstGeom prst="rect">
            <a:avLst/>
          </a:prstGeom>
          <a:solidFill>
            <a:srgbClr val="FFFBEB"/>
          </a:solidFill>
          <a:ln w="15240">
            <a:solidFill>
              <a:srgbClr val="D97706"/>
            </a:solidFill>
            <a:prstDash val="solid"/>
          </a:ln>
        </p:spPr>
      </p:sp>
      <p:sp>
        <p:nvSpPr>
          <p:cNvPr id="12" name="Text 10"/>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97706"/>
                </a:solidFill>
                <a:latin typeface="Calibri" pitchFamily="34" charset="0"/>
                <a:ea typeface="Calibri" pitchFamily="34" charset="-122"/>
                <a:cs typeface="Calibri" pitchFamily="34" charset="-120"/>
              </a:rPr>
              <a:t>💡 RADIOLOGY PEARL: </a:t>
            </a:r>
            <a:pPr indent="0" marL="0">
              <a:buNone/>
            </a:pPr>
            <a:r>
              <a:rPr lang="en-US" sz="1000" dirty="0">
                <a:solidFill>
                  <a:srgbClr val="0F172A"/>
                </a:solidFill>
                <a:latin typeface="Calibri" pitchFamily="34" charset="0"/>
                <a:ea typeface="Calibri" pitchFamily="34" charset="-122"/>
                <a:cs typeface="Calibri" pitchFamily="34" charset="-120"/>
              </a:rPr>
              <a:t>Three arteries pump blood in, but only one vein drains it out! Perinatal stress triggers massive venous congestion and hemorrhage.</a:t>
            </a:r>
            <a:endParaRPr lang="en-US" sz="10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ADRENAL MORPHOGENESIS • HEMORRHAGE VS. NEUROBLASTOMA</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Adrenal Hemorrhage vs. Neuroblastoma: Serial Ultrasound</a:t>
            </a:r>
            <a:endParaRPr lang="en-US" sz="2300" dirty="0"/>
          </a:p>
        </p:txBody>
      </p:sp>
      <p:sp>
        <p:nvSpPr>
          <p:cNvPr id="5" name="Shape 3"/>
          <p:cNvSpPr/>
          <p:nvPr/>
        </p:nvSpPr>
        <p:spPr>
          <a:xfrm>
            <a:off x="731520" y="1554480"/>
            <a:ext cx="10725912" cy="4023360"/>
          </a:xfrm>
          <a:prstGeom prst="rect">
            <a:avLst/>
          </a:prstGeom>
          <a:solidFill>
            <a:srgbClr val="FFFFFF"/>
          </a:solidFill>
          <a:ln w="15240">
            <a:solidFill>
              <a:srgbClr val="CBD5E1"/>
            </a:solidFill>
            <a:prstDash val="solid"/>
          </a:ln>
        </p:spPr>
      </p:sp>
      <p:sp>
        <p:nvSpPr>
          <p:cNvPr id="6" name="Shape 4"/>
          <p:cNvSpPr/>
          <p:nvPr/>
        </p:nvSpPr>
        <p:spPr>
          <a:xfrm>
            <a:off x="731520" y="1554480"/>
            <a:ext cx="10725912" cy="411480"/>
          </a:xfrm>
          <a:prstGeom prst="rect">
            <a:avLst/>
          </a:prstGeom>
          <a:solidFill>
            <a:srgbClr val="881337"/>
          </a:solidFill>
          <a:ln/>
        </p:spPr>
      </p:sp>
      <p:sp>
        <p:nvSpPr>
          <p:cNvPr id="7" name="Text 5"/>
          <p:cNvSpPr/>
          <p:nvPr/>
        </p:nvSpPr>
        <p:spPr>
          <a:xfrm>
            <a:off x="914400" y="155448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SERIAL SONOGRAPHIC EVOLUTION OVER 4 WEEKS</a:t>
            </a:r>
            <a:endParaRPr lang="en-US" sz="1250" dirty="0"/>
          </a:p>
        </p:txBody>
      </p:sp>
      <p:sp>
        <p:nvSpPr>
          <p:cNvPr id="8" name="Text 6"/>
          <p:cNvSpPr/>
          <p:nvPr/>
        </p:nvSpPr>
        <p:spPr>
          <a:xfrm>
            <a:off x="960120" y="2057400"/>
            <a:ext cx="10268712" cy="342900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Adrenal Hemorrhage Evolution: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 Acute: Solid, hyperechoic avascular suprarenal mass.
• 1–2 Weeks: Liquefies into a complex cystic mass with internal septations.
• 3–4 Weeks: Rapid shrinkage, becoming completely anechoic.
• Late: Rim or punctate calcifications with restoration of normal adrenal contour.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Neuroblastoma (Neural Crest Malignancy):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Persistent solid internal vascularity on Doppler; stable or growing in size; encases vessels without luminal narrowing; liver metastases ('pepper syndrome'). Urinary VMA/HVA elevated.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The Serial Ultrasound Rule: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Never rush to resect a neonatal suprarenal mass! Perform serial ultrasound at 1, 2, and 4 weeks: a hematoma liquefies and shrinks, while a neuroblastoma persists.
</a:t>
            </a:r>
            <a:endParaRPr lang="en-US" sz="1350" dirty="0"/>
          </a:p>
        </p:txBody>
      </p:sp>
      <p:sp>
        <p:nvSpPr>
          <p:cNvPr id="9" name="Shape 7"/>
          <p:cNvSpPr/>
          <p:nvPr/>
        </p:nvSpPr>
        <p:spPr>
          <a:xfrm>
            <a:off x="731520" y="5715000"/>
            <a:ext cx="10725912" cy="621792"/>
          </a:xfrm>
          <a:prstGeom prst="rect">
            <a:avLst/>
          </a:prstGeom>
          <a:solidFill>
            <a:srgbClr val="FEF2F2"/>
          </a:solidFill>
          <a:ln w="15240">
            <a:solidFill>
              <a:srgbClr val="DC2626"/>
            </a:solidFill>
            <a:prstDash val="solid"/>
          </a:ln>
        </p:spPr>
      </p:sp>
      <p:sp>
        <p:nvSpPr>
          <p:cNvPr id="10" name="Text 8"/>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C2626"/>
                </a:solidFill>
                <a:latin typeface="Calibri" pitchFamily="34" charset="0"/>
                <a:ea typeface="Calibri" pitchFamily="34" charset="-122"/>
                <a:cs typeface="Calibri" pitchFamily="34" charset="-120"/>
              </a:rPr>
              <a:t>⚠️ RADIOLOGIST'S TRAP: </a:t>
            </a:r>
            <a:pPr indent="0" marL="0">
              <a:buNone/>
            </a:pPr>
            <a:r>
              <a:rPr lang="en-US" sz="1000" dirty="0">
                <a:solidFill>
                  <a:srgbClr val="0F172A"/>
                </a:solidFill>
                <a:latin typeface="Calibri" pitchFamily="34" charset="0"/>
                <a:ea typeface="Calibri" pitchFamily="34" charset="-122"/>
                <a:cs typeface="Calibri" pitchFamily="34" charset="-120"/>
              </a:rPr>
              <a:t>Never rush to biopsy or resect a neonatal suprarenal mass! Serial ultrasound confirms resolving hematoma by rapid liquefaction and shrinkage.</a:t>
            </a:r>
            <a:endParaRPr lang="en-US" sz="10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MÜLLERIAN DUCT MORPHOGENESIS • WEEKS 6–12</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Müllerian Duct Morphogenesis: 3 Critical Phases</a:t>
            </a:r>
            <a:endParaRPr lang="en-US" sz="2300" dirty="0"/>
          </a:p>
        </p:txBody>
      </p:sp>
      <p:sp>
        <p:nvSpPr>
          <p:cNvPr id="5" name="Shape 3"/>
          <p:cNvSpPr/>
          <p:nvPr/>
        </p:nvSpPr>
        <p:spPr>
          <a:xfrm>
            <a:off x="731520" y="1463040"/>
            <a:ext cx="10725912" cy="594360"/>
          </a:xfrm>
          <a:prstGeom prst="rect">
            <a:avLst/>
          </a:prstGeom>
          <a:solidFill>
            <a:srgbClr val="F0F9FF"/>
          </a:solidFill>
          <a:ln w="15240">
            <a:solidFill>
              <a:srgbClr val="0284C7"/>
            </a:solidFill>
            <a:prstDash val="solid"/>
          </a:ln>
        </p:spPr>
      </p:sp>
      <p:sp>
        <p:nvSpPr>
          <p:cNvPr id="6" name="Text 4"/>
          <p:cNvSpPr/>
          <p:nvPr/>
        </p:nvSpPr>
        <p:spPr>
          <a:xfrm>
            <a:off x="868680" y="1481328"/>
            <a:ext cx="10451592" cy="557784"/>
          </a:xfrm>
          <a:prstGeom prst="rect">
            <a:avLst/>
          </a:prstGeom>
          <a:noFill/>
          <a:ln/>
        </p:spPr>
        <p:txBody>
          <a:bodyPr wrap="square"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CLINICAL WORKSTATION HOOK: </a:t>
            </a:r>
            <a:pPr indent="0" marL="0">
              <a:buNone/>
            </a:pPr>
            <a:r>
              <a:rPr lang="en-US" sz="1100" i="1" dirty="0">
                <a:solidFill>
                  <a:srgbClr val="0F172A"/>
                </a:solidFill>
                <a:latin typeface="Calibri" pitchFamily="34" charset="0"/>
                <a:ea typeface="Calibri" pitchFamily="34" charset="-122"/>
                <a:cs typeface="Calibri" pitchFamily="34" charset="-120"/>
              </a:rPr>
              <a:t>Two patients present with recurrent miscarriages and a bifurcated cavity on HSG. Why does one get scheduled for day-surgery metroplasty while the other is strictly forbidden from surgery?</a:t>
            </a:r>
            <a:endParaRPr lang="en-US" sz="1100" dirty="0"/>
          </a:p>
        </p:txBody>
      </p:sp>
      <p:sp>
        <p:nvSpPr>
          <p:cNvPr id="7" name="Shape 5"/>
          <p:cNvSpPr/>
          <p:nvPr/>
        </p:nvSpPr>
        <p:spPr>
          <a:xfrm>
            <a:off x="731520" y="2194560"/>
            <a:ext cx="10725912" cy="3383280"/>
          </a:xfrm>
          <a:prstGeom prst="rect">
            <a:avLst/>
          </a:prstGeom>
          <a:solidFill>
            <a:srgbClr val="FFFFFF"/>
          </a:solidFill>
          <a:ln w="15240">
            <a:solidFill>
              <a:srgbClr val="CBD5E1"/>
            </a:solidFill>
            <a:prstDash val="solid"/>
          </a:ln>
        </p:spPr>
      </p:sp>
      <p:sp>
        <p:nvSpPr>
          <p:cNvPr id="8" name="Shape 6"/>
          <p:cNvSpPr/>
          <p:nvPr/>
        </p:nvSpPr>
        <p:spPr>
          <a:xfrm>
            <a:off x="731520" y="2194560"/>
            <a:ext cx="10725912" cy="411480"/>
          </a:xfrm>
          <a:prstGeom prst="rect">
            <a:avLst/>
          </a:prstGeom>
          <a:solidFill>
            <a:srgbClr val="581C87"/>
          </a:solidFill>
          <a:ln/>
        </p:spPr>
      </p:sp>
      <p:sp>
        <p:nvSpPr>
          <p:cNvPr id="9" name="Text 7"/>
          <p:cNvSpPr/>
          <p:nvPr/>
        </p:nvSpPr>
        <p:spPr>
          <a:xfrm>
            <a:off x="914400" y="219456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ELONGATION, FUSION, AND SEPTAL RESORPTION</a:t>
            </a:r>
            <a:endParaRPr lang="en-US" sz="1250" dirty="0"/>
          </a:p>
        </p:txBody>
      </p:sp>
      <p:sp>
        <p:nvSpPr>
          <p:cNvPr id="10" name="Text 8"/>
          <p:cNvSpPr/>
          <p:nvPr/>
        </p:nvSpPr>
        <p:spPr>
          <a:xfrm>
            <a:off x="960120" y="2697480"/>
            <a:ext cx="10268712" cy="278892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Phase 1: Organogenesis &amp; Elongation (Wks 6–7):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Paired paramesonephric (Müllerian) ducts sprout and elongate caudally along the mesonephric ducts.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Phase 2: Lateral Fusion (Wks 7–9):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The two Müllerian ducts meet in the midline and fuse at the uterovaginal canal, creating a single uterus with a temporary midline intervening septum.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Phase 3: Septal Resorption (Wks 9–12):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The intervening midline septum undergoes programmed apoptosis and resorbs from caudal to cranial, creating a single unified endometrial cavity.
</a:t>
            </a:r>
            <a:endParaRPr lang="en-US" sz="1350" dirty="0"/>
          </a:p>
        </p:txBody>
      </p:sp>
      <p:sp>
        <p:nvSpPr>
          <p:cNvPr id="11" name="Shape 9"/>
          <p:cNvSpPr/>
          <p:nvPr/>
        </p:nvSpPr>
        <p:spPr>
          <a:xfrm>
            <a:off x="731520" y="5715000"/>
            <a:ext cx="10725912" cy="621792"/>
          </a:xfrm>
          <a:prstGeom prst="rect">
            <a:avLst/>
          </a:prstGeom>
          <a:solidFill>
            <a:srgbClr val="FFFBEB"/>
          </a:solidFill>
          <a:ln w="15240">
            <a:solidFill>
              <a:srgbClr val="D97706"/>
            </a:solidFill>
            <a:prstDash val="solid"/>
          </a:ln>
        </p:spPr>
      </p:sp>
      <p:sp>
        <p:nvSpPr>
          <p:cNvPr id="12" name="Text 10"/>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97706"/>
                </a:solidFill>
                <a:latin typeface="Calibri" pitchFamily="34" charset="0"/>
                <a:ea typeface="Calibri" pitchFamily="34" charset="-122"/>
                <a:cs typeface="Calibri" pitchFamily="34" charset="-120"/>
              </a:rPr>
              <a:t>💡 RADIOLOGY PEARL: </a:t>
            </a:r>
            <a:pPr indent="0" marL="0">
              <a:buNone/>
            </a:pPr>
            <a:r>
              <a:rPr lang="en-US" sz="1000" dirty="0">
                <a:solidFill>
                  <a:srgbClr val="0F172A"/>
                </a:solidFill>
                <a:latin typeface="Calibri" pitchFamily="34" charset="0"/>
                <a:ea typeface="Calibri" pitchFamily="34" charset="-122"/>
                <a:cs typeface="Calibri" pitchFamily="34" charset="-120"/>
              </a:rPr>
              <a:t>Bicornuate uterus is failure of Phase 2 (Lateral Fusion); Septate uterus is failure of Phase 3 (Apoptotic Septal Resorption).</a:t>
            </a:r>
            <a:endParaRPr lang="en-US" sz="10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MÜLLERIAN ANOMALIES • ASRM 2021 CRITERIA</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Bicornuate vs. Septate Uterus: The Serosal Contour Rule</a:t>
            </a:r>
            <a:endParaRPr lang="en-US" sz="2300" dirty="0"/>
          </a:p>
        </p:txBody>
      </p:sp>
      <p:sp>
        <p:nvSpPr>
          <p:cNvPr id="5" name="Shape 3"/>
          <p:cNvSpPr/>
          <p:nvPr/>
        </p:nvSpPr>
        <p:spPr>
          <a:xfrm>
            <a:off x="731520" y="1554480"/>
            <a:ext cx="10725912" cy="4023360"/>
          </a:xfrm>
          <a:prstGeom prst="rect">
            <a:avLst/>
          </a:prstGeom>
          <a:solidFill>
            <a:srgbClr val="FFFFFF"/>
          </a:solidFill>
          <a:ln w="15240">
            <a:solidFill>
              <a:srgbClr val="CBD5E1"/>
            </a:solidFill>
            <a:prstDash val="solid"/>
          </a:ln>
        </p:spPr>
      </p:sp>
      <p:sp>
        <p:nvSpPr>
          <p:cNvPr id="6" name="Shape 4"/>
          <p:cNvSpPr/>
          <p:nvPr/>
        </p:nvSpPr>
        <p:spPr>
          <a:xfrm>
            <a:off x="731520" y="1554480"/>
            <a:ext cx="10725912" cy="411480"/>
          </a:xfrm>
          <a:prstGeom prst="rect">
            <a:avLst/>
          </a:prstGeom>
          <a:solidFill>
            <a:srgbClr val="0369A1"/>
          </a:solidFill>
          <a:ln/>
        </p:spPr>
      </p:sp>
      <p:sp>
        <p:nvSpPr>
          <p:cNvPr id="7" name="Text 5"/>
          <p:cNvSpPr/>
          <p:nvPr/>
        </p:nvSpPr>
        <p:spPr>
          <a:xfrm>
            <a:off x="914400" y="155448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ASRM 2021 GUIDELINES &amp; SURGICAL METROPLASTY RULES</a:t>
            </a:r>
            <a:endParaRPr lang="en-US" sz="1250" dirty="0"/>
          </a:p>
        </p:txBody>
      </p:sp>
      <p:sp>
        <p:nvSpPr>
          <p:cNvPr id="8" name="Text 6"/>
          <p:cNvSpPr/>
          <p:nvPr/>
        </p:nvSpPr>
        <p:spPr>
          <a:xfrm>
            <a:off x="960120" y="2057400"/>
            <a:ext cx="10268712" cy="342900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Bicornuate Uterus (Fusion Failure):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Two separate uterine horns with TWO SEPARATE external fundal myometrial crowns. ASRM 2021 Metric: External fundal serosal cleft &gt;= 1.0 cm (10 mm) below intercornual line. Wide intercornual angle (&gt;105°). NO METROPLASTY (incising fundus perforates peritoneal cavity)!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Septate Uterus (Resorption Failure):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Single external fundus (cleft &lt; 1.0 cm). Internal partition of avascular fibroelastic tissue causes recurrent early abortions (60–80%). Resected via day-surgery Hysteroscopic Metroplasty (restores term birth to &gt;80%).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The HSG Medical-Legal Trap: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Hysterosalpingography (HSG) only opacifies the internal lumen and CANNOT see the external fundal serosa! Never diagnose bicornuate uterus on HSG alone—always perform 3D US or pelvic MRI.
</a:t>
            </a:r>
            <a:endParaRPr lang="en-US" sz="1350" dirty="0"/>
          </a:p>
        </p:txBody>
      </p:sp>
      <p:sp>
        <p:nvSpPr>
          <p:cNvPr id="9" name="Shape 7"/>
          <p:cNvSpPr/>
          <p:nvPr/>
        </p:nvSpPr>
        <p:spPr>
          <a:xfrm>
            <a:off x="731520" y="5715000"/>
            <a:ext cx="10725912" cy="621792"/>
          </a:xfrm>
          <a:prstGeom prst="rect">
            <a:avLst/>
          </a:prstGeom>
          <a:solidFill>
            <a:srgbClr val="FEF2F2"/>
          </a:solidFill>
          <a:ln w="15240">
            <a:solidFill>
              <a:srgbClr val="DC2626"/>
            </a:solidFill>
            <a:prstDash val="solid"/>
          </a:ln>
        </p:spPr>
      </p:sp>
      <p:sp>
        <p:nvSpPr>
          <p:cNvPr id="10" name="Text 8"/>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C2626"/>
                </a:solidFill>
                <a:latin typeface="Calibri" pitchFamily="34" charset="0"/>
                <a:ea typeface="Calibri" pitchFamily="34" charset="-122"/>
                <a:cs typeface="Calibri" pitchFamily="34" charset="-120"/>
              </a:rPr>
              <a:t>⚠️ RADIOLOGIST'S TRAP: </a:t>
            </a:r>
            <a:pPr indent="0" marL="0">
              <a:buNone/>
            </a:pPr>
            <a:r>
              <a:rPr lang="en-US" sz="1000" dirty="0">
                <a:solidFill>
                  <a:srgbClr val="0F172A"/>
                </a:solidFill>
                <a:latin typeface="Calibri" pitchFamily="34" charset="0"/>
                <a:ea typeface="Calibri" pitchFamily="34" charset="-122"/>
                <a:cs typeface="Calibri" pitchFamily="34" charset="-120"/>
              </a:rPr>
              <a:t>Never diagnose bicornuate uterus on HSG alone! Fundal serosal cleft &gt;= 1.0 cm on 3D US/MRI = bicornuate; &lt; 1.0 cm = septate.</a:t>
            </a:r>
            <a:endParaRPr lang="en-US" sz="10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EXTERNAL GENITALIA • WEEKS 9–14</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The 9-Week Bipotential Divergence: The Indifferent Fetus</a:t>
            </a:r>
            <a:endParaRPr lang="en-US" sz="2300" dirty="0"/>
          </a:p>
        </p:txBody>
      </p:sp>
      <p:sp>
        <p:nvSpPr>
          <p:cNvPr id="5" name="Shape 3"/>
          <p:cNvSpPr/>
          <p:nvPr/>
        </p:nvSpPr>
        <p:spPr>
          <a:xfrm>
            <a:off x="731520" y="1463040"/>
            <a:ext cx="10725912" cy="594360"/>
          </a:xfrm>
          <a:prstGeom prst="rect">
            <a:avLst/>
          </a:prstGeom>
          <a:solidFill>
            <a:srgbClr val="F0F9FF"/>
          </a:solidFill>
          <a:ln w="15240">
            <a:solidFill>
              <a:srgbClr val="0284C7"/>
            </a:solidFill>
            <a:prstDash val="solid"/>
          </a:ln>
        </p:spPr>
      </p:sp>
      <p:sp>
        <p:nvSpPr>
          <p:cNvPr id="6" name="Text 4"/>
          <p:cNvSpPr/>
          <p:nvPr/>
        </p:nvSpPr>
        <p:spPr>
          <a:xfrm>
            <a:off x="868680" y="1481328"/>
            <a:ext cx="10451592" cy="557784"/>
          </a:xfrm>
          <a:prstGeom prst="rect">
            <a:avLst/>
          </a:prstGeom>
          <a:noFill/>
          <a:ln/>
        </p:spPr>
        <p:txBody>
          <a:bodyPr wrap="square"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CLINICAL WORKSTATION HOOK: </a:t>
            </a:r>
            <a:pPr indent="0" marL="0">
              <a:buNone/>
            </a:pPr>
            <a:r>
              <a:rPr lang="en-US" sz="1100" i="1" dirty="0">
                <a:solidFill>
                  <a:srgbClr val="0F172A"/>
                </a:solidFill>
                <a:latin typeface="Calibri" pitchFamily="34" charset="0"/>
                <a:ea typeface="Calibri" pitchFamily="34" charset="-122"/>
                <a:cs typeface="Calibri" pitchFamily="34" charset="-120"/>
              </a:rPr>
              <a:t>Up to 9 weeks, male and female external genitalia are completely identical. What local enzymatic switch governs virilization, and how does androgen excess produce ambiguous genitalia?</a:t>
            </a:r>
            <a:endParaRPr lang="en-US" sz="1100" dirty="0"/>
          </a:p>
        </p:txBody>
      </p:sp>
      <p:sp>
        <p:nvSpPr>
          <p:cNvPr id="7" name="Shape 5"/>
          <p:cNvSpPr/>
          <p:nvPr/>
        </p:nvSpPr>
        <p:spPr>
          <a:xfrm>
            <a:off x="731520" y="2194560"/>
            <a:ext cx="10725912" cy="3383280"/>
          </a:xfrm>
          <a:prstGeom prst="rect">
            <a:avLst/>
          </a:prstGeom>
          <a:solidFill>
            <a:srgbClr val="FFFFFF"/>
          </a:solidFill>
          <a:ln w="15240">
            <a:solidFill>
              <a:srgbClr val="CBD5E1"/>
            </a:solidFill>
            <a:prstDash val="solid"/>
          </a:ln>
        </p:spPr>
      </p:sp>
      <p:sp>
        <p:nvSpPr>
          <p:cNvPr id="8" name="Shape 6"/>
          <p:cNvSpPr/>
          <p:nvPr/>
        </p:nvSpPr>
        <p:spPr>
          <a:xfrm>
            <a:off x="731520" y="2194560"/>
            <a:ext cx="10725912" cy="411480"/>
          </a:xfrm>
          <a:prstGeom prst="rect">
            <a:avLst/>
          </a:prstGeom>
          <a:solidFill>
            <a:srgbClr val="0F172A"/>
          </a:solidFill>
          <a:ln/>
        </p:spPr>
      </p:sp>
      <p:sp>
        <p:nvSpPr>
          <p:cNvPr id="9" name="Text 7"/>
          <p:cNvSpPr/>
          <p:nvPr/>
        </p:nvSpPr>
        <p:spPr>
          <a:xfrm>
            <a:off x="914400" y="219456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THE INDIFFERENT PRIMORDIA &amp; THE DHT SWITCH</a:t>
            </a:r>
            <a:endParaRPr lang="en-US" sz="1250" dirty="0"/>
          </a:p>
        </p:txBody>
      </p:sp>
      <p:sp>
        <p:nvSpPr>
          <p:cNvPr id="10" name="Text 8"/>
          <p:cNvSpPr/>
          <p:nvPr/>
        </p:nvSpPr>
        <p:spPr>
          <a:xfrm>
            <a:off x="960120" y="2697480"/>
            <a:ext cx="10268712" cy="278892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Indifferent Primordia (Up to 9 Weeks):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 Genital Tubercle -&gt; forms glans clitoris or glans penis.
• Urogenital Folds -&gt; labia minora or ventral shaft of penis (penile urethra).
• Labioscrotal Swellings -&gt; labia majora or scrotum.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Male Virilization (The DHT Switch):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Testes secrete Testosterone, converted locally by 5alpha-reductase into DIHYDROTESTOSTERONE (DHT) -&gt; drives midline fusion of labioscrotal folds and penile urethral closure.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Female Differentiation: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Absence of DHT -&gt; folds remain completely unfused, forming labia majora and minora with separate urethral and vaginal orifices.
</a:t>
            </a:r>
            <a:endParaRPr lang="en-US" sz="1350" dirty="0"/>
          </a:p>
        </p:txBody>
      </p:sp>
      <p:sp>
        <p:nvSpPr>
          <p:cNvPr id="11" name="Shape 9"/>
          <p:cNvSpPr/>
          <p:nvPr/>
        </p:nvSpPr>
        <p:spPr>
          <a:xfrm>
            <a:off x="731520" y="5715000"/>
            <a:ext cx="10725912" cy="621792"/>
          </a:xfrm>
          <a:prstGeom prst="rect">
            <a:avLst/>
          </a:prstGeom>
          <a:solidFill>
            <a:srgbClr val="FFFBEB"/>
          </a:solidFill>
          <a:ln w="15240">
            <a:solidFill>
              <a:srgbClr val="D97706"/>
            </a:solidFill>
            <a:prstDash val="solid"/>
          </a:ln>
        </p:spPr>
      </p:sp>
      <p:sp>
        <p:nvSpPr>
          <p:cNvPr id="12" name="Text 10"/>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97706"/>
                </a:solidFill>
                <a:latin typeface="Calibri" pitchFamily="34" charset="0"/>
                <a:ea typeface="Calibri" pitchFamily="34" charset="-122"/>
                <a:cs typeface="Calibri" pitchFamily="34" charset="-120"/>
              </a:rPr>
              <a:t>💡 RADIOLOGY PEARL: </a:t>
            </a:r>
            <a:pPr indent="0" marL="0">
              <a:buNone/>
            </a:pPr>
            <a:r>
              <a:rPr lang="en-US" sz="1000" dirty="0">
                <a:solidFill>
                  <a:srgbClr val="0F172A"/>
                </a:solidFill>
                <a:latin typeface="Calibri" pitchFamily="34" charset="0"/>
                <a:ea typeface="Calibri" pitchFamily="34" charset="-122"/>
                <a:cs typeface="Calibri" pitchFamily="34" charset="-120"/>
              </a:rPr>
              <a:t>Testosterone is converted locally by 5alpha-reductase into DHT, the obligate hormone for midline fusion of male external genitalia.</a:t>
            </a:r>
            <a:endParaRPr lang="en-US" sz="10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EXTERNAL GENITALIA • CAH &amp; HYPOSPADIAS</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CAH 'Wavy Adrenals' &amp; The Hypospadias 'Tulip Sign'</a:t>
            </a:r>
            <a:endParaRPr lang="en-US" sz="2300" dirty="0"/>
          </a:p>
        </p:txBody>
      </p:sp>
      <p:sp>
        <p:nvSpPr>
          <p:cNvPr id="5" name="Shape 3"/>
          <p:cNvSpPr/>
          <p:nvPr/>
        </p:nvSpPr>
        <p:spPr>
          <a:xfrm>
            <a:off x="731520" y="1554480"/>
            <a:ext cx="10725912" cy="4023360"/>
          </a:xfrm>
          <a:prstGeom prst="rect">
            <a:avLst/>
          </a:prstGeom>
          <a:solidFill>
            <a:srgbClr val="FFFFFF"/>
          </a:solidFill>
          <a:ln w="15240">
            <a:solidFill>
              <a:srgbClr val="CBD5E1"/>
            </a:solidFill>
            <a:prstDash val="solid"/>
          </a:ln>
        </p:spPr>
      </p:sp>
      <p:sp>
        <p:nvSpPr>
          <p:cNvPr id="6" name="Shape 4"/>
          <p:cNvSpPr/>
          <p:nvPr/>
        </p:nvSpPr>
        <p:spPr>
          <a:xfrm>
            <a:off x="731520" y="1554480"/>
            <a:ext cx="10725912" cy="411480"/>
          </a:xfrm>
          <a:prstGeom prst="rect">
            <a:avLst/>
          </a:prstGeom>
          <a:solidFill>
            <a:srgbClr val="065F46"/>
          </a:solidFill>
          <a:ln/>
        </p:spPr>
      </p:sp>
      <p:sp>
        <p:nvSpPr>
          <p:cNvPr id="7" name="Text 5"/>
          <p:cNvSpPr/>
          <p:nvPr/>
        </p:nvSpPr>
        <p:spPr>
          <a:xfrm>
            <a:off x="914400" y="155448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46,XX VIRILIZATION &amp; INCOMPLETE VENTRAL FUSION</a:t>
            </a:r>
            <a:endParaRPr lang="en-US" sz="1250" dirty="0"/>
          </a:p>
        </p:txBody>
      </p:sp>
      <p:sp>
        <p:nvSpPr>
          <p:cNvPr id="8" name="Text 6"/>
          <p:cNvSpPr/>
          <p:nvPr/>
        </p:nvSpPr>
        <p:spPr>
          <a:xfrm>
            <a:off x="960120" y="2057400"/>
            <a:ext cx="10268712" cy="342900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CAH (21-Hydroxylase Deficiency):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46,XX fetus exposed to massive endogenous adrenal androgens -&gt; ambiguous virilization (clitoromegaly, labial fusion, scrotalization).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The 'Wrinkled / Wavy Adrenal' Sign: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In CAH, loss of cortisol negative feedback stimulates massive ACTH release -&gt; severe bilateral cortical hyperplasia, producing cerebriform folded cortices on prenatal US.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Hypospadias &amp; The 'Tulip Sign':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Failure of complete midline fusion of urogenital folds along ventral penile shaft. Ultrasound shows blunt, curved penis bent between unfused hooded prepuce and bifid scrotum, mimicking a tulip flower.
</a:t>
            </a:r>
            <a:endParaRPr lang="en-US" sz="1350" dirty="0"/>
          </a:p>
        </p:txBody>
      </p:sp>
      <p:sp>
        <p:nvSpPr>
          <p:cNvPr id="9" name="Shape 7"/>
          <p:cNvSpPr/>
          <p:nvPr/>
        </p:nvSpPr>
        <p:spPr>
          <a:xfrm>
            <a:off x="731520" y="5715000"/>
            <a:ext cx="10725912" cy="621792"/>
          </a:xfrm>
          <a:prstGeom prst="rect">
            <a:avLst/>
          </a:prstGeom>
          <a:solidFill>
            <a:srgbClr val="FEF2F2"/>
          </a:solidFill>
          <a:ln w="15240">
            <a:solidFill>
              <a:srgbClr val="DC2626"/>
            </a:solidFill>
            <a:prstDash val="solid"/>
          </a:ln>
        </p:spPr>
      </p:sp>
      <p:sp>
        <p:nvSpPr>
          <p:cNvPr id="10" name="Text 8"/>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C2626"/>
                </a:solidFill>
                <a:latin typeface="Calibri" pitchFamily="34" charset="0"/>
                <a:ea typeface="Calibri" pitchFamily="34" charset="-122"/>
                <a:cs typeface="Calibri" pitchFamily="34" charset="-120"/>
              </a:rPr>
              <a:t>⚠️ RADIOLOGIST'S TRAP: </a:t>
            </a:r>
            <a:pPr indent="0" marL="0">
              <a:buNone/>
            </a:pPr>
            <a:r>
              <a:rPr lang="en-US" sz="1000" dirty="0">
                <a:solidFill>
                  <a:srgbClr val="0F172A"/>
                </a:solidFill>
                <a:latin typeface="Calibri" pitchFamily="34" charset="0"/>
                <a:ea typeface="Calibri" pitchFamily="34" charset="-122"/>
                <a:cs typeface="Calibri" pitchFamily="34" charset="-120"/>
              </a:rPr>
              <a:t>Ambiguous genitalia + bilateral cerebriform 'wavy' adrenals = 46,XX CAH (urgent salt-wasting crisis risk at birth!).</a:t>
            </a:r>
            <a:endParaRPr lang="en-US"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DSD INTERNAL DUCTS • THE AMH SWITCH</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Disorders of Sex Development: The AMH Switch</a:t>
            </a:r>
            <a:endParaRPr lang="en-US" sz="2300" dirty="0"/>
          </a:p>
        </p:txBody>
      </p:sp>
      <p:sp>
        <p:nvSpPr>
          <p:cNvPr id="5" name="Shape 3"/>
          <p:cNvSpPr/>
          <p:nvPr/>
        </p:nvSpPr>
        <p:spPr>
          <a:xfrm>
            <a:off x="731520" y="1463040"/>
            <a:ext cx="10725912" cy="594360"/>
          </a:xfrm>
          <a:prstGeom prst="rect">
            <a:avLst/>
          </a:prstGeom>
          <a:solidFill>
            <a:srgbClr val="F0F9FF"/>
          </a:solidFill>
          <a:ln w="15240">
            <a:solidFill>
              <a:srgbClr val="0284C7"/>
            </a:solidFill>
            <a:prstDash val="solid"/>
          </a:ln>
        </p:spPr>
      </p:sp>
      <p:sp>
        <p:nvSpPr>
          <p:cNvPr id="6" name="Text 4"/>
          <p:cNvSpPr/>
          <p:nvPr/>
        </p:nvSpPr>
        <p:spPr>
          <a:xfrm>
            <a:off x="868680" y="1481328"/>
            <a:ext cx="10451592" cy="557784"/>
          </a:xfrm>
          <a:prstGeom prst="rect">
            <a:avLst/>
          </a:prstGeom>
          <a:noFill/>
          <a:ln/>
        </p:spPr>
        <p:txBody>
          <a:bodyPr wrap="square"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CLINICAL WORKSTATION HOOK: </a:t>
            </a:r>
            <a:pPr indent="0" marL="0">
              <a:buNone/>
            </a:pPr>
            <a:r>
              <a:rPr lang="en-US" sz="1100" i="1" dirty="0">
                <a:solidFill>
                  <a:srgbClr val="0F172A"/>
                </a:solidFill>
                <a:latin typeface="Calibri" pitchFamily="34" charset="0"/>
                <a:ea typeface="Calibri" pitchFamily="34" charset="-122"/>
                <a:cs typeface="Calibri" pitchFamily="34" charset="-120"/>
              </a:rPr>
              <a:t>Three adolescent phenotypic females present with primary amenorrhea and a blind-ending vagina. Why does one have testes, the second has ovaries, and the third has a uterus but streak gonads destined for malignancy?</a:t>
            </a:r>
            <a:endParaRPr lang="en-US" sz="1100" dirty="0"/>
          </a:p>
        </p:txBody>
      </p:sp>
      <p:sp>
        <p:nvSpPr>
          <p:cNvPr id="7" name="Shape 5"/>
          <p:cNvSpPr/>
          <p:nvPr/>
        </p:nvSpPr>
        <p:spPr>
          <a:xfrm>
            <a:off x="731520" y="2194560"/>
            <a:ext cx="10725912" cy="3383280"/>
          </a:xfrm>
          <a:prstGeom prst="rect">
            <a:avLst/>
          </a:prstGeom>
          <a:solidFill>
            <a:srgbClr val="FFFFFF"/>
          </a:solidFill>
          <a:ln w="15240">
            <a:solidFill>
              <a:srgbClr val="CBD5E1"/>
            </a:solidFill>
            <a:prstDash val="solid"/>
          </a:ln>
        </p:spPr>
      </p:sp>
      <p:sp>
        <p:nvSpPr>
          <p:cNvPr id="8" name="Shape 6"/>
          <p:cNvSpPr/>
          <p:nvPr/>
        </p:nvSpPr>
        <p:spPr>
          <a:xfrm>
            <a:off x="731520" y="2194560"/>
            <a:ext cx="10725912" cy="411480"/>
          </a:xfrm>
          <a:prstGeom prst="rect">
            <a:avLst/>
          </a:prstGeom>
          <a:solidFill>
            <a:srgbClr val="1E3A8A"/>
          </a:solidFill>
          <a:ln/>
        </p:spPr>
      </p:sp>
      <p:sp>
        <p:nvSpPr>
          <p:cNvPr id="9" name="Text 7"/>
          <p:cNvSpPr/>
          <p:nvPr/>
        </p:nvSpPr>
        <p:spPr>
          <a:xfrm>
            <a:off x="914400" y="219456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INTERNAL GENITAL DUCT REGULATION</a:t>
            </a:r>
            <a:endParaRPr lang="en-US" sz="1250" dirty="0"/>
          </a:p>
        </p:txBody>
      </p:sp>
      <p:sp>
        <p:nvSpPr>
          <p:cNvPr id="10" name="Text 8"/>
          <p:cNvSpPr/>
          <p:nvPr/>
        </p:nvSpPr>
        <p:spPr>
          <a:xfrm>
            <a:off x="960120" y="2697480"/>
            <a:ext cx="10268712" cy="278892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The Two Embryonic Ducts: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 Paramesonephric (Müllerian) Ducts: form fallopian tubes, uterus, cervix, and upper 2/3 vagina.
• Mesonephric (Wolffian) Ducts: form epididymis, vas deferens, and seminal vesicles.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Anti-Müllerian Hormone (AMH):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Secreted by testicular Sertoli cells -&gt; destroys Müllerian ducts. If AMH is absent or non-functional, a UTERUS INVARIABLY FORMS!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Testosterone: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Secreted by testicular Leydig cells -&gt; stabilizes Wolffian ducts.
</a:t>
            </a:r>
            <a:endParaRPr lang="en-US" sz="1350" dirty="0"/>
          </a:p>
        </p:txBody>
      </p:sp>
      <p:sp>
        <p:nvSpPr>
          <p:cNvPr id="11" name="Shape 9"/>
          <p:cNvSpPr/>
          <p:nvPr/>
        </p:nvSpPr>
        <p:spPr>
          <a:xfrm>
            <a:off x="731520" y="5715000"/>
            <a:ext cx="10725912" cy="621792"/>
          </a:xfrm>
          <a:prstGeom prst="rect">
            <a:avLst/>
          </a:prstGeom>
          <a:solidFill>
            <a:srgbClr val="FFFBEB"/>
          </a:solidFill>
          <a:ln w="15240">
            <a:solidFill>
              <a:srgbClr val="D97706"/>
            </a:solidFill>
            <a:prstDash val="solid"/>
          </a:ln>
        </p:spPr>
      </p:sp>
      <p:sp>
        <p:nvSpPr>
          <p:cNvPr id="12" name="Text 10"/>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97706"/>
                </a:solidFill>
                <a:latin typeface="Calibri" pitchFamily="34" charset="0"/>
                <a:ea typeface="Calibri" pitchFamily="34" charset="-122"/>
                <a:cs typeface="Calibri" pitchFamily="34" charset="-120"/>
              </a:rPr>
              <a:t>💡 RADIOLOGY PEARL: </a:t>
            </a:r>
            <a:pPr indent="0" marL="0">
              <a:buNone/>
            </a:pPr>
            <a:r>
              <a:rPr lang="en-US" sz="1000" dirty="0">
                <a:solidFill>
                  <a:srgbClr val="0F172A"/>
                </a:solidFill>
                <a:latin typeface="Calibri" pitchFamily="34" charset="0"/>
                <a:ea typeface="Calibri" pitchFamily="34" charset="-122"/>
                <a:cs typeface="Calibri" pitchFamily="34" charset="-120"/>
              </a:rPr>
              <a:t>AMH from Sertoli cells destroys the uterus. If testes fail to make AMH, a uterus WILL form, regardless of whether the karyotype is 46,XX or 46,XY!</a:t>
            </a:r>
            <a:endParaRPr lang="en-US" sz="10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46,XY DSD • CAIS VS. MRKH VS. SWYER</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DSD Triad: CAIS (46,XY) vs. MRKH (46,XX) vs. Swyer (46,XY)</a:t>
            </a:r>
            <a:endParaRPr lang="en-US" sz="2300" dirty="0"/>
          </a:p>
        </p:txBody>
      </p:sp>
      <p:sp>
        <p:nvSpPr>
          <p:cNvPr id="5" name="Shape 3"/>
          <p:cNvSpPr/>
          <p:nvPr/>
        </p:nvSpPr>
        <p:spPr>
          <a:xfrm>
            <a:off x="731520" y="1554480"/>
            <a:ext cx="10725912" cy="4023360"/>
          </a:xfrm>
          <a:prstGeom prst="rect">
            <a:avLst/>
          </a:prstGeom>
          <a:solidFill>
            <a:srgbClr val="FFFFFF"/>
          </a:solidFill>
          <a:ln w="15240">
            <a:solidFill>
              <a:srgbClr val="CBD5E1"/>
            </a:solidFill>
            <a:prstDash val="solid"/>
          </a:ln>
        </p:spPr>
      </p:sp>
      <p:sp>
        <p:nvSpPr>
          <p:cNvPr id="6" name="Shape 4"/>
          <p:cNvSpPr/>
          <p:nvPr/>
        </p:nvSpPr>
        <p:spPr>
          <a:xfrm>
            <a:off x="731520" y="1554480"/>
            <a:ext cx="10725912" cy="411480"/>
          </a:xfrm>
          <a:prstGeom prst="rect">
            <a:avLst/>
          </a:prstGeom>
          <a:solidFill>
            <a:srgbClr val="831843"/>
          </a:solidFill>
          <a:ln/>
        </p:spPr>
      </p:sp>
      <p:sp>
        <p:nvSpPr>
          <p:cNvPr id="7" name="Text 5"/>
          <p:cNvSpPr/>
          <p:nvPr/>
        </p:nvSpPr>
        <p:spPr>
          <a:xfrm>
            <a:off x="914400" y="155448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GENETIC MUTATIONS, UTERINE STATUS &amp; CANCER RISKS</a:t>
            </a:r>
            <a:endParaRPr lang="en-US" sz="1250" dirty="0"/>
          </a:p>
        </p:txBody>
      </p:sp>
      <p:sp>
        <p:nvSpPr>
          <p:cNvPr id="8" name="Text 6"/>
          <p:cNvSpPr/>
          <p:nvPr/>
        </p:nvSpPr>
        <p:spPr>
          <a:xfrm>
            <a:off x="960120" y="2057400"/>
            <a:ext cx="10268712" cy="342900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CAIS (46,XY - No Uterus):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Androgen Receptor (AR) mutation. Testes make AMH -&gt; uterus regresses! AR broken -&gt; Wolffian regresses; external female. Normal functional testes in abdomen/labia.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MRKH (46,XX - No Uterus):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Müllerian duct agenesis. Absent uterus/vagina, but NORMAL FERTILE OVARIES with follicles. MURCS association (renal agenesis) in 50%.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Swyer Syndrome (46,XY - UTERUS PRESENT!):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SRY mutation. Testes fail to form -&gt; NO AMH PRODUCED! Without AMH, the Müllerian ducts DO NOT regress -&gt; 46,XY female with a NORMAL UTERUS and cervix, but bilateral fibrous streak gonads. 25–30% risk of malignant Dysgerminoma / Gonadoblastoma!
</a:t>
            </a:r>
            <a:endParaRPr lang="en-US" sz="1350" dirty="0"/>
          </a:p>
        </p:txBody>
      </p:sp>
      <p:sp>
        <p:nvSpPr>
          <p:cNvPr id="9" name="Shape 7"/>
          <p:cNvSpPr/>
          <p:nvPr/>
        </p:nvSpPr>
        <p:spPr>
          <a:xfrm>
            <a:off x="731520" y="5715000"/>
            <a:ext cx="10725912" cy="621792"/>
          </a:xfrm>
          <a:prstGeom prst="rect">
            <a:avLst/>
          </a:prstGeom>
          <a:solidFill>
            <a:srgbClr val="FEF2F2"/>
          </a:solidFill>
          <a:ln w="15240">
            <a:solidFill>
              <a:srgbClr val="DC2626"/>
            </a:solidFill>
            <a:prstDash val="solid"/>
          </a:ln>
        </p:spPr>
      </p:sp>
      <p:sp>
        <p:nvSpPr>
          <p:cNvPr id="10" name="Text 8"/>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C2626"/>
                </a:solidFill>
                <a:latin typeface="Calibri" pitchFamily="34" charset="0"/>
                <a:ea typeface="Calibri" pitchFamily="34" charset="-122"/>
                <a:cs typeface="Calibri" pitchFamily="34" charset="-120"/>
              </a:rPr>
              <a:t>⚠️ RADIOLOGIST'S TRAP: </a:t>
            </a:r>
            <a:pPr indent="0" marL="0">
              <a:buNone/>
            </a:pPr>
            <a:r>
              <a:rPr lang="en-US" sz="1000" dirty="0">
                <a:solidFill>
                  <a:srgbClr val="0F172A"/>
                </a:solidFill>
                <a:latin typeface="Calibri" pitchFamily="34" charset="0"/>
                <a:ea typeface="Calibri" pitchFamily="34" charset="-122"/>
                <a:cs typeface="Calibri" pitchFamily="34" charset="-120"/>
              </a:rPr>
              <a:t>Swyer syndrome is a 46,XY female with a NORMAL UTERUS because no AMH was made! Prophylactic gonadectomy is mandatory due to 30% streak malignancy.</a:t>
            </a:r>
            <a:endParaRPr lang="en-US" sz="10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CONSOLE SYNTHESIS • PART 1</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The Radiologist's Embryology Survival Checklist: Rules 1 to 5</a:t>
            </a:r>
            <a:endParaRPr lang="en-US" sz="2300" dirty="0"/>
          </a:p>
        </p:txBody>
      </p:sp>
      <p:sp>
        <p:nvSpPr>
          <p:cNvPr id="5" name="Shape 3"/>
          <p:cNvSpPr/>
          <p:nvPr/>
        </p:nvSpPr>
        <p:spPr>
          <a:xfrm>
            <a:off x="731520" y="1554480"/>
            <a:ext cx="10725912" cy="4023360"/>
          </a:xfrm>
          <a:prstGeom prst="rect">
            <a:avLst/>
          </a:prstGeom>
          <a:solidFill>
            <a:srgbClr val="FFFFFF"/>
          </a:solidFill>
          <a:ln w="15240">
            <a:solidFill>
              <a:srgbClr val="CBD5E1"/>
            </a:solidFill>
            <a:prstDash val="solid"/>
          </a:ln>
        </p:spPr>
      </p:sp>
      <p:sp>
        <p:nvSpPr>
          <p:cNvPr id="6" name="Shape 4"/>
          <p:cNvSpPr/>
          <p:nvPr/>
        </p:nvSpPr>
        <p:spPr>
          <a:xfrm>
            <a:off x="731520" y="1554480"/>
            <a:ext cx="10725912" cy="411480"/>
          </a:xfrm>
          <a:prstGeom prst="rect">
            <a:avLst/>
          </a:prstGeom>
          <a:solidFill>
            <a:srgbClr val="1E3A8A"/>
          </a:solidFill>
          <a:ln/>
        </p:spPr>
      </p:sp>
      <p:sp>
        <p:nvSpPr>
          <p:cNvPr id="7" name="Text 5"/>
          <p:cNvSpPr/>
          <p:nvPr/>
        </p:nvSpPr>
        <p:spPr>
          <a:xfrm>
            <a:off x="914400" y="155448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5 ESSENTIAL RULES FOR DAILY REPORTING</a:t>
            </a:r>
            <a:endParaRPr lang="en-US" sz="1250" dirty="0"/>
          </a:p>
        </p:txBody>
      </p:sp>
      <p:sp>
        <p:nvSpPr>
          <p:cNvPr id="8" name="Text 6"/>
          <p:cNvSpPr/>
          <p:nvPr/>
        </p:nvSpPr>
        <p:spPr>
          <a:xfrm>
            <a:off x="960120" y="2057400"/>
            <a:ext cx="10268712" cy="342900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1. The 12.0-Week Cutoff: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Never call omphalocele before 12.0 wks GA (CRL &lt;= 45 mm) unless extracorporeal liver is present; physiological herniation is normal up to 11+6 wks!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2. The Skin Bridge Rule: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In gastroschisis, document the intact skin bridge separating the defect from the normal cord; in omphalocele, the cord inserts onto the sac apex.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3. Mandatory Lateral View: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In suspected malrotation, the DJ junction MUST cross midline and dive posteriorly on lateral fluoroscopy. Doppler is falsely normal in 20%!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4. Pyloric Continuity Test: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Demonstrate direct real-time fluid continuity through the pylorus before diagnosing duodenal atresia (30–40% Trisomy 21).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5. OEIS Bladder Paradox: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Non-visualized bladder + normal amniotic fluid = Cloacal Exstrophy / OEIS, NOT bilateral renal agenesis!
</a:t>
            </a:r>
            <a:endParaRPr lang="en-US" sz="1350" dirty="0"/>
          </a:p>
        </p:txBody>
      </p:sp>
      <p:sp>
        <p:nvSpPr>
          <p:cNvPr id="9" name="Shape 7"/>
          <p:cNvSpPr/>
          <p:nvPr/>
        </p:nvSpPr>
        <p:spPr>
          <a:xfrm>
            <a:off x="731520" y="5715000"/>
            <a:ext cx="10725912" cy="621792"/>
          </a:xfrm>
          <a:prstGeom prst="rect">
            <a:avLst/>
          </a:prstGeom>
          <a:solidFill>
            <a:srgbClr val="FFFBEB"/>
          </a:solidFill>
          <a:ln w="15240">
            <a:solidFill>
              <a:srgbClr val="D97706"/>
            </a:solidFill>
            <a:prstDash val="solid"/>
          </a:ln>
        </p:spPr>
      </p:sp>
      <p:sp>
        <p:nvSpPr>
          <p:cNvPr id="10" name="Text 8"/>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97706"/>
                </a:solidFill>
                <a:latin typeface="Calibri" pitchFamily="34" charset="0"/>
                <a:ea typeface="Calibri" pitchFamily="34" charset="-122"/>
                <a:cs typeface="Calibri" pitchFamily="34" charset="-120"/>
              </a:rPr>
              <a:t>💡 RADIOLOGY PEARL: </a:t>
            </a:r>
            <a:pPr indent="0" marL="0">
              <a:buNone/>
            </a:pPr>
            <a:r>
              <a:rPr lang="en-US" sz="1000" dirty="0">
                <a:solidFill>
                  <a:srgbClr val="0F172A"/>
                </a:solidFill>
                <a:latin typeface="Calibri" pitchFamily="34" charset="0"/>
                <a:ea typeface="Calibri" pitchFamily="34" charset="-122"/>
                <a:cs typeface="Calibri" pitchFamily="34" charset="-120"/>
              </a:rPr>
              <a:t>Commit these 5 golden rules to memory before clearing an abdominal wall or upper GI examination.</a:t>
            </a:r>
            <a:endParaRPr lang="en-US" sz="10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CONSOLE SYNTHESIS • PART 2</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The Radiologist's Embryology Survival Checklist: Rules 6 to 10</a:t>
            </a:r>
            <a:endParaRPr lang="en-US" sz="2300" dirty="0"/>
          </a:p>
        </p:txBody>
      </p:sp>
      <p:sp>
        <p:nvSpPr>
          <p:cNvPr id="5" name="Shape 3"/>
          <p:cNvSpPr/>
          <p:nvPr/>
        </p:nvSpPr>
        <p:spPr>
          <a:xfrm>
            <a:off x="731520" y="1554480"/>
            <a:ext cx="10725912" cy="4023360"/>
          </a:xfrm>
          <a:prstGeom prst="rect">
            <a:avLst/>
          </a:prstGeom>
          <a:solidFill>
            <a:srgbClr val="FFFFFF"/>
          </a:solidFill>
          <a:ln w="15240">
            <a:solidFill>
              <a:srgbClr val="CBD5E1"/>
            </a:solidFill>
            <a:prstDash val="solid"/>
          </a:ln>
        </p:spPr>
      </p:sp>
      <p:sp>
        <p:nvSpPr>
          <p:cNvPr id="6" name="Shape 4"/>
          <p:cNvSpPr/>
          <p:nvPr/>
        </p:nvSpPr>
        <p:spPr>
          <a:xfrm>
            <a:off x="731520" y="1554480"/>
            <a:ext cx="10725912" cy="411480"/>
          </a:xfrm>
          <a:prstGeom prst="rect">
            <a:avLst/>
          </a:prstGeom>
          <a:solidFill>
            <a:srgbClr val="0F766E"/>
          </a:solidFill>
          <a:ln/>
        </p:spPr>
      </p:sp>
      <p:sp>
        <p:nvSpPr>
          <p:cNvPr id="7" name="Text 5"/>
          <p:cNvSpPr/>
          <p:nvPr/>
        </p:nvSpPr>
        <p:spPr>
          <a:xfrm>
            <a:off x="914400" y="155448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5 ESSENTIAL RULES FOR PELVIC &amp; GENITOURINARY REPORTING</a:t>
            </a:r>
            <a:endParaRPr lang="en-US" sz="1250" dirty="0"/>
          </a:p>
        </p:txBody>
      </p:sp>
      <p:sp>
        <p:nvSpPr>
          <p:cNvPr id="8" name="Text 6"/>
          <p:cNvSpPr/>
          <p:nvPr/>
        </p:nvSpPr>
        <p:spPr>
          <a:xfrm>
            <a:off x="960120" y="2057400"/>
            <a:ext cx="10268712" cy="342900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6. Sacral Sickle in ARM: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In imperforate anus, check sacrum for 'scimitar sacrum' (Currarino / MNX1). Never needle-biopsy a presacral mass (anterior meningocele)!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7. Weigert-Meyer 'DUMI':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Upper pole inserts inferomedially (obstructs/ureterocele); lower pole superolaterally (refluxes). Look for continuous incontinence in girls.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8. Adrenal Autonomy: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Flat 'lying-down' adrenal confirms renal agenesis or ectopia. Interrogate aorta with Color Doppler to verify absent renal artery.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9. ASRM Fundal Serosa Rule: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Never diagnose bicornuate uterus on HSG alone. Fundal cleft &gt;= 1.0 cm on 3D US/MRI = bicornuate; &lt; 1.0 cm = septate (metroplasty).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10. Wavy Adrenals in DSD: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Ambiguous genitalia + cerebriform folded adrenals = 46,XX CAH. Urgent pediatric endocrinology alert for salt-wasting crisis!
</a:t>
            </a:r>
            <a:endParaRPr lang="en-US" sz="1350" dirty="0"/>
          </a:p>
        </p:txBody>
      </p:sp>
      <p:sp>
        <p:nvSpPr>
          <p:cNvPr id="9" name="Shape 7"/>
          <p:cNvSpPr/>
          <p:nvPr/>
        </p:nvSpPr>
        <p:spPr>
          <a:xfrm>
            <a:off x="731520" y="5715000"/>
            <a:ext cx="10725912" cy="621792"/>
          </a:xfrm>
          <a:prstGeom prst="rect">
            <a:avLst/>
          </a:prstGeom>
          <a:solidFill>
            <a:srgbClr val="FFFBEB"/>
          </a:solidFill>
          <a:ln w="15240">
            <a:solidFill>
              <a:srgbClr val="D97706"/>
            </a:solidFill>
            <a:prstDash val="solid"/>
          </a:ln>
        </p:spPr>
      </p:sp>
      <p:sp>
        <p:nvSpPr>
          <p:cNvPr id="10" name="Text 8"/>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97706"/>
                </a:solidFill>
                <a:latin typeface="Calibri" pitchFamily="34" charset="0"/>
                <a:ea typeface="Calibri" pitchFamily="34" charset="-122"/>
                <a:cs typeface="Calibri" pitchFamily="34" charset="-120"/>
              </a:rPr>
              <a:t>💡 RADIOLOGY PEARL: </a:t>
            </a:r>
            <a:pPr indent="0" marL="0">
              <a:buNone/>
            </a:pPr>
            <a:r>
              <a:rPr lang="en-US" sz="1000" dirty="0">
                <a:solidFill>
                  <a:srgbClr val="0F172A"/>
                </a:solidFill>
                <a:latin typeface="Calibri" pitchFamily="34" charset="0"/>
                <a:ea typeface="Calibri" pitchFamily="34" charset="-122"/>
                <a:cs typeface="Calibri" pitchFamily="34" charset="-120"/>
              </a:rPr>
              <a:t>These 10 rules will protect your patients from dangerous surgical misadventures and elevate your clinical reporting.</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731520" y="365760"/>
            <a:ext cx="5029200" cy="320040"/>
          </a:xfrm>
          <a:prstGeom prst="rect">
            <a:avLst/>
          </a:prstGeom>
          <a:solidFill>
            <a:srgbClr val="E0F2FE"/>
          </a:solidFill>
          <a:ln w="12700">
            <a:solidFill>
              <a:srgbClr val="BAE6FD"/>
            </a:solidFill>
            <a:prstDash val="solid"/>
          </a:ln>
        </p:spPr>
      </p:sp>
      <p:sp>
        <p:nvSpPr>
          <p:cNvPr id="3" name="Text 1"/>
          <p:cNvSpPr/>
          <p:nvPr/>
        </p:nvSpPr>
        <p:spPr>
          <a:xfrm>
            <a:off x="777240" y="365760"/>
            <a:ext cx="4937760" cy="320040"/>
          </a:xfrm>
          <a:prstGeom prst="rect">
            <a:avLst/>
          </a:prstGeom>
          <a:noFill/>
          <a:ln/>
        </p:spPr>
        <p:txBody>
          <a:bodyPr wrap="square" rtlCol="0" anchor="ctr"/>
          <a:lstStyle/>
          <a:p>
            <a:pPr indent="0" marL="0">
              <a:buNone/>
            </a:pPr>
            <a:r>
              <a:rPr lang="en-US" sz="1050" b="1" dirty="0">
                <a:solidFill>
                  <a:srgbClr val="0369A1"/>
                </a:solidFill>
                <a:latin typeface="Calibri" pitchFamily="34" charset="0"/>
                <a:ea typeface="Calibri" pitchFamily="34" charset="-122"/>
                <a:cs typeface="Calibri" pitchFamily="34" charset="-120"/>
              </a:rPr>
              <a:t>CONCLUSION &amp; FACULTY TAKEAWAY</a:t>
            </a:r>
            <a:endParaRPr lang="en-US" sz="1050" dirty="0"/>
          </a:p>
        </p:txBody>
      </p:sp>
      <p:sp>
        <p:nvSpPr>
          <p:cNvPr id="4" name="Text 2"/>
          <p:cNvSpPr/>
          <p:nvPr/>
        </p:nvSpPr>
        <p:spPr>
          <a:xfrm>
            <a:off x="731520" y="777240"/>
            <a:ext cx="10725912" cy="640080"/>
          </a:xfrm>
          <a:prstGeom prst="rect">
            <a:avLst/>
          </a:prstGeom>
          <a:noFill/>
          <a:ln/>
        </p:spPr>
        <p:txBody>
          <a:bodyPr wrap="square" rtlCol="0" anchor="t"/>
          <a:lstStyle/>
          <a:p>
            <a:pPr indent="0" marL="0">
              <a:buNone/>
            </a:pPr>
            <a:r>
              <a:rPr lang="en-US" sz="2300" b="1" dirty="0">
                <a:solidFill>
                  <a:srgbClr val="0A192F"/>
                </a:solidFill>
                <a:latin typeface="Calibri" pitchFamily="34" charset="0"/>
                <a:ea typeface="Calibri" pitchFamily="34" charset="-122"/>
                <a:cs typeface="Calibri" pitchFamily="34" charset="-120"/>
              </a:rPr>
              <a:t>Embryology for the Workstation: Final Conclusions</a:t>
            </a:r>
            <a:endParaRPr lang="en-US" sz="2300" dirty="0"/>
          </a:p>
        </p:txBody>
      </p:sp>
      <p:sp>
        <p:nvSpPr>
          <p:cNvPr id="5" name="Shape 3"/>
          <p:cNvSpPr/>
          <p:nvPr/>
        </p:nvSpPr>
        <p:spPr>
          <a:xfrm>
            <a:off x="731520" y="1554480"/>
            <a:ext cx="10725912" cy="4023360"/>
          </a:xfrm>
          <a:prstGeom prst="rect">
            <a:avLst/>
          </a:prstGeom>
          <a:solidFill>
            <a:srgbClr val="FFFFFF"/>
          </a:solidFill>
          <a:ln w="15240">
            <a:solidFill>
              <a:srgbClr val="CBD5E1"/>
            </a:solidFill>
            <a:prstDash val="solid"/>
          </a:ln>
        </p:spPr>
      </p:sp>
      <p:sp>
        <p:nvSpPr>
          <p:cNvPr id="6" name="Shape 4"/>
          <p:cNvSpPr/>
          <p:nvPr/>
        </p:nvSpPr>
        <p:spPr>
          <a:xfrm>
            <a:off x="731520" y="1554480"/>
            <a:ext cx="10725912" cy="411480"/>
          </a:xfrm>
          <a:prstGeom prst="rect">
            <a:avLst/>
          </a:prstGeom>
          <a:solidFill>
            <a:srgbClr val="0A192F"/>
          </a:solidFill>
          <a:ln/>
        </p:spPr>
      </p:sp>
      <p:sp>
        <p:nvSpPr>
          <p:cNvPr id="7" name="Text 5"/>
          <p:cNvSpPr/>
          <p:nvPr/>
        </p:nvSpPr>
        <p:spPr>
          <a:xfrm>
            <a:off x="914400" y="1554480"/>
            <a:ext cx="10360152" cy="41148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THE MASTERCLASS TAKEAWAY MESSAGE</a:t>
            </a:r>
            <a:endParaRPr lang="en-US" sz="1250" dirty="0"/>
          </a:p>
        </p:txBody>
      </p:sp>
      <p:sp>
        <p:nvSpPr>
          <p:cNvPr id="8" name="Text 6"/>
          <p:cNvSpPr/>
          <p:nvPr/>
        </p:nvSpPr>
        <p:spPr>
          <a:xfrm>
            <a:off x="960120" y="2057400"/>
            <a:ext cx="10268712" cy="3429000"/>
          </a:xfrm>
          <a:prstGeom prst="rect">
            <a:avLst/>
          </a:prstGeom>
          <a:noFill/>
          <a:ln/>
        </p:spPr>
        <p:txBody>
          <a:bodyPr wrap="square" lIns="0" tIns="0" rIns="0" bIns="0" rtlCol="0" anchor="t"/>
          <a:lstStyle/>
          <a:p>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Embryology as a Diagnostic Engine: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Fetal and pediatric imaging is not passive shadow-matching. Every shadow represents an arrest in embryonic folding, canalization, rotation, or induction.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Look-Alikes Deconstructed: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By deconstructing visual look-alikes through their embryonic mechanisms, you accurately predict karyotypes, prevent biopsy disasters, and direct life-saving perinatal surgery.
</a:t>
            </a:r>
            <a:pPr indent="0" marL="0">
              <a:lnSpc>
                <a:spcPts val="1800"/>
              </a:lnSpc>
              <a:buNone/>
            </a:pPr>
            <a:r>
              <a:rPr lang="en-US" sz="1350" b="1" dirty="0">
                <a:solidFill>
                  <a:srgbClr val="0A192F"/>
                </a:solidFill>
                <a:latin typeface="Calibri" pitchFamily="34" charset="0"/>
                <a:ea typeface="Calibri" pitchFamily="34" charset="-122"/>
                <a:cs typeface="Calibri" pitchFamily="34" charset="-120"/>
              </a:rPr>
              <a:t>•  The Workstation Mindset: </a:t>
            </a:r>
            <a:pPr indent="0" marL="0">
              <a:lnSpc>
                <a:spcPts val="1800"/>
              </a:lnSpc>
              <a:buNone/>
            </a:pPr>
            <a:r>
              <a:rPr lang="en-US" sz="1300" dirty="0">
                <a:solidFill>
                  <a:srgbClr val="0F172A"/>
                </a:solidFill>
                <a:latin typeface="Calibri" pitchFamily="34" charset="0"/>
                <a:ea typeface="Calibri" pitchFamily="34" charset="-122"/>
                <a:cs typeface="Calibri" pitchFamily="34" charset="-120"/>
              </a:rPr>
              <a:t>When you sit at your workstation, look beyond the pixels: ask yourself which Carnegie stage arrested, which vascular territory infarcted, and which co-anomalies are waiting to be uncovered.
</a:t>
            </a:r>
            <a:endParaRPr lang="en-US" sz="1350" dirty="0"/>
          </a:p>
        </p:txBody>
      </p:sp>
      <p:sp>
        <p:nvSpPr>
          <p:cNvPr id="9" name="Shape 7"/>
          <p:cNvSpPr/>
          <p:nvPr/>
        </p:nvSpPr>
        <p:spPr>
          <a:xfrm>
            <a:off x="731520" y="5715000"/>
            <a:ext cx="10725912" cy="621792"/>
          </a:xfrm>
          <a:prstGeom prst="rect">
            <a:avLst/>
          </a:prstGeom>
          <a:solidFill>
            <a:srgbClr val="FFFBEB"/>
          </a:solidFill>
          <a:ln w="15240">
            <a:solidFill>
              <a:srgbClr val="D97706"/>
            </a:solidFill>
            <a:prstDash val="solid"/>
          </a:ln>
        </p:spPr>
      </p:sp>
      <p:sp>
        <p:nvSpPr>
          <p:cNvPr id="10" name="Text 8"/>
          <p:cNvSpPr/>
          <p:nvPr/>
        </p:nvSpPr>
        <p:spPr>
          <a:xfrm>
            <a:off x="868680" y="5733288"/>
            <a:ext cx="10451592" cy="585216"/>
          </a:xfrm>
          <a:prstGeom prst="rect">
            <a:avLst/>
          </a:prstGeom>
          <a:noFill/>
          <a:ln/>
        </p:spPr>
        <p:txBody>
          <a:bodyPr wrap="square" rtlCol="0" anchor="ctr"/>
          <a:lstStyle/>
          <a:p>
            <a:pPr indent="0" marL="0">
              <a:buNone/>
            </a:pPr>
            <a:r>
              <a:rPr lang="en-US" sz="1050" b="1" dirty="0">
                <a:solidFill>
                  <a:srgbClr val="D97706"/>
                </a:solidFill>
                <a:latin typeface="Calibri" pitchFamily="34" charset="0"/>
                <a:ea typeface="Calibri" pitchFamily="34" charset="-122"/>
                <a:cs typeface="Calibri" pitchFamily="34" charset="-120"/>
              </a:rPr>
              <a:t>💡 RADIOLOGY PEARL: </a:t>
            </a:r>
            <a:pPr indent="0" marL="0">
              <a:buNone/>
            </a:pPr>
            <a:r>
              <a:rPr lang="en-US" sz="1000" dirty="0">
                <a:solidFill>
                  <a:srgbClr val="0F172A"/>
                </a:solidFill>
                <a:latin typeface="Calibri" pitchFamily="34" charset="0"/>
                <a:ea typeface="Calibri" pitchFamily="34" charset="-122"/>
                <a:cs typeface="Calibri" pitchFamily="34" charset="-120"/>
              </a:rPr>
              <a:t>Anatomy is merely the latest snapshot of embryology in motion. Think like an embryologist, report like a master radiologist!</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2026-09-15T17:00:26Z</dcterms:created>
  <dcterms:modified xsi:type="dcterms:W3CDTF">2026-09-15T17:00:26Z</dcterms:modified>
</cp:coreProperties>
</file>