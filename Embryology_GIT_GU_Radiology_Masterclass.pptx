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colleagues. In fetal and pediatric radiology, embryology is not academic trivia—it is our primary diagnostic key. Visual similarity is a trap. Understanding the exact embryological mechanics transforms passive image interpretation into accurate prenatal prognostication and surgical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Notes: Notice how the 4 body folds form the trunk. Cranial fold forms the diaphragm and sternum. Caudal fold forms the infraumbilical wall and cloaca. The two lateral folds zip up the sides. If cranial fails, heart is outside (Cantrell). If caudal fails, bladder and cloaca split (OEIS). If lateral fails, you get wall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Notes: This slide establishes the strict chronological law for first-trimester scanning. Physiological midgut herniation is mandatory for normal intestinal rotation. Between 8 and 11+6 weeks, a small mass up to 7 mm at the cord base is 100% normal. The cutoffs are 12.0 weeks and CRL &gt; 45 mm. If liver is in the mass, it is always pathological.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Notes: Omphalocele is a midline fusion/reduction failure with a 3-layered sac and cord at the apex—associated with an 80% syndromic rate. Gastroschisis is a right-sided vascular infarction with bare loops floating in amniotic fluid and a normal cord insertion. Chromosomes are normal, but surgical urgency is dictated by bowel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Notes: Body stalk anomaly is the most severe wall defect. The embryo never lifted off the chorionic plate, so the umbilical cord never elongated. The viscera are literally glued to the placenta. It is uniformly fatal, but reassuringly sporadic.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Notes: Cantrell pentad is failure of the cephalic fold and septum transversum. The sternum splits, the anterior diaphragm fails, and the heart can beat outside the chest into an omphalocele.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Notes: The difference between isolated bladder exstrophy and OEIS is timing. If the cloacal membrane bursts after week 7, the urorectal septum already split the bladder from the rectum—you get isolated bladder exstrophy. If it bursts before week 6, the cloaca is unpartitioned—you get OEIS.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Notes: This is your master triage algorithm. Two simple questions: Where does the cord insert? Is the bladder present? That immediately differentiates omphalocele, gastroschisis, LBWC, exstrophy, OEIS, PUV, and Prune Belly.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Notes: In foregut cleavage, lateral ridges must fuse to split trachea from esophagus. Failure causes EA/TEF. In CHAOS, the larynx fails to recanalize, trapping 400 mL/day of lung fluid and ballooning the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Notes: Three different embryopathies cause a double bubble: atresia (recanalization failure), annular pancreas (bud migration failure), and duplication cysts (vacuolation failure). True atresia shows direct fluid continuity across the pylorus and complete distal airlessness.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Notes: The midgut rotates 270 degrees counterclockwise around the SMA in 3 stages: 90 degrees out in the cord, 180 degrees back into the abdomen, and fixation. The DJ junction ends at Treitz, left of spine; cecum ends in RLQ.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Notes: When rotation stops at 180 degrees, the cecum is stuck in the RUQ with Ladd bands crossing the duodenum. Worse, the mesentery is narrow and can twist clockwise (midgut volvulus). 20% of malrotations have normal Doppler! Upper GI with lateral view is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Notes: Duodenal atresia is an early embryological arrest of recanalization (weeks 7-8), explaining its 40% association with Trisomy 21. Jejunoileal atresia is a late vascular accident in an already formed bowel, so chromosomes are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Notes: Meconium peritonitis is a sterile chemical burn caused by antenatal bowel perforation. Calcium salts precipitate within 24-48 hours, leaving punctate calcifications on the liver and in the scrotum that persist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Notes: In neonatal distal obstruction, Hirschsprung is a neurocristopathy with a spastic aganglionic rectosigmoid causing R/S ratio reversal. Meconium ileus is osmotic failure from CFTR mutations, producing an unused microcolon with pellets in the terminal ileum.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Notes: The gut signature—inner bright mucosa and outer hypoechoic muscularis propria—is pathognomonic for enteric duplication. Choledochal cysts lack muscle, connect to the biliary tree, and carry a high lifetime risk of cholangiocarcinoma.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Notes: The TOTAL trial in NEJM 2021 proved CDH is a pulmonary vascular disease. Genetic insults hit both the diaphragm and bilateral pulmonary arterioles. Severe cases (o/e LHR &lt; 25%) are rescued by fetoscopic balloon occlusion (FETO).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Notes: Urorectal septation failure in females creates a persistent cloaca with hydrocolpos and calcified enteroliths. Currarino syndrome links sacral agenesis (scimitar sacrum) with anal stenosis and a presacral anterior meningocele. Never biopsy a presacral mass without checking the sacrum!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Notes: Kidney morphogenesis is triphasic: pronephros, mesonephros, and metanephros. The definitive metanephros requires reciprocal induction between the ureteric bud and metanephric blastema. If the bud fails to sprout, the blastema dies, producing renal agenesis.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Notes: The adrenal gland develops independently of the metanephros. But the climbing kidney physically molds it into an inverted V. In renal agenesis or pelvic ectopia, the adrenal lies flat as a pancake along the psoas. In neonates, this flat adrenal mimics a normal kidney!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Notes: Horseshoe kidneys fuse in the pelvis before climbing. Ascent is halted at L3 when the isthmus hits the IMA roof. In crossed-fused ectopia, the ureter crosses back over the midline to insert into its normal side of the bladder trigone.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Notes: Timing dictates renal cystic pathology. Insult before 8-10 weeks causes MCDK (atresia, blind cysts, zero function). Insult after 14 weeks causes hydronephrosis (formed nephrons under pressure). ARPKD is not an obstruction at all—it's a ciliopathy dilating 100% of collecting 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Notes: The Weigert-Meyer rule is pure embryological geometry. Cranial bud goes to lower pole, separates first, and migrates superolaterally (refluxes). Caudal bud goes to upper pole, separates late, and is dragged medially and inferiorly (obstructs with ureterocele). Remember DUMI: Duplex Upper Medial Inferior!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Notes: Differentiating umbilical remnants is all about anatomical compartment: Urachal is extraperitoneal in the Retzius space. Vitelline is intraperitoneal with a gut-signature wall near the ileum. Never apply silver nitrate to an umbilical nodule without ultrasound!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Notes: In male megacystis, PUV has a thick trabeculated bladder with a keyhole posterior urethra. Prune belly has a thin, flaccid megacystis from mesodermal deficiency. The VURD syndrome is an endogenous pressure release valve: one kidney sacrifices itself to high-grade reflux, protecting the other kidney.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Notes: The fetal adrenal is a vascular giant specialized in steroidogenesis. Because three arteries pump blood in but only one vein drains it out, perinatal stress easily causes venous congestion and hemorrhage. Serial ultrasound shows rapid liquefaction and shrinkage, ruling out neuroblastoma.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Notes: Bicornuate is failure of lateral fusion (fundal cleft &gt;= 1.0 cm; metroplasty contraindicated). Septate is failure of apoptotic resorption of the midline septum (&lt;1.0 cm cleft; hysteroscopic metroplasty cures recurrent miscarriage). Never diagnose bicornuate on HSG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Notes: External genitalia are indifferent until week 9. DHT drives midline fusion in males. In 46,XX CAH, massive adrenal androgens virilize the female fetus, creating enlarged cerebriform 'wavy' adrenals. In hypospadias, failed ventral fold closure creates the classic tulip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Notes: DSD duct anatomy is simple: AMH destroys Müllerian ducts; Testosterone saves Wolffian ducts. In CAIS (46,XY), testes make AMH, so no uterus forms. In Swyer (46,XY), the SRY gene failed, so no testes formed, meaning NO AMH was made. Without AMH, the uterus develops normally! But streak gonads carry a 30% cancer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Notes: Colleagues, commit these 10 golden embryology rules to memory. They represent the distilled wisdom of fetal and pediatric radiology. Thank you for your commitment to diagnostic excellence.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731520" y="914400"/>
            <a:ext cx="5943600" cy="365760"/>
          </a:xfrm>
          <a:prstGeom prst="rect">
            <a:avLst/>
          </a:prstGeom>
          <a:solidFill>
            <a:srgbClr val="0284C7"/>
          </a:solidFill>
          <a:ln/>
        </p:spPr>
      </p:sp>
      <p:sp>
        <p:nvSpPr>
          <p:cNvPr id="3" name="Text 1"/>
          <p:cNvSpPr/>
          <p:nvPr/>
        </p:nvSpPr>
        <p:spPr>
          <a:xfrm>
            <a:off x="822960" y="914400"/>
            <a:ext cx="576072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FETAL &amp; PEDIATRIC RADIOLOGY MASTERCLASS</a:t>
            </a:r>
            <a:endParaRPr lang="en-US" sz="1200" dirty="0"/>
          </a:p>
        </p:txBody>
      </p:sp>
      <p:sp>
        <p:nvSpPr>
          <p:cNvPr id="4" name="Text 2"/>
          <p:cNvSpPr/>
          <p:nvPr/>
        </p:nvSpPr>
        <p:spPr>
          <a:xfrm>
            <a:off x="731520" y="1417320"/>
            <a:ext cx="10698480" cy="1554480"/>
          </a:xfrm>
          <a:prstGeom prst="rect">
            <a:avLst/>
          </a:prstGeom>
          <a:noFill/>
          <a:ln/>
        </p:spPr>
        <p:txBody>
          <a:bodyPr wrap="square" rtlCol="0" anchor="ctr"/>
          <a:lstStyle/>
          <a:p>
            <a:pPr indent="0" marL="0">
              <a:lnSpc>
                <a:spcPts val="4000"/>
              </a:lnSpc>
              <a:buNone/>
            </a:pPr>
            <a:r>
              <a:rPr lang="en-US" sz="3600" b="1" dirty="0">
                <a:solidFill>
                  <a:srgbClr val="FFFFFF"/>
                </a:solidFill>
                <a:latin typeface="Calibri" pitchFamily="34" charset="0"/>
                <a:ea typeface="Calibri" pitchFamily="34" charset="-122"/>
                <a:cs typeface="Calibri" pitchFamily="34" charset="-120"/>
              </a:rPr>
              <a:t>CLINICAL GIT &amp; GENITOURINARY</a:t>
            </a:r>
            <a:endParaRPr lang="en-US" sz="3600" dirty="0"/>
          </a:p>
          <a:p>
            <a:pPr indent="0" marL="0">
              <a:lnSpc>
                <a:spcPts val="4000"/>
              </a:lnSpc>
              <a:buNone/>
            </a:pPr>
            <a:r>
              <a:rPr lang="en-US" sz="3600" b="1" dirty="0">
                <a:solidFill>
                  <a:srgbClr val="FFFFFF"/>
                </a:solidFill>
                <a:latin typeface="Calibri" pitchFamily="34" charset="0"/>
                <a:ea typeface="Calibri" pitchFamily="34" charset="-122"/>
                <a:cs typeface="Calibri" pitchFamily="34" charset="-120"/>
              </a:rPr>
              <a:t>EMBRYOLOGY FOR RADIOLOGISTS</a:t>
            </a:r>
            <a:endParaRPr lang="en-US" sz="3600" dirty="0"/>
          </a:p>
        </p:txBody>
      </p:sp>
      <p:sp>
        <p:nvSpPr>
          <p:cNvPr id="5" name="Text 3"/>
          <p:cNvSpPr/>
          <p:nvPr/>
        </p:nvSpPr>
        <p:spPr>
          <a:xfrm>
            <a:off x="731520" y="3063240"/>
            <a:ext cx="10698480" cy="548640"/>
          </a:xfrm>
          <a:prstGeom prst="rect">
            <a:avLst/>
          </a:prstGeom>
          <a:noFill/>
          <a:ln/>
        </p:spPr>
        <p:txBody>
          <a:bodyPr wrap="square" rtlCol="0" anchor="ctr"/>
          <a:lstStyle/>
          <a:p>
            <a:pPr indent="0" marL="0">
              <a:buNone/>
            </a:pPr>
            <a:r>
              <a:rPr lang="en-US" sz="1800" dirty="0">
                <a:solidFill>
                  <a:srgbClr val="BAE6FD"/>
                </a:solidFill>
                <a:latin typeface="Calibri" pitchFamily="34" charset="0"/>
                <a:ea typeface="Calibri" pitchFamily="34" charset="-122"/>
                <a:cs typeface="Calibri" pitchFamily="34" charset="-120"/>
              </a:rPr>
              <a:t>Deconstructing Visual Mimics through Embryogenesis: An Algorithmic, Mechanism-First Masterclass</a:t>
            </a:r>
            <a:endParaRPr lang="en-US" sz="1800" dirty="0"/>
          </a:p>
        </p:txBody>
      </p:sp>
      <p:sp>
        <p:nvSpPr>
          <p:cNvPr id="6" name="Shape 4"/>
          <p:cNvSpPr/>
          <p:nvPr/>
        </p:nvSpPr>
        <p:spPr>
          <a:xfrm>
            <a:off x="731520" y="3794760"/>
            <a:ext cx="10698480" cy="1737360"/>
          </a:xfrm>
          <a:prstGeom prst="rect">
            <a:avLst/>
          </a:prstGeom>
          <a:solidFill>
            <a:srgbClr val="1E293B"/>
          </a:solidFill>
          <a:ln w="19050">
            <a:solidFill>
              <a:srgbClr val="38BDF8"/>
            </a:solidFill>
            <a:prstDash val="solid"/>
          </a:ln>
        </p:spPr>
      </p:sp>
      <p:sp>
        <p:nvSpPr>
          <p:cNvPr id="7" name="Text 5"/>
          <p:cNvSpPr/>
          <p:nvPr/>
        </p:nvSpPr>
        <p:spPr>
          <a:xfrm>
            <a:off x="914400" y="3886200"/>
            <a:ext cx="10332720" cy="1554480"/>
          </a:xfrm>
          <a:prstGeom prst="rect">
            <a:avLst/>
          </a:prstGeom>
          <a:noFill/>
          <a:ln/>
        </p:spPr>
        <p:txBody>
          <a:bodyPr wrap="square" rtlCol="0" anchor="t"/>
          <a:lstStyle/>
          <a:p>
            <a:pPr indent="0" marL="0">
              <a:buNone/>
            </a:pPr>
            <a:r>
              <a:rPr lang="en-US" sz="1250" b="1" dirty="0">
                <a:solidFill>
                  <a:srgbClr val="38BDF8"/>
                </a:solidFill>
                <a:latin typeface="Calibri" pitchFamily="34" charset="0"/>
                <a:ea typeface="Calibri" pitchFamily="34" charset="-122"/>
                <a:cs typeface="Calibri" pitchFamily="34" charset="-120"/>
              </a:rPr>
              <a:t>TEACHING PHILOSOPHY &amp; REVERSE EMBRYOLOGY PRINCIPLE:
</a:t>
            </a:r>
            <a:pPr indent="0" marL="0">
              <a:buNone/>
            </a:pPr>
            <a:r>
              <a:rPr lang="en-US" sz="1050" dirty="0">
                <a:solidFill>
                  <a:srgbClr val="FFFFFF"/>
                </a:solidFill>
                <a:latin typeface="Calibri" pitchFamily="34" charset="0"/>
                <a:ea typeface="Calibri" pitchFamily="34" charset="-122"/>
                <a:cs typeface="Calibri" pitchFamily="34" charset="-120"/>
              </a:rPr>
              <a:t>In fetal cross-sectional imaging, visual pattern recognition can be deceptive. Conditions that appear strikingly similar on prenatal ultrasound or MRI often arise from radically divergent embryological mechanisms, carrying opposite genetic implications, surgical urgency, and prognoses.
</a:t>
            </a:r>
            <a:pPr indent="0" marL="0">
              <a:buNone/>
            </a:pPr>
            <a:r>
              <a:rPr lang="en-US" sz="1100" b="1" dirty="0">
                <a:solidFill>
                  <a:srgbClr val="FDE047"/>
                </a:solidFill>
                <a:latin typeface="Calibri" pitchFamily="34" charset="0"/>
                <a:ea typeface="Calibri" pitchFamily="34" charset="-122"/>
                <a:cs typeface="Calibri" pitchFamily="34" charset="-120"/>
              </a:rPr>
              <a:t>Imaging Phenotype (Arrest / Distortion)  --&gt;  Failed Checkpoint  --&gt;  Occult Syndromic Cascade  --&gt;  Perinatal Triage</a:t>
            </a:r>
            <a:endParaRPr lang="en-US" sz="1250" dirty="0"/>
          </a:p>
        </p:txBody>
      </p:sp>
      <p:sp>
        <p:nvSpPr>
          <p:cNvPr id="8" name="Text 6"/>
          <p:cNvSpPr/>
          <p:nvPr/>
        </p:nvSpPr>
        <p:spPr>
          <a:xfrm>
            <a:off x="731520" y="5852160"/>
            <a:ext cx="10698480" cy="54864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Curated from Landmark Literature &amp; Comprehensive Textbook of Clinical Radiology (Amarnath C., Patel H., Eds.)</a:t>
            </a:r>
            <a:endParaRPr lang="en-US" sz="1050" dirty="0"/>
          </a:p>
          <a:p>
            <a:pPr indent="0" marL="0">
              <a:buNone/>
            </a:pPr>
            <a:r>
              <a:rPr lang="en-US" sz="1050" dirty="0">
                <a:solidFill>
                  <a:srgbClr val="94A3B8"/>
                </a:solidFill>
                <a:latin typeface="Calibri" pitchFamily="34" charset="0"/>
                <a:ea typeface="Calibri" pitchFamily="34" charset="-122"/>
                <a:cs typeface="Calibri" pitchFamily="34" charset="-120"/>
              </a:rPr>
              <a:t>Faculty: Expert Scientist &amp; Fetal / Pediatric Radiologist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FOUNDATIONAL MORPHOGENESIS • WEEKS 3–5</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Embryological Blueprint: How the 4 Body Folds Construct the Fetal Torso</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Anatomy is merely the latest snapshot of embryology in motion. How does the folding of a flat trilaminar germ disc establish the boundary between thoracic and pelvic catastrophe?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4 EMBRYONIC BODY FOLDS (CARNEGIE STAGES 9–12)</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Cephalic (Cranial) Fold: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Swings the heart, pericardial cavity, and septum transversum from the cranial margin onto the ventral thoracic surface. Arrest -&gt; Pentalogy of Cantrell &amp; Ectopia Cordis.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Caudal (Tail) Fold: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Translocates the cloacal membrane and allantois onto the ventral lower abdominal wall. Arrest -&gt; Cloacal Exstrophy &amp; OEIS Complex.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Lateral Somatopleural Folds: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Two lateral folds advance ventrally in the transverse plane, fusing in the midline to convert the flat endodermal roof into a tubular gut and seal the umbilical ring.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F766E"/>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4 PILLARS OF REVERSE EMBRYOLOGICAL REASONING</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1. Timing &amp; Mechanics: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Why an anomaly appears at a specific gestational age (e.g., physiological herniation vs. omphalocele).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2. Membranes &amp; Relations: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Why the exact umbilical cord insertion point differentiates lethal from isolated wall defects.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3. Vascular &amp; Recanalization: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Why duodenal atresia has a 40% Down syndrome risk, while jejunoileal atresia has virtually zero aneuploidy risk.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4. Inductive Signaling: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Why a single aberrant ureteric bud produces either an empty fossa, a cystic dysplastic kidney, or crossed ectopia.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EMBRYOLOGY PERSPECTIVE: Every congenital anomaly in the abdomen and pelvis is a frozen checkpoint in embryogenesis. When reading fetal scans, do not simply describe the mass—trace which of the 4 body folds or organ buds arrested!</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Amarnath C, Patel H, Eds. Comprehensive Textbook of Clinical Radiology; Sadler TW. Langman's Medical Embryology 14th 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MIDGUT SONOEMBRYOLOGY • WEEKS 6–12 GA</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Physiological Herniation Clock: Sonoembryology vs. Premature Panic</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10-week scan reveals a 5 mm echogenic mass at the cord base. Is this an omphalocele mandating genetic counseling, or normal embryology in progress? Learn the exact millimeter and weekly cutoffs.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369A1"/>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EMBRYOLOGICAL MECHANICS (CS 16–23)</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Week 6 (8 wks GA):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Midgut elongates rapidly, outpacing abdominal coelom expansion. Herniates into umbilical cord base (extraembryonic coelom).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First 90° Turn: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Midgut loop rotates 90° counterclockwise around the Superior Mesenteric Artery (SMA) axis within the umbilical cord.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Weeks 10–11 (10–11 wks GA):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Loops return into the enlarged abdominal cavity, completing another 180° counterclockwise rotation (Total = 270° CCW).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Week 12 (12.0 wks GA):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Cecum settles in RLQ; ascending and descending colons fuse to posterior retroperitoneum.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FETAL SONOGRAPHIC MILESTONES &amp; STRICT RULES</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Normal Physiologic Herniation: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Expected between 8 and 10+6 weeks GA (fetal Crown-Rump Length CRL 20–44 mm). Herniation diameter normally &lt;= 7 mm.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Strict Diagnostic Cutoff: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Physiological herniation MUST completely resolve by 12.0 completed weeks GA or CRL &gt; 45 mm!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Pathological Red Flags: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Herniation exceeding &gt;7 mm diameter at any stage, or persisting into the 12–14 week nuchal translucency (NT) scan, is an omphalocele.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Extracorporeal Liver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If liver tissue is present within the herniation at ANY gestational age, it is NEVER physiological—it is an omphalocele!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12-WEEK / 45 MM LAW: Calling an omphalocele at 10 weeks is medical malpractice; missing it at 13 weeks is a diagnostic failure! Never sign out an omphalocele before 12.0 weeks GA (CRL &lt;= 45 mm) unless extracorporeal liver is unequivocally identified.</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Pakdaman R, Woodward PJ, Kennedy A. RadioGraphics 2015;35(2):636–649; Amarnath C, Patel H. Comprehensive Textbook of Clinical Radiology.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ANTERIOR WALL DIVERGENCE • WEEKS 6–12 GA</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Gastroschisis vs. Omphalocele: Evisceration vs. Midgut Reduction Arrest</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Both present as herniated bowel at the anterior fetal wall at 20 weeks. Why does one prompt urgent fetal echocardiography and microarray for lethal aneuploidies, while the other prompts serial Doppler sweeps in a genetically normal fetus?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OMPHALOCELE (EXOMPHALOS)</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Failure of rotated midgut loops to return from coelom at 10–12 wks GA, OR failure of lateral ectomesodermal folds to close midline.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Defect &amp; Sac: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CENTRAL midline umbilical ring. Covered by 3-LAYER MEMBRANE (inner peritoneum, middle Wharton's jelly, outer amnion).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Cord Insertion: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Cord inserts DIRECTLY ONTO THE APEX of the herniated sac. Umbilical vessels radiate along the sac wall.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Contents &amp; Genetics: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Small bowel + LIVER in &gt;80%, spleen. High aneuploidy (50–80%): Trisomy 18, 13, 21; Beckwith-Wiedemann (11p15, CDKN1C).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D9488"/>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GASTROSCHISIS</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NOT a reduction arrest! Full-thickness vascular disruption (right omphalomesenteric artery thrombosis or right umbilical vein involution).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Defect &amp; Sac: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RIGHT PARAUMBILICAL (2–4 cm), separated from cord by an intact skin bridge. NO COVERING SAC (bare, naked bowel).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Cord Insertion: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Cord inserts NORMALLY onto intact abdominal wall to the left of the defect.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Contents &amp; Genetics: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Predominantly small bowel; liver rarely herniated. Negligible aneuploidy (&lt;1%); pathology is chemical peritonitis, atresia (10–15%), and volvulus.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CORD INSERTION &amp; SKIN BRIDGE TEST: Tracing the cord insertion point is the decisive diagnostic step. Insertion onto the mass apex proves omphalocele; normal insertion onto intact skin to the left of the naked defect proves gastroschisis! In gastroschisis, intra-abdominal bowel dilation &gt;10 mm warns of closing ring ischemia.</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Pakdaman R, et al. RadioGraphics 2015;35(2):636–649; Feldkamp ML, et al. Am J Med Genet A 2007;143A(7):653–663.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LETHAL BODY WALL SPECTRUM • EARLY BLASTOGENESIS</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Limb-Body Wall Complex (LBWC) &amp; Body Stalk Anomaly: The Lethal Evisceration</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An extensive thoracoabdominal evisceration is plastered directly against the placenta. Why is the umbilical cord absent, and how do you differentiate this universally lethal condition from gastroschisis?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881337"/>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EMBRYOLOGICAL MECHANICS &amp; PATHOGENESIS</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Primary 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Catastrophic failure of germ disc folding during blastogenesis (wks 3–5) combined with failure of extraembryonic coelom obliteration.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Body Stalk Defect: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The embryo fails to separate from the trophoblast. As a result, a normal umbilical cord never forms! Umbilical vessels run directly within the amniotic membrane from placenta to fetus.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Diagnostic Criteria (&gt;= 2 of 3):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 Severe thoraco- and/or abdominoschisis
2. Limb defects (clubfoot, oligodactyly, amputations)
3. Craniofacial defects (exencephaly, facial clefts).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Prognosis: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100% universally lethal; sporadic with negligible recurrence risk.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4C1D95"/>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PHENOTYPIC SUBTYPES (RUSSO CLASSIFICATION) &amp; IMAGING</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Placentoabdominal Type: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Large abdominoschisis with abdominal visceral attachment to placenta; ABSENT OR RUDIMENTARY UMBILICAL CORD (&lt;1 cm); severe kyphoscoliosis.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Placentocranial Type: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Craniofacial defects, encephaloceles, facial clefts, and amniotic cranial adhesions.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Pathognomonic Ultrasound Triad: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 Severe scoliosis with eviscerated organs in extraembryonic coelom
2. Absent / ultra-short cord with single umbilical artery
3. Viscera adherent to placenta.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Distinction from Amniotic Band: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ABS does not cause complete failure of the umbilical cord and body stalk.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ABSENT CORD &amp; SCOLIOSIS HALLMARK: When an extensive abdominal wall defect is accompanied by severe spinal kyphoscoliosis and an absent or ultra-short umbilical cord tethered to the placenta, diagnose Body Stalk Anomaly / LBWC! It is universally lethal and non-syndromic.</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Russo R, et al. Am J Med Genet 1993;47(6):893–900; Amarnath C, Patel H. Comprehensive Textbook of Clinical Radiology.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CEPHALIC FOLD DISRUPTIONS • WEEKS 3–4</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When the Cephalic Fold Fails: Pentalogy of Cantrell &amp; Ectopia Cordis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pulsating mass protrudes through the chest wall into an upper abdominal omphalocele. What developmental checkpoint failed at day 24 to cause this bizarre thoracoabdominal catastrophe?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7C2D12"/>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EMBRYOLOGICAL MECHANISM</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Cephalic Mesodermal Arrest: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Carnegie Stages 11–13 (day 24–30). Failure of the paired cephalic lateral mesodermal folds to fuse in the midline.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Septum Transversum Deficiency: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Arrest of the anterior septum transversum, which normally forms the central diaphragmatic tendon and inferior pericardium.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Pericardial Diaphragmatic Cleft: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Creates a direct, wide pericardio-peritoneal communication through which the heart evaginates.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369A1"/>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CLASSICAL ANATOMICAL PENTAD (CANTRELL 1958)</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1. Supraumbilical Wall Defect: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Midline omphalocele-like herniation in upper abdomen.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2. Sternal Cleft: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Lower sternal cleft or bifid/absent inferior sternum.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3. Anterior Diaphragm Defect: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Deficiency of anterior central tendon.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4. Pericardial Defect: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Direct communication between pericardial and peritoneal sacs.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5. Intracardiac Anomalies: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VSD (100%), Tetralogy of Fallot, LV diverticulum, plus ECTOPIA CORDIS (pulsating heart outside chest).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SAGITTAL THORAGOABDOMINAL SWEEP: In any fetus with an upper abdominal omphalocele, sweep sagitally into the chest! Check for lower sternal splitting, diaphragmatic discontinuity, and a pulsating heart protruding into the sac (Ectopia Cordis).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Cantrell JR, Haller JA, Ravitch MM. Surg Gynecol Obstet 1958;107(5):602–614; McMahon CJ, et al. Am J Perinatol 2007;24(2):121–125.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CAUDAL FOLD DISRUPTIONS • WEEKS 4–7</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Caudal Fold Disruptions: Classic Bladder Exstrophy vs. OEIS Complex</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The fetal bladder is persistently non-visualized, but amniotic fluid volume is completely normal. How does the timing of cloacal membrane rupture distinguish an isolated exstrophy from the catastrophic OEIS complex?</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CLASSIC BLADDER EXSTROPHY (LATE RUPTURE &gt; WK 7)</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Failure of infraumbilical lateral mesoderm to invade caudal abdominal wall. Abnormally persistent cloacal membrane ruptures AFTER week 7.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Anatomy: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Urorectal septation is already COMPLETE! Therefore, the hindgut is normal, and the anus is patent.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Hallmarks: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Persistently non-visualized pelvic bladder; low cord insertion; echogenic soft-tissue plaque on lower wall (everted bladder mucosa). Normal spine &amp; limbs.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4C1D95"/>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OEIS COMPLEX / CLOACAL EXSTROPHY (EARLY &lt; WK 6)</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Severe mesodermal migration arrest. Cloacal membrane ruptures BEFORE week 6, prior to urorectal septal descent!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OEIS Tetrad: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O: Omphalocele (infraumbilical)
• E: Exstrophy of cloaca (2 hemibladders flanking everted central ileum: 'elephant trunk' sign)
• I: Imperforate anus
• S: Spinal dysraphism (myelomeningocele, sacral agenesis, tethered cord).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Pelvic Diastasis: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Wide separation of pubic bones on coronal pelvic views.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OEIS BLADDER PARADOX: Non-visualized bladder + NORMAL amniotic fluid volume = Bladder Exstrophy or OEIS, NOT renal agenesis! The kidneys produce urine normally, which discharges freely into the amniotic fluid through the exstrophic hemibladders. Always check the lower wall and lumbosacral spine!</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Austin PF, Homsy YL, Gearhart JP, et al. J Urol 1998;160(3 Pt 2):1179–1181; Amarnath C, Patel H. Comprehensive Textbook of Clinical Radiology.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DIAGNOSTIC ALGORITHM • ABDOMINAL WALL</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Radiologist's Master Flowchart for Fetal Abdominal Wall Defects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Follow this two-axis decision tree based on the umbilical cord insertion point and fetal bladder visualization to reach an unequivocal diagnosis in under 30 seconds.</a:t>
            </a:r>
            <a:endParaRPr lang="en-US" sz="1050" dirty="0"/>
          </a:p>
        </p:txBody>
      </p:sp>
      <p:sp>
        <p:nvSpPr>
          <p:cNvPr id="7" name="Shape 5"/>
          <p:cNvSpPr/>
          <p:nvPr/>
        </p:nvSpPr>
        <p:spPr>
          <a:xfrm>
            <a:off x="548640" y="1874520"/>
            <a:ext cx="11091672" cy="3611880"/>
          </a:xfrm>
          <a:prstGeom prst="rect">
            <a:avLst/>
          </a:prstGeom>
          <a:solidFill>
            <a:srgbClr val="FFFFFF"/>
          </a:solidFill>
          <a:ln w="15240">
            <a:solidFill>
              <a:srgbClr val="CBD5E1"/>
            </a:solidFill>
            <a:prstDash val="solid"/>
          </a:ln>
        </p:spPr>
      </p:sp>
      <p:sp>
        <p:nvSpPr>
          <p:cNvPr id="8" name="Text 6"/>
          <p:cNvSpPr/>
          <p:nvPr/>
        </p:nvSpPr>
        <p:spPr>
          <a:xfrm>
            <a:off x="731520" y="1965960"/>
            <a:ext cx="10698480" cy="3429000"/>
          </a:xfrm>
          <a:prstGeom prst="rect">
            <a:avLst/>
          </a:prstGeom>
          <a:noFill/>
          <a:ln/>
        </p:spPr>
        <p:txBody>
          <a:bodyPr wrap="square" rtlCol="0" anchor="ctr"/>
          <a:lstStyle/>
          <a:p>
            <a:pPr indent="0" marL="0">
              <a:lnSpc>
                <a:spcPts val="1400"/>
              </a:lnSpc>
              <a:buNone/>
            </a:pPr>
            <a:r>
              <a:rPr lang="en-US" sz="1100" b="1" dirty="0">
                <a:solidFill>
                  <a:srgbClr val="0369A1"/>
                </a:solidFill>
                <a:latin typeface="Calibri" pitchFamily="34" charset="0"/>
                <a:ea typeface="Calibri" pitchFamily="34" charset="-122"/>
                <a:cs typeface="Calibri" pitchFamily="34" charset="-120"/>
              </a:rPr>
              <a:t>STEP 1: TRACE UMBILICAL CORD INSERTION BASE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Cord inserts onto SAC APEX ────────────────────────► </a:t>
            </a:r>
            <a:pPr indent="0" marL="0">
              <a:lnSpc>
                <a:spcPts val="1400"/>
              </a:lnSpc>
              <a:buNone/>
            </a:pPr>
            <a:r>
              <a:rPr lang="en-US" sz="1050" b="1" dirty="0">
                <a:solidFill>
                  <a:srgbClr val="1E3A8A"/>
                </a:solidFill>
                <a:latin typeface="Calibri" pitchFamily="34" charset="0"/>
                <a:ea typeface="Calibri" pitchFamily="34" charset="-122"/>
                <a:cs typeface="Calibri" pitchFamily="34" charset="-120"/>
              </a:rPr>
              <a:t>OMPHALOCELE</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(Check for liver; high aneuploidy 60–80%; order echo/microarray)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Cord inserts on INTACT SKIN to left of defect ─────► </a:t>
            </a:r>
            <a:pPr indent="0" marL="0">
              <a:lnSpc>
                <a:spcPts val="1400"/>
              </a:lnSpc>
              <a:buNone/>
            </a:pPr>
            <a:r>
              <a:rPr lang="en-US" sz="1050" b="1" dirty="0">
                <a:solidFill>
                  <a:srgbClr val="0D9488"/>
                </a:solidFill>
                <a:latin typeface="Calibri" pitchFamily="34" charset="0"/>
                <a:ea typeface="Calibri" pitchFamily="34" charset="-122"/>
                <a:cs typeface="Calibri" pitchFamily="34" charset="-120"/>
              </a:rPr>
              <a:t>GASTROSCHISIS</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(Naked loops, normal karyotype; monitor for bowel dilation &gt;10 mm)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Cord is ABSENT / ULTRA-SHORT tethered to placenta ─► </a:t>
            </a:r>
            <a:pPr indent="0" marL="0">
              <a:lnSpc>
                <a:spcPts val="1400"/>
              </a:lnSpc>
              <a:buNone/>
            </a:pPr>
            <a:r>
              <a:rPr lang="en-US" sz="1050" b="1" dirty="0">
                <a:solidFill>
                  <a:srgbClr val="881337"/>
                </a:solidFill>
                <a:latin typeface="Calibri" pitchFamily="34" charset="0"/>
                <a:ea typeface="Calibri" pitchFamily="34" charset="-122"/>
                <a:cs typeface="Calibri" pitchFamily="34" charset="-120"/>
              </a:rPr>
              <a:t>BODY STALK ANOMALY / LBWC</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(Severe kyphoscoliosis; universally lethal)
</a:t>
            </a:r>
            <a:pPr indent="0" marL="0">
              <a:lnSpc>
                <a:spcPts val="1400"/>
              </a:lnSpc>
              <a:buNone/>
            </a:pPr>
            <a:r>
              <a:rPr lang="en-US" sz="1100" b="1" dirty="0">
                <a:solidFill>
                  <a:srgbClr val="0369A1"/>
                </a:solidFill>
                <a:latin typeface="Calibri" pitchFamily="34" charset="0"/>
                <a:ea typeface="Calibri" pitchFamily="34" charset="-122"/>
                <a:cs typeface="Calibri" pitchFamily="34" charset="-120"/>
              </a:rPr>
              <a:t>STEP 2: IS THE FETAL BLADDER PERSISTENTLY VISUALIZED?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NO (with normal amniotic fluid) ───────────────────► </a:t>
            </a:r>
            <a:pPr indent="0" marL="0">
              <a:lnSpc>
                <a:spcPts val="1400"/>
              </a:lnSpc>
              <a:buNone/>
            </a:pPr>
            <a:r>
              <a:rPr lang="en-US" sz="1000" b="1" dirty="0">
                <a:solidFill>
                  <a:srgbClr val="0F172A"/>
                </a:solidFill>
                <a:latin typeface="Calibri" pitchFamily="34" charset="0"/>
                <a:ea typeface="Calibri" pitchFamily="34" charset="-122"/>
                <a:cs typeface="Calibri" pitchFamily="34" charset="-120"/>
              </a:rPr>
              <a:t>INSPECT INFRAUMBILICAL WALL &amp; SPINE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 Isolated lower wall soft-tissue mass ─────────► </a:t>
            </a:r>
            <a:pPr indent="0" marL="0">
              <a:lnSpc>
                <a:spcPts val="1400"/>
              </a:lnSpc>
              <a:buNone/>
            </a:pPr>
            <a:r>
              <a:rPr lang="en-US" sz="1050" b="1" dirty="0">
                <a:solidFill>
                  <a:srgbClr val="1E3A8A"/>
                </a:solidFill>
                <a:latin typeface="Calibri" pitchFamily="34" charset="0"/>
                <a:ea typeface="Calibri" pitchFamily="34" charset="-122"/>
                <a:cs typeface="Calibri" pitchFamily="34" charset="-120"/>
              </a:rPr>
              <a:t>BLADDER EXSTROPHY</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(Patent anus, normal spine)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 Lower mass + Omphalocele + Spina Bifida ──────► </a:t>
            </a:r>
            <a:pPr indent="0" marL="0">
              <a:lnSpc>
                <a:spcPts val="1400"/>
              </a:lnSpc>
              <a:buNone/>
            </a:pPr>
            <a:r>
              <a:rPr lang="en-US" sz="1050" b="1" dirty="0">
                <a:solidFill>
                  <a:srgbClr val="4C1D95"/>
                </a:solidFill>
                <a:latin typeface="Calibri" pitchFamily="34" charset="0"/>
                <a:ea typeface="Calibri" pitchFamily="34" charset="-122"/>
                <a:cs typeface="Calibri" pitchFamily="34" charset="-120"/>
              </a:rPr>
              <a:t>OEIS COMPLEX</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('Elephant trunk' ileum between hemibladders)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YES (Massive Megacystis &gt; 7 mm) ───────────────────► </a:t>
            </a:r>
            <a:pPr indent="0" marL="0">
              <a:lnSpc>
                <a:spcPts val="1400"/>
              </a:lnSpc>
              <a:buNone/>
            </a:pPr>
            <a:r>
              <a:rPr lang="en-US" sz="1000" b="1" dirty="0">
                <a:solidFill>
                  <a:srgbClr val="0F172A"/>
                </a:solidFill>
                <a:latin typeface="Calibri" pitchFamily="34" charset="0"/>
                <a:ea typeface="Calibri" pitchFamily="34" charset="-122"/>
                <a:cs typeface="Calibri" pitchFamily="34" charset="-120"/>
              </a:rPr>
              <a:t>EVALUATE BLADDER WALL &amp; POSTERIOR URETHRA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 Thick trabeculated wall + 'Keyhole' sign ─────► </a:t>
            </a:r>
            <a:pPr indent="0" marL="0">
              <a:lnSpc>
                <a:spcPts val="1400"/>
              </a:lnSpc>
              <a:buNone/>
            </a:pPr>
            <a:r>
              <a:rPr lang="en-US" sz="1050" b="1" dirty="0">
                <a:solidFill>
                  <a:srgbClr val="0369A1"/>
                </a:solidFill>
                <a:latin typeface="Calibri" pitchFamily="34" charset="0"/>
                <a:ea typeface="Calibri" pitchFamily="34" charset="-122"/>
                <a:cs typeface="Calibri" pitchFamily="34" charset="-120"/>
              </a:rPr>
              <a:t>POSTERIOR URETHRAL VALVES (PUV)</a:t>
            </a:r>
            <a:pPr indent="0" marL="0">
              <a:lnSpc>
                <a:spcPts val="1400"/>
              </a:lnSpc>
              <a:buNone/>
            </a:pPr>
            <a:endParaRPr lang="en-US" sz="1100" dirty="0"/>
          </a:p>
          <a:p>
            <a:pPr indent="0" marL="0">
              <a:lnSpc>
                <a:spcPts val="1400"/>
              </a:lnSpc>
              <a:buNone/>
            </a:pPr>
            <a:r>
              <a:rPr lang="en-US" sz="1000" dirty="0">
                <a:solidFill>
                  <a:srgbClr val="0F172A"/>
                </a:solidFill>
                <a:latin typeface="Calibri" pitchFamily="34" charset="0"/>
                <a:ea typeface="Calibri" pitchFamily="34" charset="-122"/>
                <a:cs typeface="Calibri" pitchFamily="34" charset="-120"/>
              </a:rPr>
              <a:t>    └── Thin flaccid wall + no keyhole + cryptorchid ─► </a:t>
            </a:r>
            <a:endParaRPr lang="en-US" sz="1100" dirty="0"/>
          </a:p>
          <a:p>
            <a:pPr indent="0" marL="0">
              <a:lnSpc>
                <a:spcPts val="1400"/>
              </a:lnSpc>
              <a:buNone/>
            </a:pPr>
            <a:r>
              <a:rPr lang="en-US" sz="1050" b="1" dirty="0">
                <a:solidFill>
                  <a:srgbClr val="065F46"/>
                </a:solidFill>
                <a:latin typeface="Calibri" pitchFamily="34" charset="0"/>
                <a:ea typeface="Calibri" pitchFamily="34" charset="-122"/>
                <a:cs typeface="Calibri" pitchFamily="34" charset="-120"/>
              </a:rPr>
              <a:t>PRUNE BELLY SYNDROME</a:t>
            </a:r>
            <a:pPr indent="0" marL="0">
              <a:lnSpc>
                <a:spcPts val="1400"/>
              </a:lnSpc>
              <a:buNone/>
            </a:pPr>
            <a:r>
              <a:rPr lang="en-US" sz="950" dirty="0">
                <a:solidFill>
                  <a:srgbClr val="475569"/>
                </a:solidFill>
                <a:latin typeface="Calibri" pitchFamily="34" charset="0"/>
                <a:ea typeface="Calibri" pitchFamily="34" charset="-122"/>
                <a:cs typeface="Calibri" pitchFamily="34" charset="-120"/>
              </a:rPr>
              <a:t> (Eagle-Barrett mesodermal dysplasia)</a:t>
            </a:r>
            <a:endParaRPr lang="en-US" sz="1100" dirty="0"/>
          </a:p>
        </p:txBody>
      </p:sp>
      <p:sp>
        <p:nvSpPr>
          <p:cNvPr id="9" name="Shape 7"/>
          <p:cNvSpPr/>
          <p:nvPr/>
        </p:nvSpPr>
        <p:spPr>
          <a:xfrm>
            <a:off x="548640" y="5577840"/>
            <a:ext cx="11091672" cy="713232"/>
          </a:xfrm>
          <a:prstGeom prst="rect">
            <a:avLst/>
          </a:prstGeom>
          <a:solidFill>
            <a:srgbClr val="FEF2F2"/>
          </a:solidFill>
          <a:ln w="15240">
            <a:solidFill>
              <a:srgbClr val="DC2626"/>
            </a:solidFill>
            <a:prstDash val="solid"/>
          </a:ln>
        </p:spPr>
      </p:sp>
      <p:sp>
        <p:nvSpPr>
          <p:cNvPr id="10" name="Text 8"/>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30-SECOND WORKSTATION TRIAGE: When confronted with an abdominal wall or pelvic mass, evaluate cord insertion first, then bladder status. These two steps immediately categorize 95% of congenital anomalies.</a:t>
            </a:r>
            <a:endParaRPr lang="en-US" sz="950" dirty="0"/>
          </a:p>
        </p:txBody>
      </p:sp>
      <p:sp>
        <p:nvSpPr>
          <p:cNvPr id="11" name="Text 9"/>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Masterclass Algorithmic Architecture; Pakdaman R, et al. RadioGraphics 2015;35(2):636–649.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FOREGUT MORPHOGENESIS • WEEKS 4–10</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Foregut Cleavage &amp; Canalization: EA/TEF vs. Laryngeal Atresia (CHAOS)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One collapses the stomach and floods the amniotic sac with polyhydramnios; the other balloons both lungs into giant echogenic masses that invert the diaphragms. What governs foregut cleavage?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369A1"/>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ESOPHAGEAL ATRESIA &amp; TEF (EA/TEF)</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4–5 (CS 10–13). SHH and NOGGIN downregulation disrupts midline fusion of lateral tracheoesophageal ridges, failing to split trachea from esophagus.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Gross Subtypes: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Type C (86%): Proximal atresia + distal TEF.
Type A (8%): Pure atresia without fistula.
Type E (4%): H-type fistula without atresia.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Syndromic Load: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VACTERL Association in 50% (Vertebral, Anal, Cardiac, TEF, Renal, Limb). Trisomy 18 in 10%.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Signs: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Polyhydramnios with small/absent stomach bubble. Sagittal T2 MRI shows blind cervical 'upper pouch sign'. Postnatal X-ray: Coiled feeding tube.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991B1B"/>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CHAOS (LARYNGEAL / TRACHEAL ATRESIA)</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 10 embryonic. Failure of the solid epithelial plug in the embryonic larynx/upper trachea to recanalize, obstructing the fetal airway.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Pathophysiology: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Fetal lungs secrete 300–400 mL fluid/day. Total airway obstruction traps fluid under high pressure, expanding alveolar architecture.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Syndromic Load: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Fraser syndrome (cryptophthalmos, syndactyly, renal agenesis; FREM1/FRAS1 mutations); laryngeal web dysgenesis.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Signs: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Symmetrically massive, diffusely HYPERECHOIC lungs; flattened or INVERTED diaphragms; small compressed midline heart; ascites/hydrops; fluid-distended trachea.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NORMAL STOMACH BUBBLE TRAP: A normal stomach bubble on ultrasound DOES NOT rule out Esophageal Atresia! In Gross Type C (86%), swallowed fluid and tracheal secretions pass through the distal fistula into the stomach. Always inspect the neck for the upper pouch sign!</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Bradshaw CJ, et al. Ultrasound Obstet Gynecol 2016;47(6):687–693; Roybal JL, et al. J Pediatr Surg 2010;45(6):1301–1305.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PROXIMAL OBSTRUCTION • WEEKS 7–11</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'Double Bubble' Deconstructed: Atresia vs. Annular Pancreas vs. Duplication</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classic 'double bubble' is seen in the fetal upper abdomen. How do recanalization arrest, pancreatic bud migration, and aberrant vacuolation produce this identical appearance?</a:t>
            </a:r>
            <a:endParaRPr lang="en-US" sz="1050" dirty="0"/>
          </a:p>
        </p:txBody>
      </p:sp>
      <p:sp>
        <p:nvSpPr>
          <p:cNvPr id="7" name="Shape 5"/>
          <p:cNvSpPr/>
          <p:nvPr/>
        </p:nvSpPr>
        <p:spPr>
          <a:xfrm>
            <a:off x="548640" y="1874520"/>
            <a:ext cx="3538728" cy="3611880"/>
          </a:xfrm>
          <a:prstGeom prst="rect">
            <a:avLst/>
          </a:prstGeom>
          <a:solidFill>
            <a:srgbClr val="FFFFFF"/>
          </a:solidFill>
          <a:ln w="15240">
            <a:solidFill>
              <a:srgbClr val="CBD5E1"/>
            </a:solidFill>
            <a:prstDash val="solid"/>
          </a:ln>
        </p:spPr>
      </p:sp>
      <p:sp>
        <p:nvSpPr>
          <p:cNvPr id="8" name="Shape 6"/>
          <p:cNvSpPr/>
          <p:nvPr/>
        </p:nvSpPr>
        <p:spPr>
          <a:xfrm>
            <a:off x="548640" y="1874520"/>
            <a:ext cx="3538728" cy="384048"/>
          </a:xfrm>
          <a:prstGeom prst="rect">
            <a:avLst/>
          </a:prstGeom>
          <a:solidFill>
            <a:srgbClr val="1E3A8A"/>
          </a:solidFill>
          <a:ln/>
        </p:spPr>
      </p:sp>
      <p:sp>
        <p:nvSpPr>
          <p:cNvPr id="9" name="Text 7"/>
          <p:cNvSpPr/>
          <p:nvPr/>
        </p:nvSpPr>
        <p:spPr>
          <a:xfrm>
            <a:off x="640080"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DUODENAL ATRESIA</a:t>
            </a:r>
            <a:endParaRPr lang="en-US" sz="1100" dirty="0"/>
          </a:p>
        </p:txBody>
      </p:sp>
      <p:sp>
        <p:nvSpPr>
          <p:cNvPr id="10" name="Text 8"/>
          <p:cNvSpPr/>
          <p:nvPr/>
        </p:nvSpPr>
        <p:spPr>
          <a:xfrm>
            <a:off x="685800"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Embryogenesis: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Tandler recanalization arrest (weeks 8–10). Apoptosis fails to reopen solid epithelial cord.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Anatomy: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Direct fluid continuity between stomach and duodenal bulb across pylorus. Airless distal gut.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Genetics: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30–40% Trisomy 21 (Down syndrome); VACTERL in 30%.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US Sign: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Classic Double Bubble + marked polyhydramnios after 24 weeks.
</a:t>
            </a:r>
            <a:endParaRPr lang="en-US" sz="1000" dirty="0"/>
          </a:p>
        </p:txBody>
      </p:sp>
      <p:sp>
        <p:nvSpPr>
          <p:cNvPr id="11" name="Shape 9"/>
          <p:cNvSpPr/>
          <p:nvPr/>
        </p:nvSpPr>
        <p:spPr>
          <a:xfrm>
            <a:off x="4325112" y="1874520"/>
            <a:ext cx="3538728" cy="3611880"/>
          </a:xfrm>
          <a:prstGeom prst="rect">
            <a:avLst/>
          </a:prstGeom>
          <a:solidFill>
            <a:srgbClr val="FFFFFF"/>
          </a:solidFill>
          <a:ln w="15240">
            <a:solidFill>
              <a:srgbClr val="CBD5E1"/>
            </a:solidFill>
            <a:prstDash val="solid"/>
          </a:ln>
        </p:spPr>
      </p:sp>
      <p:sp>
        <p:nvSpPr>
          <p:cNvPr id="12" name="Shape 10"/>
          <p:cNvSpPr/>
          <p:nvPr/>
        </p:nvSpPr>
        <p:spPr>
          <a:xfrm>
            <a:off x="4325112" y="1874520"/>
            <a:ext cx="3538728" cy="384048"/>
          </a:xfrm>
          <a:prstGeom prst="rect">
            <a:avLst/>
          </a:prstGeom>
          <a:solidFill>
            <a:srgbClr val="0F766E"/>
          </a:solidFill>
          <a:ln/>
        </p:spPr>
      </p:sp>
      <p:sp>
        <p:nvSpPr>
          <p:cNvPr id="13" name="Text 11"/>
          <p:cNvSpPr/>
          <p:nvPr/>
        </p:nvSpPr>
        <p:spPr>
          <a:xfrm>
            <a:off x="4416552"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ANNULAR PANCREAS</a:t>
            </a:r>
            <a:endParaRPr lang="en-US" sz="1100" dirty="0"/>
          </a:p>
        </p:txBody>
      </p:sp>
      <p:sp>
        <p:nvSpPr>
          <p:cNvPr id="14" name="Text 12"/>
          <p:cNvSpPr/>
          <p:nvPr/>
        </p:nvSpPr>
        <p:spPr>
          <a:xfrm>
            <a:off x="4462272"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Embryogenesis: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Incomplete clockwise migration of bifid ventral pancreatic bud behind duodenum.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Anatomy: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Pancreatic parenchyma encircles 2nd part of duodenum like a ring ('crocodile-jaw' on MRCP).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Transit: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Stenosis often partial; distal bowel gas/fluid may be preserved postnatally.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MRI Sign: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Tissue isointense to pancreas constricting D2.
</a:t>
            </a:r>
            <a:endParaRPr lang="en-US" sz="1000" dirty="0"/>
          </a:p>
        </p:txBody>
      </p:sp>
      <p:sp>
        <p:nvSpPr>
          <p:cNvPr id="15" name="Shape 13"/>
          <p:cNvSpPr/>
          <p:nvPr/>
        </p:nvSpPr>
        <p:spPr>
          <a:xfrm>
            <a:off x="8101584" y="1874520"/>
            <a:ext cx="3538728" cy="3611880"/>
          </a:xfrm>
          <a:prstGeom prst="rect">
            <a:avLst/>
          </a:prstGeom>
          <a:solidFill>
            <a:srgbClr val="FFFFFF"/>
          </a:solidFill>
          <a:ln w="15240">
            <a:solidFill>
              <a:srgbClr val="CBD5E1"/>
            </a:solidFill>
            <a:prstDash val="solid"/>
          </a:ln>
        </p:spPr>
      </p:sp>
      <p:sp>
        <p:nvSpPr>
          <p:cNvPr id="16" name="Shape 14"/>
          <p:cNvSpPr/>
          <p:nvPr/>
        </p:nvSpPr>
        <p:spPr>
          <a:xfrm>
            <a:off x="8101584" y="1874520"/>
            <a:ext cx="3538728" cy="384048"/>
          </a:xfrm>
          <a:prstGeom prst="rect">
            <a:avLst/>
          </a:prstGeom>
          <a:solidFill>
            <a:srgbClr val="831843"/>
          </a:solidFill>
          <a:ln/>
        </p:spPr>
      </p:sp>
      <p:sp>
        <p:nvSpPr>
          <p:cNvPr id="17" name="Text 15"/>
          <p:cNvSpPr/>
          <p:nvPr/>
        </p:nvSpPr>
        <p:spPr>
          <a:xfrm>
            <a:off x="8193024"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DUODENAL DUPLICATION CYST</a:t>
            </a:r>
            <a:endParaRPr lang="en-US" sz="1100" dirty="0"/>
          </a:p>
        </p:txBody>
      </p:sp>
      <p:sp>
        <p:nvSpPr>
          <p:cNvPr id="18" name="Text 16"/>
          <p:cNvSpPr/>
          <p:nvPr/>
        </p:nvSpPr>
        <p:spPr>
          <a:xfrm>
            <a:off x="8238744"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Embryogenesis: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Aberrant vacuolation creating a parallel blind-ending enteric lumen.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Anatomy: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Non-communicating cystic mass in RUQ; does NOT communicate across pylorus.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Transit: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Normal distal bowel transit; no airless distal gut.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US Sign: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'Gut Signature' (inner bright mucosa, outer hypoechoic smooth muscle coat).
</a:t>
            </a:r>
            <a:endParaRPr lang="en-US" sz="1000" dirty="0"/>
          </a:p>
        </p:txBody>
      </p:sp>
      <p:sp>
        <p:nvSpPr>
          <p:cNvPr id="19" name="Shape 17"/>
          <p:cNvSpPr/>
          <p:nvPr/>
        </p:nvSpPr>
        <p:spPr>
          <a:xfrm>
            <a:off x="548640" y="5577840"/>
            <a:ext cx="11091672" cy="713232"/>
          </a:xfrm>
          <a:prstGeom prst="rect">
            <a:avLst/>
          </a:prstGeom>
          <a:solidFill>
            <a:srgbClr val="FEF2F2"/>
          </a:solidFill>
          <a:ln w="15240">
            <a:solidFill>
              <a:srgbClr val="DC2626"/>
            </a:solidFill>
            <a:prstDash val="solid"/>
          </a:ln>
        </p:spPr>
      </p:sp>
      <p:sp>
        <p:nvSpPr>
          <p:cNvPr id="20" name="Text 18"/>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PYLORIC CONTINUITY TEST: Never diagnose duodenal atresia on ultrasound without demonstrating direct real-time fluid continuity between the left-sided stomach and right-sided duodenal bulb through the pylorus! Enteric cysts lack pyloric continuity.</a:t>
            </a:r>
            <a:endParaRPr lang="en-US" sz="950" dirty="0"/>
          </a:p>
        </p:txBody>
      </p:sp>
      <p:sp>
        <p:nvSpPr>
          <p:cNvPr id="21" name="Text 19"/>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Brantberg A, et al. Ultrasound Obstet Gynecol 2002;20(5):439–446; Amarnath C, Patel H. Comprehensive Textbook of Clinical Radiology.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MIDGUT ROTATION • WEEKS 6–12 GA</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270° Counterclockwise Ballet: Normal Stages around the SMA Axis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The midgut performs a precise 270° counterclockwise spiral around the SMA. Trace the 3 embryological stages that dictate why the Ligament of Treitz must anchor to the left of the spine.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STAGE 1: HERNIATION &amp; 90° CCW TURN (WEEKS 6–10)</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Arterial Axis: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The Superior Mesenteric Artery (SMA) acts as the fixed central pivot line.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Pre-arterial Segment: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Duodenojejunal (DJ) loop rotates 90° counterclockwise from midline to the RIGHT of the SMA.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Post-arterial Segment: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Cecocolic loop rotates 90° counterclockwise from midline to the LEFT of the SMA.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Coelomic Space: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Loops reside safely within the physiological umbilical cord hernia sac.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STAGES 2 &amp; 3: REDUCTION, 180° TURN &amp; FIXATION (WEEKS 10–12+)</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Stage 2 Reduction: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Loops return into abdominal cavity, rotating an additional 180° counterclockwise (Total = 270° CCW).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DJ Loop Trajectory: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Passes BEHIND the SMA, ascending to anchor at the Ligament of Treitz (L1, to the LEFT of the spine).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Cecocolic Trajectory: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Passes IN FRONT OF the SMA, descending into the Right Lower Quadrant (RLQ).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Stage 3 Mesenteric Fixation: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Peritoneal base fuses obliquely across 15–20 cm from LUQ (Treitz) to RLQ (cecum), anchoring gut against twisting.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EMBRYOLOGICAL GEOMETRY: Normal midgut rotation places the DJ junction posterior to the SMA at Treitz, and the cecum anterior to the SMA in the RLQ. This broad 15–20 cm diagonal anchor physically prevents midgut volvulus.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Applegate KE. Pediatr Radiol 2009;39(Suppl 2):S161–S166; Frazer JE, Robbins RH. On the factors concerned in causing rotation of the intestine in man. J Anat Physiol 1915;50:75–110.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MIDGUT ARREST • WEEKS 10–12</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Midgut Malrotation &amp; Volvulus: Ladd's Bands and The Mandatory Lateral View</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Why can an infant who nursed normally for 3 weeks suddenly present with bilious emesis and progress to total bowel gangrene within 6 hours? Understand why the lateral fluoroscopic view is legally mandatory.</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B91C1C"/>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PATHOLOGICAL ANATOMY: ARREST AT 180°</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Cecal Subhepatic Arrest: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Cecum fails to reach RLQ, remaining arrested in the epigastrium or subhepatic space.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Ladd's Peritoneal Bands: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Fibrous peritoneal bands cross the 2nd/3rd duodenum attempting to tether the cecum, causing extrinsic duodenal obstruction.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Narrow Mesenteric Base: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Instead of a broad 15–20 cm base, the entire midgut hangs on a narrow vascular pedicle centered exclusively on the SMA/SMV root.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Midgut Volvulus: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Clockwise torsion around SMA -&gt; mesenteric venous occlusion, ischemia, and total gangrene (D3 to mid-transverse colon).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1E293B"/>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RADIOLOGICAL HALLMARKS &amp; THE DOPPLER PITFALL</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Upper GI Series (Gold Standard):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DJ junction MUST cross the midline to the left of vertebral pedicles, rise to the level of duodenal bulb on AP view, and DIVE POSTERIORLY INTO RETROPERITONEUM on true lateral view.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Volvulus Fluoroscopy: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'Corkscrew sign' or beaked duodenal tapering.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Color Doppler 'Whirlpool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Clockwise swirling of SMV and mesenteric fat around central SMA.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SMA/SMV Inversion: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SMV lies to the left of the SMA in malrotation.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FALSE SECURITY OF DOPPLER: Up to 15–20% of infants with surgically proven malrotation have a completely NORMAL SMA/SMV relationship on Doppler! In any infant with bilious vomiting, a normal ultrasound DOES NOT rule out malrotation—an Upper GI fluoroscopy series is mandatory!</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Applegate KE. Pediatr Radiol 2009;39(Suppl 2):S161–S166; Pracros JP, et al. Pediatr Radiol 1992;22(1):18–20.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ATRESIA PARADIGMS • WEEKS 7–8 VS. LATE FETAL</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Intestinal Atresia Paradox: Recanalization Failure vs. Ischemic Catastrophe</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Both cause fetal bowel dilatation and polyhydramnios on prenatal imaging. Why does the proximal obstruction point directly to Down syndrome, while the distal obstruction represents an intrauterine vascular accident?</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766E"/>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DUODENAL ATRESIA (TANDLER'S RECANALIZATION FAILURE)</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Timing &amp; Mechanism: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7–8 embryonic (CS 18–20). Endodermal hyperplasia occludes lumen ('solid cord stage'). Apoptosis fails to recanalize lumen by week 10.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Chromosomal Load: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30–40% Trisomy 21 (Down syndrome); annular pancreas, cardiac defects (AVSD, VSD), VACTERL association.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Hallmark: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'Double Bubble' sign (stomach + duodenal bulb) with an AIRLESS distal abdomen postnatally. Polyhydramnios in &gt;90%.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Peritoneal Space: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Normal sterile peritoneum; NO meconium calcifications.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9A3412"/>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JEJUNOILEAL ATRESIA (LOUW &amp; BARNARD ISCHEMIC ACCIDENT)</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Timing &amp; Mechanism: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Late 2nd or 3rd trimester (weeks 14–28 GA). Post-organogenesis infarction of an already-formed, recanalized bowel loop.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Etiologies: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Mesenteric thromboembolism, in-utero volvulus, intussusception, or strangulation in a tight umbilical ring / gastroschisis.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Chromosomal Load: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Virtually ZERO aneuploidy risk! Genetically normal fetus. 10% associated with cystic fibrosis (thick meconium plug).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Hallmark: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Multiple dilated hyperperistaltic bowel loops; Meconium Peritonitis (punctate calcifications, ascites, pseudocysts).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ATRESIA PARADOX: Proximal atresia (duodenal) = early recanalization arrest -&gt; high aneuploidy (Down syndrome). Distal atresia (jejunoileal) = late ischemic accident -&gt; normal chromosomes, screen for Cystic Fibrosis. Look for meconium calcifications in jejunoileal atresia!</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Louw JH, Barnard CN. Lancet 1955;269(6898):1065–1067; Brantberg A, et al. Ultrasound Obstet Gynecol 2002;20(5):439–446.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MECONIUM PATHOPHYSIOLOGY • 2ND &amp; 3RD TRIMESTER</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Meconium Dynamics: Chemical Peritonitis, Pseudocysts &amp; Calcification Kinetics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Bright echogenic foci scatter across the fetal peritoneum and scrotum. Why does sterile fetal bowel perforation trigger rapid dystrophic calcification within 24 to 48 hours?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854D0E"/>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PATHOPHYSIOLOGICAL CASCADE</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In-Utero Perforation: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Occurs proximal to an atresia, in-utero volvulus, or meconium ileus (Cystic Fibrosis).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Chemical Peritonitis: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Sterile, enzyme-rich fetal meconium, bile salts, and pancreatic enzymes spill into the peritoneal cavity, inciting intense foreign-body chemical peritonitis.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Dystrophic Calcification: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Precipitation of calcium salts by saponification occurs rapidly within 24–48 hours, creating permanent radiographic markers.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Meconium Pseudocyst: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Inflammatory fibrinous adhesions wall off the leakage into a thick-walled, hyperechoic cystic cavity.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1E293B"/>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SONOGRAPHIC TRIAD &amp; WORKSTATION CLUES</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1. Peritoneal Calcifications: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Punctate or linear hyperechoic foci with acoustic shadowing along liver capsule, bowel serosa, and dependent peritoneum.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2. Scrotal / Labial Calcifications: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Meconium tracks down a patent processus vaginalis into the scrotum (calcified meconium hydrocele).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3. Fluid Dynamics: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Polyhydramnios + fetal ascites +- thick-walled cystic meconium pseudocyst.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Spontaneous Healing: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Perforation frequently reseals spontaneously; calcifications persist as the sole lifelong forensic clue!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PATENT PROCESSUS VAGINALIS CLUE: In male fetuses, always scrutinize the scrotum when meconium peritonitis is suspected! Meconium flows down the patent processus vaginalis, forming scrotal calcifications that confirm in-utero bowel perforation.</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Buonomo C. Radiol Clin North Am 1996;34(4):815–823; Amarnath C, Patel H. Comprehensive Textbook of Clinical Radiology.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DISTAL NEONATAL OBSTRUCTION • WEEKS 5–12</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Neonatal Distal Obstruction: Neural Crest Arrest vs. Exocrine Osmotic Failure</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newborn fails to pass meconium in the first 48 hours and develops progressive abdominal distension. Contrast enema shows a small-caliber colon. How do neural crest migration and CFTR differentiate these surgical pathways?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293B"/>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HIRSCHSPRUNG DISEASE (AGANGLIONIC MEGACOLON)</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Failure of vagal NEURAL CREST CELLS to complete craniocaudal migration between weeks 5 and 12 (RET proto-oncogene, EDNRB mutations).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Total absence of ganglion cells in Meissner and Auerbach plexuses from internal anal sphincter proximally (80% rectosigmoid = short-segment). Aganglionic zone remains in continuous tonic spasm.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Contrast Enema: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Rectosigmoid ratio reversal (R/S &lt; 1.0; normal rectum is wider than sigmoid). Funnel-shaped transition zone with saw-tooth contractions. 24-hr barium retention.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Gold Standard: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Rectal suction biopsy (proves absence of ganglion cells and hypertrophied acetylcholinesterase-positive nerve trunks).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MECONIUM ILEUS (CYSTIC FIBROSIS)</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Biallelic mutations in CFTR gene (7q31.2). Defective chloride and water transport across exocrine epithelial glands.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Tenacious, tar-like, dehydrated meconium concretions obstruct the terminal ileum. Colon remains in an unused, diminutive state (MICROCOLON).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Contrast Enema: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Microcolon ('String Sign'): Diffusely small-caliber colon throughout. Multiple round, radiolucent filling defects (inspissated meconium pellets) in terminal ileum. Gastrografin is diagnostic and therapeutic.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Small Left Colon: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Look-alike in infants of diabetic mothers: caliber change at splenic flexure; transient functional immaturity.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TOTAL COLONIC AGANGLIONOSIS TRAP: In 5–10% of Hirschsprung disease, aganglionosis involves the ENTIRE colon. On contrast enema, this mimics meconium ileus with a generalized microcolon and NO transition zone! Any infant with a microcolon and normal CF genetics must undergo rectal suction biopsy.</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Pratap A, et al. Pediatr Surg Int 2007;23(4):313–319; Buonomo C. Radiol Clin North Am 1996;34(4):815–823.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ABDOMINAL CYSTIC LOOK-ALIKES • FOREGUT &amp; MIDGUT</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Pediatric Cystic RUQ Masses: The 'Gut Signature' vs. The Biliary Tree</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fluid-filled RUQ cystic mass in an infant: Is it an enteric duplication prone to life-threatening ulceration, a choledochal cyst requiring cancer-prophylactic excision, or a benign lymphangioma?</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831843"/>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ENTERIC DUPLICATION CYST</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4–8. Incomplete vacuolation and recanalization of primitive gut lumen, or split notochord syndrome (associated with vertebral segmentation anomalies).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Obligate Criteria: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 Intimately attached to or embedded in GI wall
2. Enclosed by smooth muscularis propria coat
3. Lined by true GI mucosa (heterotopic gastric mucosa in 30–50% -&gt; peptic ulceration and massive GI bleeding).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'Gut Signature':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Double-Rim Sign on US: Inner hyperechoic mucosal interface surrounded by outer hypoechoic muscularis propria rim (&gt;95% specificity). Real-time peristalsis.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369A1"/>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CHOLEDOCHAL CYST (TODANI SPECTRUM)</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Anomalous Pancreaticobiliary Ductal Junction (APBDJ). Pancreatic and bile ducts join &gt;15 mm outside duodenal wall, outside the sphincter of Oddi.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Pathology: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Reflux of active pancreatic enzymes destroys duct wall elastin and collagen -&gt; aneurysmal duct ectasia. LACKS muscularis propria smooth muscle coat.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Malignancy Risk: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20–30% risk of cholangiocarcinoma in adulthood; requires complete excision with Roux-en-Y reconstruction.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Mesenteric Cyst: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Benign lymphatic sequestration; thin-walled, compressible, multilocular, devoid of muscle.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CYSTIC BILIARY ATRESIA VS. TODANI TYPE I: In a jaundiced neonate with a porta hepatis cyst, cystic biliary atresia mimics a Todani Type I cyst. Look for an absent/small gallbladder (&lt;1.5 cm) and the 'triangular cord sign' (&gt;4 mm echogenic fibrous plaque anterior to portal bifurcation) to diagnose biliary atresia before the 60-day Kasai deadline!</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Macpherson RI. RadioGraphics 1993;13(5):1063–1080; Todani T, et al. Am J Surg 1977;134(2):263–269.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DIAPHRAGMATIC CLEAVAGE • WEEKS 4–10</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Congenital Diaphragmatic Hernia: Dual-Hit Model &amp; TOTAL Trial Matrix</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85% are left-sided and posterolateral. Why does the timing of pleuroperitoneal closure dictate not just a diaphragmatic defect, but lethal pulmonary hypoplasia that can be rescued by an in-utero balloon?</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BOCHDALEK HERNIA &amp; THE DUAL-HIT HYPOTHESIS</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Failure of pleuroperitoneal fold (PPF) to fuse with septum transversum before midgut returns at week 10. Left canal is larger and closes later than right; right is protected by liver.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Dual-Hit Hypothesis: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Herniation during pseudoglandular lung stage (wks 5–16) arrests bronchial branching. Concurrently, primary genetic mutations (GATA4, WT1) independently disrupt bilateral pulmonary arteriolar muscularization.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Morgagni Defect: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Anterior retrosternal space of Larrey (90% right-sided); late failure of sternal/costal muscular slips; minimal pulmonary hypoplasia.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47857"/>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TOTAL TRIAL PROGNOSTIC MATRIX (NEJM 2021)</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Observed/Expected LHR: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o/e LHR on 2D US (measured at 22–32 wks GA):
• Severe CDH: o/e LHR &lt;25% (Survival &lt;15–20% without FETO; ECMO &gt;80%)
• Moderate CDH: o/e LHR 25–34.9% (liver-up) or 25–44.9% (liver-down)
• Mild CDH: o/e LHR &gt;= 45% (Survival &gt;85%).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Liver Position: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Herniation of left hepatic lobe into thorax ('Liver-Up') reduces survival by ~40% across all strata.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MRI TFLV: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o/e Total Fetal Lung Volume (TFLV) &lt;25% predicts extreme pulmonary hypoplasia.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FETO Fetal Surgery: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Tracheal balloon occlusion at 27–29 wks traps lung fluid to accelerate alveolar growth, removed at 34 wks.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RIGHT-SIDED CDH MIMICKER: Right-sided CDH herniates liver and gallbladder, frequently misdiagnosed as CPAM Type III or sequestration. Interrogate the thoracic mass with Color Doppler: tracing portal venous branches or a fluid-filled gallbladder into the chest proves right CDH!</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Deprest JA, et al. N Engl J Med 2021;385(2):107–118 (TOTAL Trial); Hedrick HL, et al. RadioGraphics 2004;24(2):483–497.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ANORECTAL MORPHOGENESIS • WEEKS 4–7</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Anorectal Malformations &amp; Currarino Triad: Krickenbeck and MNX1</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newborn female has a single perineal orifice, and another infant has chronic constipation and an abnormal sacrum. Why is aspirating a presacral mass in the latter an act of surgical disaster?</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312E81"/>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CLOACAL CLEAVAGE &amp; KRICKENBECK ARM</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Urorectal septum (Tourneux fold + Rathke folds) descends weeks 4–7 to fuse with cloacal membrane, cleaving cloaca into Urogenital Sinus and Anorectal Canal.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Krickenbeck (2005):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Replaced obsolete Wingspread criteria. Categorized by specific fistulae: Perineal, Rectourethral (bulbar/prostatic), Rectovesical, Rectovestibular, Persistent Cloaca, ARM without fistula.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Persistent Cloaca: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Complete failure of urorectal descent in females. Urethra, vagina, and rectum empty into a SINGLE common channel. Fetal/neonatal MRI: Hydrocolpos + Enterolithiasis (calcified meconium).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881337"/>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CURRARINO SYNDROME (HEREDITARY SACRAL PHENOTYPE)</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Genetics &amp; Blastogenesis: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Carnegie Stage 12 blastogenesis arrest. Autosomal dominant mutation / haploinsufficiency of MNX1 gene (formerly HLXB9) on chromosome 7q36.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Pathognomonic Triad: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 Sacral anomaly (Scimitar sacrum / hemisacrum)
2. Anorectal malformation (anal stenosis, ectopia)
3. Presacral mass (anterior sacral meningocele in 60%, mature teratoma, or duplication cyst).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Hallmarks: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Frontal pelvic X-ray shows 'Scimitar sacrum' (sickle-shaped sacral defect). Pelvic MRI confirms anterior meningocele communicating with the thecal sac; rules out tethered cord.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NEVER BIOPSY A PRESACRAL MASS IN CURRARINO SYNDROME: Attempting needle biopsy or aspiration of a presacral mass in Currarino syndrome will puncture an ANTERIOR SACRAL MENINGOCELE, producing catastrophic bacterial meningitis, CSF fistulae, and death! Always inspect the sacrum on frontal films.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Holschneider A, et al. J Pediatr Surg 2005;40(10):1522–1526; Currarino G, et al. Pediatr Radiol 1981;10(4):219–223; Lynch SA, et al. Am J Hum Genet 1995;56(6):1276–1281.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RENAL INDUCTION • WEEKS 4–8</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Triphasic Kidney: Epithelial-Mesenchymal Induction &amp; Nephrogenesis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The human embryo builds three sequential renal systems. Why does the definitive metanephros depend on an exquisite reciprocal dialogue between two distinct mesodermal lineages?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THREE EMBRYONIC RENAL SYSTEMS</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Pronephros (Week 4):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Non-functional cervical nephrotomes; rapidly regresses completely.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Mesonephros (Weeks 4–8):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Functional temporary embryonic kidney; gives rise to the critical WOLFFIAN (mesonephric) DUCT which guides genital and ureteric development.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Metanephros (Week 5 onwards):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The definitive permanent kidney formed by reciprocal inductive signaling between the Ureteric Bud and Metanephric Blastema.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RECIPROCAL DIALOGUE &amp; THE GOLDEN RULE</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Ureteric Bud (Wolffian Outgrowth):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Branches dichotomously 15–20 times inside the blastema to form the collecting system: ureter, pelvis, calyces, and 1–3 million collecting tubules.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Metanephric Blastema (Sacral Cord):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Condenses around ampullae tips and undergoes mesenchymal-to-epithelial transition, forming excretory nephrons: glomeruli, proximal tubules, Loops of Henle, and distal tubules.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Golden Morphogenetic Rule: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 URETERIC BUD = NO BLASTEMA INDUCTION = RENAL AGENESIS.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RECIPROCAL INDUCTION PRINCIPLE: The kidney cannot form without two-way signaling: ureteric bud GDNF-c-RET drives branching, and blastemal WNT4-WT1 drives nephron formation. Disruption at week 5 causes total renal agenesis.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Amarnath C, Patel H. Comprehensive Textbook of Clinical Radiology; Sadler TW. Langman's Medical Embryology 14th ed.</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RENAL AGENESIS VS. ECTOPIA • WEEKS 5–9</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Missing Metanephros: Potter Sequence and The 'Lying-Down' Adrenal Sign</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You scan an empty renal bed in a newborn. The adrenal gland is present and elongated. Does this prove renal agenesis, or is there a functional ectopic kidney hiding in the pelvis?</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172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EMBRYOLOGICAL ADRENAL AUTONOMY</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Dual Embryological Origins: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Adrenal Cortex: Coelomic mesothelium (week 5).
• Adrenal Medulla: Ectodermal neural crest cells (week 7).
• Metanephric Kidney: Intermediate mesoderm induced by ureteric bud (week 5).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Autonomy Rule: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Adrenal organogenesis is COMPLETELY INDEPENDENT of renal development! Even in bilateral renal agenesis (Potter sequence), both adrenal glands are present and normal in size in their suprarenal beds.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Mechanical Morphogenesis: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Normally, cranial pressure from the ascending kidney reaches the adrenal by week 9, molding it into an inverted 'V' or 'Y' shape.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284C7"/>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'LYING-DOWN' ADRENAL SIGN &amp; DOPPLER PROTOCOL</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'Lying-Down Adrenal'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Without the upward molding pressure of the kidney (in Renal Agenesis OR Pelvic Ectopia), the adrenal remains flat, discoid, and elongated parallel along the psoas muscle or diaphragmatic crus.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Aortic Color Doppler Sweep: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Renal Agenesis: Complete absence of the ipsilateral main renal artery branching from the abdominal aorta.
• Pelvic Ectopic Kidney: Main renal artery absent at T12–L1, but a low feeding artery arises from distal aorta or iliac vessels.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Genital Co-Anomalies: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Unilateral renal agenesis is associated with ipsilateral genital anomalies in 50–70% of females (OHVIRA) and 15% of males (Zinner syndrome).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NEONATAL ADRENAL KIDNEY MIMIC: Neonatal adrenal glands are proportionally massive (1/3 the size of the kidney at birth, vs 1/30 in adults). Under ultrasound, the hypoechoic cortex and central echogenic medulla closely mimic a normal kidney! Always verify renal pyramids and sweep the aorta with Doppler.</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McGahan JP, Nyberg DA. J Clin Ultrasound 1989;17(6):429–434; Bronshtein M, et al. Ultrasound Obstet Gynecol 1995;6(2):107–111.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METANEPHRIC MIGRATION • WEEKS 5–9</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Renal Ascent &amp; Rotation: The L3 IMA Roof vs. Crossed-Fused Ureteric Trajectories</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Metanephric kidneys begin in the sacral pelvis and end at T12. Why does a horseshoe kidney always stop climbing precisely at L3, while a crossed-fused ectopic kidney crosses the midline entirely?</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HORSESHOE KIDNEY (ARREST AT L3)</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4–6. Lower blastemal poles fuse across midline in true pelvis (95% lower pole, 5% upper pole) before ascent.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IMA Arrest: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As the fused parenchymal isthmus ascends, it encounters the Inferior Mesenteric Artery (IMA) originating from anterior aorta at L3. The IMA acts as a fixed roof, arresting ascent!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Rotational Arrest: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Medial 90° rotation also halts: calyces point posteriorly; ureters drape anteriorly over the isthmus.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Complications &amp; Cancer: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UPJ obstruction in 30% from aberrant lower-pole vessels. 6- to 8-fold increased incidence of Wilms tumor; increased carcinoid tumors of the isthmus; RCC and TCC from urinary stasis/calculi.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CROSSED-FUSED RENAL ECTOPIA</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Abnormal lateral flexion of caudal trunk directs the ureteric bud across the midline, or the contralateral blastema is pulled across. 90% fuse with the orthotopic kidney (left-to-right crossing 3x more common).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Immutable Ureteric Law: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The ectopic kidney's ureter ALWAYS crosses back over the midline to insert into its embryologically correct ipsilateral bladder trigone!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Vascular Supply: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Supplied by multiple aberrant low aortic and common iliac branches reflecting arrested ascent.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Imaging: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Solitary enlarged, reniform mass containing two collecting systems; empty contralateral renal fossa.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RETROPERITONEAL ADENOPATHY MIMIC &amp; WILMS TUMOR RISK: The parenchymal isthmus of a horseshoe kidney crossing anterior to the aorta and IVC can mimic retroperitoneal lymphadenopathy or sarcoma on non-contrast CT. Verify parenchymal continuity with lower poles and identical contrast enhancement. Remember the 6x Wilms tumor risk in pediatric patients!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Glodny B, et al. Eur Urol 2008;54(4):812–824; Bauer SB. Campbell-Walsh Urology 10th ed. 2012:3115–3164.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RENAL CYSTIC SPECTRUM • TIMING HYPOTHESIS</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MCDK vs. ARPKD vs. Hydronephrosis: Connecting Obstruction Timing to Parenchymal Destiny</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Why does early urinary tract obstruction before 10 weeks produce a multicystic dysplastic bag with zero function, while late obstruction after 14 weeks produces simple hydronephrosis with salvageable cortex?</a:t>
            </a:r>
            <a:endParaRPr lang="en-US" sz="1050" dirty="0"/>
          </a:p>
        </p:txBody>
      </p:sp>
      <p:sp>
        <p:nvSpPr>
          <p:cNvPr id="7" name="Shape 5"/>
          <p:cNvSpPr/>
          <p:nvPr/>
        </p:nvSpPr>
        <p:spPr>
          <a:xfrm>
            <a:off x="548640" y="1874520"/>
            <a:ext cx="3538728" cy="3611880"/>
          </a:xfrm>
          <a:prstGeom prst="rect">
            <a:avLst/>
          </a:prstGeom>
          <a:solidFill>
            <a:srgbClr val="FFFFFF"/>
          </a:solidFill>
          <a:ln w="15240">
            <a:solidFill>
              <a:srgbClr val="CBD5E1"/>
            </a:solidFill>
            <a:prstDash val="solid"/>
          </a:ln>
        </p:spPr>
      </p:sp>
      <p:sp>
        <p:nvSpPr>
          <p:cNvPr id="8" name="Shape 6"/>
          <p:cNvSpPr/>
          <p:nvPr/>
        </p:nvSpPr>
        <p:spPr>
          <a:xfrm>
            <a:off x="548640" y="1874520"/>
            <a:ext cx="3538728" cy="384048"/>
          </a:xfrm>
          <a:prstGeom prst="rect">
            <a:avLst/>
          </a:prstGeom>
          <a:solidFill>
            <a:srgbClr val="334155"/>
          </a:solidFill>
          <a:ln/>
        </p:spPr>
      </p:sp>
      <p:sp>
        <p:nvSpPr>
          <p:cNvPr id="9" name="Text 7"/>
          <p:cNvSpPr/>
          <p:nvPr/>
        </p:nvSpPr>
        <p:spPr>
          <a:xfrm>
            <a:off x="640080"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MCDK (&lt;8–10 WKS)</a:t>
            </a:r>
            <a:endParaRPr lang="en-US" sz="1100" dirty="0"/>
          </a:p>
        </p:txBody>
      </p:sp>
      <p:sp>
        <p:nvSpPr>
          <p:cNvPr id="10" name="Text 8"/>
          <p:cNvSpPr/>
          <p:nvPr/>
        </p:nvSpPr>
        <p:spPr>
          <a:xfrm>
            <a:off x="685800"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Early Insult: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Complete atresia of ureteric bud during early branching. Blastemal nephron induction aborts.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Pathology: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Non-communicating cysts separated by fibrous stroma and cartilage. ZERO functioning nephrons.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Natural History: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Tc-99m DMSA scan: 0% split function. Involution in 60% by age 5.
</a:t>
            </a:r>
            <a:endParaRPr lang="en-US" sz="1000" dirty="0"/>
          </a:p>
        </p:txBody>
      </p:sp>
      <p:sp>
        <p:nvSpPr>
          <p:cNvPr id="11" name="Shape 9"/>
          <p:cNvSpPr/>
          <p:nvPr/>
        </p:nvSpPr>
        <p:spPr>
          <a:xfrm>
            <a:off x="4325112" y="1874520"/>
            <a:ext cx="3538728" cy="3611880"/>
          </a:xfrm>
          <a:prstGeom prst="rect">
            <a:avLst/>
          </a:prstGeom>
          <a:solidFill>
            <a:srgbClr val="FFFFFF"/>
          </a:solidFill>
          <a:ln w="15240">
            <a:solidFill>
              <a:srgbClr val="CBD5E1"/>
            </a:solidFill>
            <a:prstDash val="solid"/>
          </a:ln>
        </p:spPr>
      </p:sp>
      <p:sp>
        <p:nvSpPr>
          <p:cNvPr id="12" name="Shape 10"/>
          <p:cNvSpPr/>
          <p:nvPr/>
        </p:nvSpPr>
        <p:spPr>
          <a:xfrm>
            <a:off x="4325112" y="1874520"/>
            <a:ext cx="3538728" cy="384048"/>
          </a:xfrm>
          <a:prstGeom prst="rect">
            <a:avLst/>
          </a:prstGeom>
          <a:solidFill>
            <a:srgbClr val="166534"/>
          </a:solidFill>
          <a:ln/>
        </p:spPr>
      </p:sp>
      <p:sp>
        <p:nvSpPr>
          <p:cNvPr id="13" name="Text 11"/>
          <p:cNvSpPr/>
          <p:nvPr/>
        </p:nvSpPr>
        <p:spPr>
          <a:xfrm>
            <a:off x="4416552"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ARPKD (CILIOPATHY)</a:t>
            </a:r>
            <a:endParaRPr lang="en-US" sz="1100" dirty="0"/>
          </a:p>
        </p:txBody>
      </p:sp>
      <p:sp>
        <p:nvSpPr>
          <p:cNvPr id="14" name="Text 12"/>
          <p:cNvSpPr/>
          <p:nvPr/>
        </p:nvSpPr>
        <p:spPr>
          <a:xfrm>
            <a:off x="4462272"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Ciliary Defect: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Biallelic PKHD1 mutations encoding fibrocystin on primary cilia. Not an obstruction!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Pathology: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Fusiform cylindrical ectasia of 100% OF COLLECTING DUCTS. Ductal Plate Malformation -&gt; Congenital Hepatic Fibrosis (CHF).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US Hallmark: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Giant, symmetrically hyperechoic kidneys ('salt-and-pepper'); severe oligohydramnios.
</a:t>
            </a:r>
            <a:endParaRPr lang="en-US" sz="1000" dirty="0"/>
          </a:p>
        </p:txBody>
      </p:sp>
      <p:sp>
        <p:nvSpPr>
          <p:cNvPr id="15" name="Shape 13"/>
          <p:cNvSpPr/>
          <p:nvPr/>
        </p:nvSpPr>
        <p:spPr>
          <a:xfrm>
            <a:off x="8101584" y="1874520"/>
            <a:ext cx="3538728" cy="3611880"/>
          </a:xfrm>
          <a:prstGeom prst="rect">
            <a:avLst/>
          </a:prstGeom>
          <a:solidFill>
            <a:srgbClr val="FFFFFF"/>
          </a:solidFill>
          <a:ln w="15240">
            <a:solidFill>
              <a:srgbClr val="CBD5E1"/>
            </a:solidFill>
            <a:prstDash val="solid"/>
          </a:ln>
        </p:spPr>
      </p:sp>
      <p:sp>
        <p:nvSpPr>
          <p:cNvPr id="16" name="Shape 14"/>
          <p:cNvSpPr/>
          <p:nvPr/>
        </p:nvSpPr>
        <p:spPr>
          <a:xfrm>
            <a:off x="8101584" y="1874520"/>
            <a:ext cx="3538728" cy="384048"/>
          </a:xfrm>
          <a:prstGeom prst="rect">
            <a:avLst/>
          </a:prstGeom>
          <a:solidFill>
            <a:srgbClr val="0369A1"/>
          </a:solidFill>
          <a:ln/>
        </p:spPr>
      </p:sp>
      <p:sp>
        <p:nvSpPr>
          <p:cNvPr id="17" name="Text 15"/>
          <p:cNvSpPr/>
          <p:nvPr/>
        </p:nvSpPr>
        <p:spPr>
          <a:xfrm>
            <a:off x="8193024" y="1874520"/>
            <a:ext cx="3355848"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HYDRONEPHROSIS (&gt;14 WKS)</a:t>
            </a:r>
            <a:endParaRPr lang="en-US" sz="1100" dirty="0"/>
          </a:p>
        </p:txBody>
      </p:sp>
      <p:sp>
        <p:nvSpPr>
          <p:cNvPr id="18" name="Text 16"/>
          <p:cNvSpPr/>
          <p:nvPr/>
        </p:nvSpPr>
        <p:spPr>
          <a:xfrm>
            <a:off x="8238744" y="2331720"/>
            <a:ext cx="3264408" cy="3063240"/>
          </a:xfrm>
          <a:prstGeom prst="rect">
            <a:avLst/>
          </a:prstGeom>
          <a:noFill/>
          <a:ln/>
        </p:spPr>
        <p:txBody>
          <a:bodyPr wrap="square" lIns="0" tIns="0" rIns="0" bIns="0" rtlCol="0" anchor="t"/>
          <a:lstStyle/>
          <a:p>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Late Insult: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Obstruction occurs AFTER nephrogenesis is established (PUJO, PUV).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Pathology: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Urine filtration against outflow block causes caliceal dilatation and cortical thinning.
</a:t>
            </a:r>
            <a:pPr indent="0" marL="0">
              <a:lnSpc>
                <a:spcPts val="1300"/>
              </a:lnSpc>
              <a:buNone/>
            </a:pPr>
            <a:r>
              <a:rPr lang="en-US" sz="1000" b="1" dirty="0">
                <a:solidFill>
                  <a:srgbClr val="0A192F"/>
                </a:solidFill>
                <a:latin typeface="Calibri" pitchFamily="34" charset="0"/>
                <a:ea typeface="Calibri" pitchFamily="34" charset="-122"/>
                <a:cs typeface="Calibri" pitchFamily="34" charset="-120"/>
              </a:rPr>
              <a:t>US Hallmark: </a:t>
            </a:r>
            <a:pPr indent="0" marL="0">
              <a:lnSpc>
                <a:spcPts val="1300"/>
              </a:lnSpc>
              <a:buNone/>
            </a:pPr>
            <a:r>
              <a:rPr lang="en-US" sz="950" dirty="0">
                <a:solidFill>
                  <a:srgbClr val="0F172A"/>
                </a:solidFill>
                <a:latin typeface="Calibri" pitchFamily="34" charset="0"/>
                <a:ea typeface="Calibri" pitchFamily="34" charset="-122"/>
                <a:cs typeface="Calibri" pitchFamily="34" charset="-120"/>
              </a:rPr>
              <a:t>Dilated calyces COMMUNICATE with a central renal pelvis; functional cortical rim preserved.
</a:t>
            </a:r>
            <a:endParaRPr lang="en-US" sz="1000" dirty="0"/>
          </a:p>
        </p:txBody>
      </p:sp>
      <p:sp>
        <p:nvSpPr>
          <p:cNvPr id="19" name="Shape 17"/>
          <p:cNvSpPr/>
          <p:nvPr/>
        </p:nvSpPr>
        <p:spPr>
          <a:xfrm>
            <a:off x="548640" y="5577840"/>
            <a:ext cx="11091672" cy="713232"/>
          </a:xfrm>
          <a:prstGeom prst="rect">
            <a:avLst/>
          </a:prstGeom>
          <a:solidFill>
            <a:srgbClr val="FEF2F2"/>
          </a:solidFill>
          <a:ln w="15240">
            <a:solidFill>
              <a:srgbClr val="DC2626"/>
            </a:solidFill>
            <a:prstDash val="solid"/>
          </a:ln>
        </p:spPr>
      </p:sp>
      <p:sp>
        <p:nvSpPr>
          <p:cNvPr id="20" name="Text 18"/>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MCDK VS. HYDRONEPHROSIS &amp; ADPKD PARENT SCAN: In severe UPJ hydronephrosis, dilated calyces COMMUNICATE with a central renal pelvis and a rim of functional cortex remains; in MCDK cysts do NOT communicate and function is 0%. When encountering bilateral enlarged echogenic fetal kidneys, SCAN THE PARENTS' KIDNEYS! Finding cysts in a parent confirms ADPKD, carrying a radically better prognosis than ARPKD.</a:t>
            </a:r>
            <a:endParaRPr lang="en-US" sz="950" dirty="0"/>
          </a:p>
        </p:txBody>
      </p:sp>
      <p:sp>
        <p:nvSpPr>
          <p:cNvPr id="21" name="Text 19"/>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Avni EF, et al. Pediatr Radiol 1997;27(1):72–78; Guay-Woodford LM. Pediatr Radiol 2010;40(1):89–93.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URETERIC BUD SPROUTING • WEEKS 5–7</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Duplex Collecting Systems: Wolffian Migration Dynamics &amp; The Weigert-Meyer Rule</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When a kidney develops two ureters, why does the upper pole ALWAYS obstruct, while the lower pole ALWAYS refluxes? The developmental geometry of the Wolffian duct dictates this immutable law.</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DUAL URETERIC BUD MORPHOGENESIS</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Normal Sprouting: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Single ureteric bud arises from caudal mesonephric (Wolffian) duct at week 5 and invades metanephric blastema.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Complete Duplication: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Two distinct ureteric buds sprout independently from the Wolffian duct:
1. Cranial bud (destined for future Lower Pole)
2. Caudal bud (destined for future Upper Pole).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Weigert-Meyer Law: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As the caudal Wolffian duct is absorbed into the expanding urogenital sinus (forming bladder trigone), the CRANIAL bud (Lower Pole) separates FIRST and is incorporated earlier, migrating cranially and laterally.
The CAUDAL bud (Upper Pole) stays attached to Wolffian duct longer, separates LATER, and is carried CAUDALLY AND MEDIALLY.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F766E"/>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CLINICAL &amp; IMAGING PHENOTYPE (MNEMONIC: DUMI)</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Upper Pole (DUMI: Duplex Upper Medial Inferior):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Inserts INFEROMEDIALLY, often ectopic (bladder neck, posterior urethra in males; urethra, vagina, vestibule in females). Prone to stenosis or an INTRAVESICAL URETEROCELE -&gt; Obstruction &amp; Hydronephrosis.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Lower Pole: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Inserts SUPEROLATERALLY with a short, perpendicular submucosal tunnel -&gt; Incompetent flap valve -&gt; VESICOURETERAL REFLUX (VUR) &amp; pyelonephritis.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'Drooping Lily'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On contrast fluoroscopy / coronal CT: Massively dilated, non-functioning upper pole moiety displaces functioning opacified lower pole calyces inferolaterally ('drooping flower').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ECTOPIC URETER INCONTINENCE IN FEMALES: In males, ectopic upper pole ureters ALWAYS insert ABOVE the external urethral sphincter (posterior urethra, seminal vesicles, vas) -&gt; present with obstruction/epididymitis, NEVER incontinence. In females, ectopic ureters can insert BELOW the external sphincter (distal urethra, vagina, vestibule) -&gt; presents with continuous non-stop dribbling incontinence despite normal voiding!</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Fernbach SK, Feinstein KA, Spencer K, Lebowitz RL. AJR Am J Roentgenol 1997;169(2):541–546; Chertin B, et al. J Urol 2003;170(4 Pt 2):1565–1569.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UMBILICAL STALK REMNANTS • ALLANTOIS VS. YOLK STALK</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Weeping Umbilicus: Allantoic Urachal (Extraperitoneal) vs. Vitelline (Intraperitoneal)</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1-month-old infant has a continuously weeping umbilicus. Is the fluid coming from the urinary bladder or the terminal ileum? Why does an adult urachal mass present an adenocarcinoma rather than urothelial carcinoma?</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172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URACHAL REMNANTS (ALLANTOIC ORIGIN)</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Allantoic canal connecting the dome of the primitive bladder (urogenital sinus) to allantois at umbilicus. Normally obliterates by 3rd trimester into fibrous Median Umbilical Ligament.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Anatomical Plane: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Strictly EXTRAPERITONEAL / PREPERITONEAL in the prevesical Retzius space, anterior to parietal peritoneum along the linea alba.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Spectrum: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Patent Urachus (free urine discharge), Urachal Cyst (midline fluid sac superior to bladder dome), Urachal Sinus, Vesicourachal Diverticulum.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Adult Adenocarcinoma: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90% of urachal neoplasms are ADENOCARCINOMAS (not transitional cell), because cloacal endoderm undergoes enteric glandular metaplasia!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9A3412"/>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VITELLINE REMNANTS (YOLK SAC ORIGIN)</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Vitelline (omphalomesenteric) duct connecting primitive midgut to yolk sac. Normally obliterates completely by embryonic weeks 5–9.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Anatomical Plane: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Strictly INTRAPERITONEAL, extending from antimesenteric border of terminal ileum to umbilicus.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Spectrum: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Patent Vitelline Duct (fecal discharge), Meckel's Diverticulum (Rule of 2s: 2% prevalence, 2 inches long, 2 feet from valve; ectopic gastric/pancreatic mucosa), Vitelline Cyst / Band (internal volvulus).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Gut Signature Wall: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Demonstrates two-layered 'gut signature' wall on ultrasound.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SILVER NITRATE DISASTER: Cauterizing an apparent 'umbilical granuloma' with silver nitrate without prior ultrasound is dangerous! If the lesion is actually a patent vitelline duct polyp or patent urachus, chemical cauterization can produce bowel perforation, fecal peritonitis, or bladder wall necrosis. Always ultrasound first!</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Yu JS, Kim KW, Lee HJ, et al. RadioGraphics 2001;21(2):451–461; Levy AD, Hobbs CM. RadioGraphics 2004;24(2):565–587.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LOWER URINARY TRACT OBSTRUCTION • WEEKS 7–14</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Fetal Megacystis &amp; LUTO: Posterior Urethral Membrane (COP), Prune Belly &amp; VURD</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 male fetus presents with massive megacystis and bilateral hydronephrosis. Does the 'keyhole sign' guarantee posterior urethral valves, and why does unilateral severe vesicoureteral reflux actually save the baby's life?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1E3A8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POSTERIOR URETHRAL VALVES (COP)</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7–9 GA. Abnormal integration and persistent remnants of mesonephric (Wolffian) ducts into urogenital sinus floor at verumontanum.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Modern Pathology: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Dewan's Congenital Obstructive Posterior Urethral Membrane (COP): Obstructing sail-like membrane extending distally from verumontanum (Young Type I in 95%; Young Type II is non-existent/iatrogenic).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'Keyhole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Thick-walled, trabeculated, hypertrophied bladder (head of keyhole) contiguous with dilated posterior prostatic urethra (stem of keyhole).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Postnatal VCUG: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Abrupt caliber change from dilated posterior urethra to narrow anterior urethra at valve leaflets.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PRUNE BELLY SYNDROME &amp; THE VURD SAFETY VALVE</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Prune Belly Triad: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1. Abdominal wall muscle deficiency
2. Bilateral cryptorchidism
3. Massive non-obstructive urinary tract dilatation.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Primary mesodermal arrest weeks 6–10 affecting abdominal somatopleure and urinary smooth muscle. Urethra is patent; posterior urethra dilated due to prostatic hypoplasia.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VURD Syndrome: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Posterior Urethral Valves, Unilateral Reflux, and Renal Dysplasia. Massive unilateral high-grade VUR acts as a high-pressure 'pop-off' safety valve! The refluxing kidney sacrifices itself to absorb hydrostatic pressures, PROTECTING the contralateral kidney's nephrons!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POP-OFF PROTECTION &amp; MEGACYSTIS RULE: Bladder longitudinal diameter &gt;7 mm at 11–13+6 weeks is megacystis; &gt;15 mm carries ~100% obstructive risk. In PUV, unilateral high-grade VUR (VURD) or calyceal fornix rupture with urinary ascites is a POSITIVE sign that decompresses the system and saves the other kidney!</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Krishnan A, de Souza A, Konijeti R, Baskin LS. J Urol 2006;175(4):1214–1220; Berdon WE, et al. Radiol Clin North Am 1977;15(1):83–93.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ADRENAL MORPHOGENESIS • 20 WEEKS TO PERINATAL</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Vascularized Giant: Fetal Adrenal Cortex vs. Medullary Neuroblastoma</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At 20 weeks, the fetal adrenal is 20 times larger relative to body weight than in an adult! Why does its unique single-vein drainage make it exquisitely vulnerable to perinatal catastrophic hemorrhage?</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172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EMBRYOLOGY &amp; UNIQUE VASCULAR ARCHITECTURE</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Fetal Cortex Proliferation: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At 20 weeks, 80–85% of the gland consists of the specialized FETAL CORTEX, converting maternal cholesterol into DHEA-S (precursor for placental estriol synthesis).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Vascular Trap: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Rich sinusoidal network supplied by THREE suprarenal arteries, but drained by a SOLITARY central adrenal vein (draining into IVC on right, left renal vein on left).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Perinatal Hemorrhage: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Perinatal stress, hypoxia, or birth trauma causes sudden venous hypertensive congestion, rupturing fragile sinusoids into massive adrenal hematoma.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881337"/>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SERIAL SONOGRAPHIC EVOLUTION VS. NEUROBLASTOMA</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Adrenal Hemorrhage Evolution: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Acute: Solid, hyperechoic avascular suprarenal mass.
• 1–2 Weeks: Liquefies into complex cystic structure with internal septations.
• 3–4 Weeks: Rapid shrinkage, becoming anechoic.
• Late: Rim or punctate calcifications with return of normal adrenal contour.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Neuroblastoma (Neural Crest Malignancy):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Persistent solid internal vascularity on Doppler; stable or growing in size; encases vessels without occlusion; liver metastases ('pepper syndrome'). Urinary vanillylmandelic acid (VMA) elevated.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SERIAL ULTRASOUND RULE: Never rush to biopsy or resect a neonatal suprarenal mass! Perform serial ultrasound at 1, 2, and 4 weeks. A resolving hematoma rapidly liquefies, shrinks, and calcifies; a neuroblastoma remains solid, vascular, and persistent.</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Amarnath C, Patel H. Comprehensive Textbook of Clinical Radiology; Hoeffel JC, et al. Eur Radiol 1999;9(4):704–707.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MÜLLERIAN DUCT ANOMALIES • WEEKS 6–12</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Müllerian Duct Anomalies: Lateral Fusion Failure vs. Apoptotic Resorption Failure</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Two patients present with recurrent miscarriages and a bifurcated cavity on HSG. Why does one get scheduled for day-surgery hysteroscopic metroplasty while the other is strictly forbidden from surgery?</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581C87"/>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BICORNUATE UTERUS (FUSION FAILURE)</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7–9 embryonic. The two paramesonephric (Müllerian) ducts fail to fuse completely at the fundal level.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Morphology: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Two distinct uterine horns (cornua) with TWO SEPARATE external fundal myometrial crowns.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ASRM 2021 Metric: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External fundal serosal indentation / cleft &gt;= 1.0 cm (10 mm) below the intercornual line. Wide intercornual angle (&gt;105°) and distance (&gt;4 cm).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Surgical Rule: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NO hysteroscopic metroplasty! Incising the fundus internally would perforate directly into the peritoneal cavity between the separate uterine horns.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369A1"/>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SEPTATE UTERUS (SEPTAL RESORPTION FAILURE)</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Weeks 9–12 embryonic. Müllerian ducts fuse normally, but the midline intervening septum fails to undergo apoptotic resorption.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Morphology: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Single unified external fundus, but an internal partition divides the cavity.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Why Miscarriages Occur: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The septum consists of disorganized, avascular fibroelastic tissue with defective estrogen receptors. Blastocysts implanting on the septum suffer ischemic early miscarriage (60–80%).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Surgical Rule: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Resected via day-surgery Hysteroscopic Metroplasty, restoring term pregnancy delivery rates to &gt;80%.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NEVER DIAGNOSE BICORNUATE UTERUS ON HSG ALONE: Hysterosalpingography (HSG) only opacifies the internal lumen and CANNOT visualize the external fundal serosa! Reporting 'bicornuate uterus' on HSG is a major medical-legal trap. Always report as 'divided/bifurcated cavity' and recommend 3D ultrasound or coronal pelvic MRI to measure the external fundal cleft.</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Pfeifer SM, Attaran M, Cellek S, et al. Fertil Steril 2021;116(5):1238–1252 (ASRM 2021); Troiano RN, McCarthy SM. Radiology 2004;233(1):19–32.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EXTERNAL GENITALIA &amp; STEROIDOGENESIS • WEEKS 9–14</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9-Week Bipotential Divergence: CAH 'Wavy Adrenals' &amp; The Tulip Sign</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Up to 9 weeks, male and female external genitalia are completely identical. What local enzymatic switch governs virilization, and how does maternal-fetal androgen excess produce ambiguous genitalia?</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172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9-WEEK BIPOTENTIAL CASCADE</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Indifferent Primordia (Wk 9):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Genital Tubercle -&gt; forms glans clitoris or glans penis.
• Urogenital Folds -&gt; labia minora or ventral shaft of penis (penile urethra).
• Labioscrotal Swellings -&gt; labia majora or scrotum.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Male Differentiation: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Testes secrete Testosterone, converted locally by 5alpha-reductase into DIHYDROTESTOSTERONE (DHT) -&gt; drives midline fusion of labioscrotal folds and urethral closure.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Female Differentiation: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Absence of DHT -&gt; folds remain completely unfused, forming labia with separate urethral and vaginal orifices.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065F46"/>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PATHOLOGICAL SCENARIOS: CAH &amp; HYPOSPADIAS</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CAH (21-Hydroxylase Deficiency):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46,XX fetus exposed to massive adrenal androgens -&gt; clitoromegaly, labial fusion, scrotalization.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'Wrinkled / Wavy Adrenal'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In CAH, ACTH hypersecretion stimulates massive adrenal cortical hyperplasia, producing cerebriform folded cortices on prenatal ultrasound.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Hypospadias &amp; The 'Tulip Sign':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Failure of complete fusion of urogenital folds along the ventral penile shaft. Ultrasound shows blunt, curved penis bent between unfused hooded prepuce and bifid scrotum, mimicking a tulip flower.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THE WAVY ADRENAL &amp; TULIP SIGNS: If a fetus has ambiguous genitalia with bilateral 'wrinkled cerebriform' enlarged adrenals, suspect 46,XX Congenital Adrenal Hyperplasia (salt-wasting crisis risk at birth!). A 'tulip sign' on sagittal genital US confirms hypospadias.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Amarnath C, Patel H. Comprehensive Textbook of Clinical Radiology; Chavhan GB, et al. RadioGraphics 2008;28(7):1917–1933.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SEX DEVELOPMENT &amp; DUCT REGRESSION • WEEKS 6–12</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Disorders of Sex Development: AMH Signaling, Androgen Receptors &amp; Streak Malignancy</a:t>
            </a:r>
            <a:endParaRPr lang="en-US" sz="2000" dirty="0"/>
          </a:p>
        </p:txBody>
      </p:sp>
      <p:sp>
        <p:nvSpPr>
          <p:cNvPr id="5" name="Shape 3"/>
          <p:cNvSpPr/>
          <p:nvPr/>
        </p:nvSpPr>
        <p:spPr>
          <a:xfrm>
            <a:off x="548640" y="1188720"/>
            <a:ext cx="11091672" cy="594360"/>
          </a:xfrm>
          <a:prstGeom prst="rect">
            <a:avLst/>
          </a:prstGeom>
          <a:solidFill>
            <a:srgbClr val="F0F9FF"/>
          </a:solidFill>
          <a:ln w="15240">
            <a:solidFill>
              <a:srgbClr val="0284C7"/>
            </a:solidFill>
            <a:prstDash val="solid"/>
          </a:ln>
        </p:spPr>
      </p:sp>
      <p:sp>
        <p:nvSpPr>
          <p:cNvPr id="6" name="Text 4"/>
          <p:cNvSpPr/>
          <p:nvPr/>
        </p:nvSpPr>
        <p:spPr>
          <a:xfrm>
            <a:off x="685800" y="1207008"/>
            <a:ext cx="10817352" cy="557784"/>
          </a:xfrm>
          <a:prstGeom prst="rect">
            <a:avLst/>
          </a:prstGeom>
          <a:noFill/>
          <a:ln/>
        </p:spPr>
        <p:txBody>
          <a:bodyPr wrap="square" rtlCol="0" anchor="ctr"/>
          <a:lstStyle/>
          <a:p>
            <a:pPr indent="0" marL="0">
              <a:buNone/>
            </a:pPr>
            <a:r>
              <a:rPr lang="en-US" sz="1050" b="1" dirty="0">
                <a:solidFill>
                  <a:srgbClr val="0369A1"/>
                </a:solidFill>
                <a:latin typeface="Calibri" pitchFamily="34" charset="0"/>
                <a:ea typeface="Calibri" pitchFamily="34" charset="-122"/>
                <a:cs typeface="Calibri" pitchFamily="34" charset="-120"/>
              </a:rPr>
              <a:t>CLINICAL WORKSTATION HOOK: </a:t>
            </a:r>
            <a:pPr indent="0" marL="0">
              <a:buNone/>
            </a:pPr>
            <a:r>
              <a:rPr lang="en-US" sz="1050" i="1" dirty="0">
                <a:solidFill>
                  <a:srgbClr val="0F172A"/>
                </a:solidFill>
                <a:latin typeface="Calibri" pitchFamily="34" charset="0"/>
                <a:ea typeface="Calibri" pitchFamily="34" charset="-122"/>
                <a:cs typeface="Calibri" pitchFamily="34" charset="-120"/>
              </a:rPr>
              <a:t>Three adolescent phenotypic females present with primary amenorrhea and a blind-ending vagina. Why does one have intra-abdominal testes, the second has normal fertile ovaries, and the third has a fully formed uterus but streak gonads destined for malignancy?</a:t>
            </a:r>
            <a:endParaRPr lang="en-US" sz="1050" dirty="0"/>
          </a:p>
        </p:txBody>
      </p:sp>
      <p:sp>
        <p:nvSpPr>
          <p:cNvPr id="7" name="Shape 5"/>
          <p:cNvSpPr/>
          <p:nvPr/>
        </p:nvSpPr>
        <p:spPr>
          <a:xfrm>
            <a:off x="548640" y="1874520"/>
            <a:ext cx="5440680" cy="3611880"/>
          </a:xfrm>
          <a:prstGeom prst="rect">
            <a:avLst/>
          </a:prstGeom>
          <a:solidFill>
            <a:srgbClr val="FFFFFF"/>
          </a:solidFill>
          <a:ln w="15240">
            <a:solidFill>
              <a:srgbClr val="CBD5E1"/>
            </a:solidFill>
            <a:prstDash val="solid"/>
          </a:ln>
        </p:spPr>
      </p:sp>
      <p:sp>
        <p:nvSpPr>
          <p:cNvPr id="8" name="Shape 6"/>
          <p:cNvSpPr/>
          <p:nvPr/>
        </p:nvSpPr>
        <p:spPr>
          <a:xfrm>
            <a:off x="548640" y="1874520"/>
            <a:ext cx="5440680" cy="384048"/>
          </a:xfrm>
          <a:prstGeom prst="rect">
            <a:avLst/>
          </a:prstGeom>
          <a:solidFill>
            <a:srgbClr val="0F172A"/>
          </a:solidFill>
          <a:ln/>
        </p:spPr>
      </p:sp>
      <p:sp>
        <p:nvSpPr>
          <p:cNvPr id="9" name="Text 7"/>
          <p:cNvSpPr/>
          <p:nvPr/>
        </p:nvSpPr>
        <p:spPr>
          <a:xfrm>
            <a:off x="685800"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 UTERUS: CAIS (46,XY) VS. MRKH (46,XX)</a:t>
            </a:r>
            <a:endParaRPr lang="en-US" sz="1150" dirty="0"/>
          </a:p>
        </p:txBody>
      </p:sp>
      <p:sp>
        <p:nvSpPr>
          <p:cNvPr id="10" name="Text 8"/>
          <p:cNvSpPr/>
          <p:nvPr/>
        </p:nvSpPr>
        <p:spPr>
          <a:xfrm>
            <a:off x="685800"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CAIS (46,XY):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Inactivating mutation in Androgen Receptor (AR) gene on Xq12.
• SRY acts -&gt; Testes form and secrete Anti-Müllerian Hormone (AMH) and Testosterone.
• AMH acts normally -&gt; Müllerian ducts regress (NO uterus, tubes, upper vagina)!
• AR cannot respond -&gt; Wolffian ducts regress; external genitalia default to female.
• Pelvic MRI: Bilateral functional testes in abdomen/inguinal canal/labia.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MRKH (46,XX):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 Müllerian duct agenesis (CS 14–18).
• Absent uterus/upper vagina, but NORMAL FUNCTIONAL OVARIES with follicles.
• High association with renal agenesis (MURCS association in 50%).
</a:t>
            </a:r>
            <a:endParaRPr lang="en-US" sz="1050" dirty="0"/>
          </a:p>
        </p:txBody>
      </p:sp>
      <p:sp>
        <p:nvSpPr>
          <p:cNvPr id="11" name="Shape 9"/>
          <p:cNvSpPr/>
          <p:nvPr/>
        </p:nvSpPr>
        <p:spPr>
          <a:xfrm>
            <a:off x="6199632" y="1874520"/>
            <a:ext cx="5440680" cy="3611880"/>
          </a:xfrm>
          <a:prstGeom prst="rect">
            <a:avLst/>
          </a:prstGeom>
          <a:solidFill>
            <a:srgbClr val="FFFFFF"/>
          </a:solidFill>
          <a:ln w="15240">
            <a:solidFill>
              <a:srgbClr val="CBD5E1"/>
            </a:solidFill>
            <a:prstDash val="solid"/>
          </a:ln>
        </p:spPr>
      </p:sp>
      <p:sp>
        <p:nvSpPr>
          <p:cNvPr id="12" name="Shape 10"/>
          <p:cNvSpPr/>
          <p:nvPr/>
        </p:nvSpPr>
        <p:spPr>
          <a:xfrm>
            <a:off x="6199632" y="1874520"/>
            <a:ext cx="5440680" cy="384048"/>
          </a:xfrm>
          <a:prstGeom prst="rect">
            <a:avLst/>
          </a:prstGeom>
          <a:solidFill>
            <a:srgbClr val="831843"/>
          </a:solidFill>
          <a:ln/>
        </p:spPr>
      </p:sp>
      <p:sp>
        <p:nvSpPr>
          <p:cNvPr id="13" name="Text 11"/>
          <p:cNvSpPr/>
          <p:nvPr/>
        </p:nvSpPr>
        <p:spPr>
          <a:xfrm>
            <a:off x="6336792" y="1874520"/>
            <a:ext cx="5166360" cy="38404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UTERUS PRESENT: SWYER SYNDROME (46,XY)</a:t>
            </a:r>
            <a:endParaRPr lang="en-US" sz="1150" dirty="0"/>
          </a:p>
        </p:txBody>
      </p:sp>
      <p:sp>
        <p:nvSpPr>
          <p:cNvPr id="14" name="Text 12"/>
          <p:cNvSpPr/>
          <p:nvPr/>
        </p:nvSpPr>
        <p:spPr>
          <a:xfrm>
            <a:off x="6336792" y="2331720"/>
            <a:ext cx="5166360" cy="3063240"/>
          </a:xfrm>
          <a:prstGeom prst="rect">
            <a:avLst/>
          </a:prstGeom>
          <a:noFill/>
          <a:ln/>
        </p:spPr>
        <p:txBody>
          <a:bodyPr wrap="square" lIns="0" tIns="0" rIns="0" bIns="0" rtlCol="0" anchor="t"/>
          <a:lstStyle/>
          <a:p>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Embryogenesis &amp; Genetics: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Complete 46,XY Gonadal Dysgenesis. Inactivating mutation in SRY (15%) or SOX9/MAP3K1.
Bipotential gonads fail to form testes -&gt; NO TESTES = NO AMH PRODUCED!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The Müllerian Consequence: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Because AMH is completely absent, THE MÜLLERIAN DUCTS DO NOT REGRESS!
Phenotype: 46,XY phenotypic female with a FULLY FORMED NORMAL UTERUS, fallopian tubes, and cervix, but bilateral non-functional fibrous streak gonads.
</a:t>
            </a:r>
            <a:pPr indent="0" marL="0">
              <a:lnSpc>
                <a:spcPts val="1400"/>
              </a:lnSpc>
              <a:buNone/>
            </a:pPr>
            <a:r>
              <a:rPr lang="en-US" sz="1050" b="1" dirty="0">
                <a:solidFill>
                  <a:srgbClr val="0A192F"/>
                </a:solidFill>
                <a:latin typeface="Calibri" pitchFamily="34" charset="0"/>
                <a:ea typeface="Calibri" pitchFamily="34" charset="-122"/>
                <a:cs typeface="Calibri" pitchFamily="34" charset="-120"/>
              </a:rPr>
              <a:t>Malignancy Warning: </a:t>
            </a:r>
            <a:pPr indent="0" marL="0">
              <a:lnSpc>
                <a:spcPts val="1400"/>
              </a:lnSpc>
              <a:buNone/>
            </a:pPr>
            <a:r>
              <a:rPr lang="en-US" sz="1000" dirty="0">
                <a:solidFill>
                  <a:srgbClr val="0F172A"/>
                </a:solidFill>
                <a:latin typeface="Calibri" pitchFamily="34" charset="0"/>
                <a:ea typeface="Calibri" pitchFamily="34" charset="-122"/>
                <a:cs typeface="Calibri" pitchFamily="34" charset="-120"/>
              </a:rPr>
              <a:t>25–30% lifetime risk of Dysgerminoma / Gonadoblastoma in streak gonads! Mandates prophylactic bilateral gonadectomy.
</a:t>
            </a:r>
            <a:endParaRPr lang="en-US" sz="1050" dirty="0"/>
          </a:p>
        </p:txBody>
      </p:sp>
      <p:sp>
        <p:nvSpPr>
          <p:cNvPr id="15" name="Shape 13"/>
          <p:cNvSpPr/>
          <p:nvPr/>
        </p:nvSpPr>
        <p:spPr>
          <a:xfrm>
            <a:off x="548640" y="5577840"/>
            <a:ext cx="11091672" cy="713232"/>
          </a:xfrm>
          <a:prstGeom prst="rect">
            <a:avLst/>
          </a:prstGeom>
          <a:solidFill>
            <a:srgbClr val="FEF2F2"/>
          </a:solidFill>
          <a:ln w="15240">
            <a:solidFill>
              <a:srgbClr val="DC2626"/>
            </a:solidFill>
            <a:prstDash val="solid"/>
          </a:ln>
        </p:spPr>
      </p:sp>
      <p:sp>
        <p:nvSpPr>
          <p:cNvPr id="16" name="Text 14"/>
          <p:cNvSpPr/>
          <p:nvPr/>
        </p:nvSpPr>
        <p:spPr>
          <a:xfrm>
            <a:off x="685800" y="5596128"/>
            <a:ext cx="10817352" cy="667512"/>
          </a:xfrm>
          <a:prstGeom prst="rect">
            <a:avLst/>
          </a:prstGeom>
          <a:noFill/>
          <a:ln/>
        </p:spPr>
        <p:txBody>
          <a:bodyPr wrap="square" rtlCol="0" anchor="ctr"/>
          <a:lstStyle/>
          <a:p>
            <a:pPr indent="0" marL="0">
              <a:buNone/>
            </a:pPr>
            <a:r>
              <a:rPr lang="en-US" sz="950" b="1" dirty="0">
                <a:solidFill>
                  <a:srgbClr val="DC2626"/>
                </a:solidFill>
                <a:latin typeface="Calibri" pitchFamily="34" charset="0"/>
                <a:ea typeface="Calibri" pitchFamily="34" charset="-122"/>
                <a:cs typeface="Calibri" pitchFamily="34" charset="-120"/>
              </a:rPr>
              <a:t>⚠️ RADIOLOGIST'S PEARL / TRAP: </a:t>
            </a:r>
            <a:pPr indent="0" marL="0">
              <a:buNone/>
            </a:pPr>
            <a:r>
              <a:rPr lang="en-US" sz="920" dirty="0">
                <a:solidFill>
                  <a:srgbClr val="0F172A"/>
                </a:solidFill>
                <a:latin typeface="Calibri" pitchFamily="34" charset="0"/>
                <a:ea typeface="Calibri" pitchFamily="34" charset="-122"/>
                <a:cs typeface="Calibri" pitchFamily="34" charset="-120"/>
              </a:rPr>
              <a:t>INGUINAL HERNIA TESTES IN INFANT GIRLS: In female infants presenting with bilateral inguinal hernias, always scrutinize hernia contents for testicular parenchyma. Bilateral inguinal hernias in a phenotypic female represent CAIS until proven otherwise. In Swyer syndrome, discovering a normal uterus in a 46,XY individual mandates immediate search for streak gonads.</a:t>
            </a:r>
            <a:endParaRPr lang="en-US" sz="950" dirty="0"/>
          </a:p>
        </p:txBody>
      </p:sp>
      <p:sp>
        <p:nvSpPr>
          <p:cNvPr id="17" name="Text 15"/>
          <p:cNvSpPr/>
          <p:nvPr/>
        </p:nvSpPr>
        <p:spPr>
          <a:xfrm>
            <a:off x="548640" y="6364224"/>
            <a:ext cx="11091672" cy="256032"/>
          </a:xfrm>
          <a:prstGeom prst="rect">
            <a:avLst/>
          </a:prstGeom>
          <a:noFill/>
          <a:ln/>
        </p:spPr>
        <p:txBody>
          <a:bodyPr wrap="square" rtlCol="0" anchor="b"/>
          <a:lstStyle/>
          <a:p>
            <a:pPr indent="0" marL="0">
              <a:buNone/>
            </a:pPr>
            <a:r>
              <a:rPr lang="en-US" sz="850" i="1" dirty="0">
                <a:solidFill>
                  <a:srgbClr val="475569"/>
                </a:solidFill>
                <a:latin typeface="Calibri" pitchFamily="34" charset="0"/>
                <a:ea typeface="Calibri" pitchFamily="34" charset="-122"/>
                <a:cs typeface="Calibri" pitchFamily="34" charset="-120"/>
              </a:rPr>
              <a:t>Verified Evidence: Chavhan GB, Parra DA, Oudjhane K, et al. RadioGraphics 2008;28(7):1917–1933; Guerrier D, et al. Mol Hum Reprod 2006;12(11):677–688.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4754880" cy="274320"/>
          </a:xfrm>
          <a:prstGeom prst="rect">
            <a:avLst/>
          </a:prstGeom>
          <a:solidFill>
            <a:srgbClr val="E0F2FE"/>
          </a:solidFill>
          <a:ln w="12700">
            <a:solidFill>
              <a:srgbClr val="BAE6FD"/>
            </a:solidFill>
            <a:prstDash val="solid"/>
          </a:ln>
        </p:spPr>
      </p:sp>
      <p:sp>
        <p:nvSpPr>
          <p:cNvPr id="3" name="Text 1"/>
          <p:cNvSpPr/>
          <p:nvPr/>
        </p:nvSpPr>
        <p:spPr>
          <a:xfrm>
            <a:off x="594360" y="320040"/>
            <a:ext cx="4663440" cy="274320"/>
          </a:xfrm>
          <a:prstGeom prst="rect">
            <a:avLst/>
          </a:prstGeom>
          <a:noFill/>
          <a:ln/>
        </p:spPr>
        <p:txBody>
          <a:bodyPr wrap="square" rtlCol="0" anchor="ctr"/>
          <a:lstStyle/>
          <a:p>
            <a:pPr indent="0" marL="0">
              <a:buNone/>
            </a:pPr>
            <a:r>
              <a:rPr lang="en-US" sz="1000" b="1" dirty="0">
                <a:solidFill>
                  <a:srgbClr val="0369A1"/>
                </a:solidFill>
                <a:latin typeface="Calibri" pitchFamily="34" charset="0"/>
                <a:ea typeface="Calibri" pitchFamily="34" charset="-122"/>
                <a:cs typeface="Calibri" pitchFamily="34" charset="-120"/>
              </a:rPr>
              <a:t>QUALITY ASSURANCE • RAPID CONSOLE SYNTHESIS</a:t>
            </a:r>
            <a:endParaRPr lang="en-US" sz="1000" dirty="0"/>
          </a:p>
        </p:txBody>
      </p:sp>
      <p:sp>
        <p:nvSpPr>
          <p:cNvPr id="4" name="Text 2"/>
          <p:cNvSpPr/>
          <p:nvPr/>
        </p:nvSpPr>
        <p:spPr>
          <a:xfrm>
            <a:off x="548640" y="640080"/>
            <a:ext cx="11091672" cy="502920"/>
          </a:xfrm>
          <a:prstGeom prst="rect">
            <a:avLst/>
          </a:prstGeom>
          <a:noFill/>
          <a:ln/>
        </p:spPr>
        <p:txBody>
          <a:bodyPr wrap="square" rtlCol="0" anchor="t"/>
          <a:lstStyle/>
          <a:p>
            <a:pPr indent="0" marL="0">
              <a:buNone/>
            </a:pPr>
            <a:r>
              <a:rPr lang="en-US" sz="2000" b="1" dirty="0">
                <a:solidFill>
                  <a:srgbClr val="0A192F"/>
                </a:solidFill>
                <a:latin typeface="Calibri" pitchFamily="34" charset="0"/>
                <a:ea typeface="Calibri" pitchFamily="34" charset="-122"/>
                <a:cs typeface="Calibri" pitchFamily="34" charset="-120"/>
              </a:rPr>
              <a:t>The Radiologist's Embryology Survival Checklist: 10 Golden Rules</a:t>
            </a:r>
            <a:endParaRPr lang="en-US" sz="2000" dirty="0"/>
          </a:p>
        </p:txBody>
      </p:sp>
      <p:sp>
        <p:nvSpPr>
          <p:cNvPr id="5" name="Shape 3"/>
          <p:cNvSpPr/>
          <p:nvPr/>
        </p:nvSpPr>
        <p:spPr>
          <a:xfrm>
            <a:off x="548640" y="1234440"/>
            <a:ext cx="5440680" cy="914400"/>
          </a:xfrm>
          <a:prstGeom prst="rect">
            <a:avLst/>
          </a:prstGeom>
          <a:solidFill>
            <a:srgbClr val="FFFFFF"/>
          </a:solidFill>
          <a:ln w="15240">
            <a:solidFill>
              <a:srgbClr val="CBD5E1"/>
            </a:solidFill>
            <a:prstDash val="solid"/>
          </a:ln>
        </p:spPr>
      </p:sp>
      <p:sp>
        <p:nvSpPr>
          <p:cNvPr id="6" name="Shape 4"/>
          <p:cNvSpPr/>
          <p:nvPr/>
        </p:nvSpPr>
        <p:spPr>
          <a:xfrm>
            <a:off x="548640" y="1234440"/>
            <a:ext cx="411480" cy="914400"/>
          </a:xfrm>
          <a:prstGeom prst="rect">
            <a:avLst/>
          </a:prstGeom>
          <a:solidFill>
            <a:srgbClr val="1E3A8A"/>
          </a:solidFill>
          <a:ln/>
        </p:spPr>
      </p:sp>
      <p:sp>
        <p:nvSpPr>
          <p:cNvPr id="7" name="Text 5"/>
          <p:cNvSpPr/>
          <p:nvPr/>
        </p:nvSpPr>
        <p:spPr>
          <a:xfrm>
            <a:off x="548640" y="123444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51560" y="128016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THE 12.0-WK CUTOFF: </a:t>
            </a:r>
            <a:pPr indent="0" marL="0">
              <a:buNone/>
            </a:pPr>
            <a:r>
              <a:rPr lang="en-US" sz="950" dirty="0">
                <a:solidFill>
                  <a:srgbClr val="0F172A"/>
                </a:solidFill>
                <a:latin typeface="Calibri" pitchFamily="34" charset="0"/>
                <a:ea typeface="Calibri" pitchFamily="34" charset="-122"/>
                <a:cs typeface="Calibri" pitchFamily="34" charset="-120"/>
              </a:rPr>
              <a:t>Never call omphalocele before 12.0 wks GA (CRL &lt;= 45 mm) unless extracorporeal liver is present.</a:t>
            </a:r>
            <a:endParaRPr lang="en-US" sz="1000" dirty="0"/>
          </a:p>
        </p:txBody>
      </p:sp>
      <p:sp>
        <p:nvSpPr>
          <p:cNvPr id="9" name="Shape 7"/>
          <p:cNvSpPr/>
          <p:nvPr/>
        </p:nvSpPr>
        <p:spPr>
          <a:xfrm>
            <a:off x="548640" y="2240280"/>
            <a:ext cx="5440680" cy="914400"/>
          </a:xfrm>
          <a:prstGeom prst="rect">
            <a:avLst/>
          </a:prstGeom>
          <a:solidFill>
            <a:srgbClr val="FFFFFF"/>
          </a:solidFill>
          <a:ln w="15240">
            <a:solidFill>
              <a:srgbClr val="CBD5E1"/>
            </a:solidFill>
            <a:prstDash val="solid"/>
          </a:ln>
        </p:spPr>
      </p:sp>
      <p:sp>
        <p:nvSpPr>
          <p:cNvPr id="10" name="Shape 8"/>
          <p:cNvSpPr/>
          <p:nvPr/>
        </p:nvSpPr>
        <p:spPr>
          <a:xfrm>
            <a:off x="548640" y="2240280"/>
            <a:ext cx="411480" cy="914400"/>
          </a:xfrm>
          <a:prstGeom prst="rect">
            <a:avLst/>
          </a:prstGeom>
          <a:solidFill>
            <a:srgbClr val="1E3A8A"/>
          </a:solidFill>
          <a:ln/>
        </p:spPr>
      </p:sp>
      <p:sp>
        <p:nvSpPr>
          <p:cNvPr id="11" name="Text 9"/>
          <p:cNvSpPr/>
          <p:nvPr/>
        </p:nvSpPr>
        <p:spPr>
          <a:xfrm>
            <a:off x="548640" y="224028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51560" y="228600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THE SKIN BRIDGE RULE: </a:t>
            </a:r>
            <a:pPr indent="0" marL="0">
              <a:buNone/>
            </a:pPr>
            <a:r>
              <a:rPr lang="en-US" sz="950" dirty="0">
                <a:solidFill>
                  <a:srgbClr val="0F172A"/>
                </a:solidFill>
                <a:latin typeface="Calibri" pitchFamily="34" charset="0"/>
                <a:ea typeface="Calibri" pitchFamily="34" charset="-122"/>
                <a:cs typeface="Calibri" pitchFamily="34" charset="-120"/>
              </a:rPr>
              <a:t>In gastroschisis, document the intact skin bridge separating the defect from the normal cord insertion.</a:t>
            </a:r>
            <a:endParaRPr lang="en-US" sz="1000" dirty="0"/>
          </a:p>
        </p:txBody>
      </p:sp>
      <p:sp>
        <p:nvSpPr>
          <p:cNvPr id="13" name="Shape 11"/>
          <p:cNvSpPr/>
          <p:nvPr/>
        </p:nvSpPr>
        <p:spPr>
          <a:xfrm>
            <a:off x="548640" y="3246120"/>
            <a:ext cx="5440680" cy="914400"/>
          </a:xfrm>
          <a:prstGeom prst="rect">
            <a:avLst/>
          </a:prstGeom>
          <a:solidFill>
            <a:srgbClr val="FFFFFF"/>
          </a:solidFill>
          <a:ln w="15240">
            <a:solidFill>
              <a:srgbClr val="CBD5E1"/>
            </a:solidFill>
            <a:prstDash val="solid"/>
          </a:ln>
        </p:spPr>
      </p:sp>
      <p:sp>
        <p:nvSpPr>
          <p:cNvPr id="14" name="Shape 12"/>
          <p:cNvSpPr/>
          <p:nvPr/>
        </p:nvSpPr>
        <p:spPr>
          <a:xfrm>
            <a:off x="548640" y="3246120"/>
            <a:ext cx="411480" cy="914400"/>
          </a:xfrm>
          <a:prstGeom prst="rect">
            <a:avLst/>
          </a:prstGeom>
          <a:solidFill>
            <a:srgbClr val="1E3A8A"/>
          </a:solidFill>
          <a:ln/>
        </p:spPr>
      </p:sp>
      <p:sp>
        <p:nvSpPr>
          <p:cNvPr id="15" name="Text 13"/>
          <p:cNvSpPr/>
          <p:nvPr/>
        </p:nvSpPr>
        <p:spPr>
          <a:xfrm>
            <a:off x="548640" y="324612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51560" y="329184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MANDATORY LATERAL VIEW: </a:t>
            </a:r>
            <a:pPr indent="0" marL="0">
              <a:buNone/>
            </a:pPr>
            <a:r>
              <a:rPr lang="en-US" sz="950" dirty="0">
                <a:solidFill>
                  <a:srgbClr val="0F172A"/>
                </a:solidFill>
                <a:latin typeface="Calibri" pitchFamily="34" charset="0"/>
                <a:ea typeface="Calibri" pitchFamily="34" charset="-122"/>
                <a:cs typeface="Calibri" pitchFamily="34" charset="-120"/>
              </a:rPr>
              <a:t>In suspected malrotation, the DJ junction MUST cross midline and dive posteriorly on lateral fluoroscopy.</a:t>
            </a:r>
            <a:endParaRPr lang="en-US" sz="1000" dirty="0"/>
          </a:p>
        </p:txBody>
      </p:sp>
      <p:sp>
        <p:nvSpPr>
          <p:cNvPr id="17" name="Shape 15"/>
          <p:cNvSpPr/>
          <p:nvPr/>
        </p:nvSpPr>
        <p:spPr>
          <a:xfrm>
            <a:off x="548640" y="4251960"/>
            <a:ext cx="5440680" cy="914400"/>
          </a:xfrm>
          <a:prstGeom prst="rect">
            <a:avLst/>
          </a:prstGeom>
          <a:solidFill>
            <a:srgbClr val="FFFFFF"/>
          </a:solidFill>
          <a:ln w="15240">
            <a:solidFill>
              <a:srgbClr val="CBD5E1"/>
            </a:solidFill>
            <a:prstDash val="solid"/>
          </a:ln>
        </p:spPr>
      </p:sp>
      <p:sp>
        <p:nvSpPr>
          <p:cNvPr id="18" name="Shape 16"/>
          <p:cNvSpPr/>
          <p:nvPr/>
        </p:nvSpPr>
        <p:spPr>
          <a:xfrm>
            <a:off x="548640" y="4251960"/>
            <a:ext cx="411480" cy="914400"/>
          </a:xfrm>
          <a:prstGeom prst="rect">
            <a:avLst/>
          </a:prstGeom>
          <a:solidFill>
            <a:srgbClr val="1E3A8A"/>
          </a:solidFill>
          <a:ln/>
        </p:spPr>
      </p:sp>
      <p:sp>
        <p:nvSpPr>
          <p:cNvPr id="19" name="Text 17"/>
          <p:cNvSpPr/>
          <p:nvPr/>
        </p:nvSpPr>
        <p:spPr>
          <a:xfrm>
            <a:off x="548640" y="425196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051560" y="429768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PYLORIC CONTINUITY TEST: </a:t>
            </a:r>
            <a:pPr indent="0" marL="0">
              <a:buNone/>
            </a:pPr>
            <a:r>
              <a:rPr lang="en-US" sz="950" dirty="0">
                <a:solidFill>
                  <a:srgbClr val="0F172A"/>
                </a:solidFill>
                <a:latin typeface="Calibri" pitchFamily="34" charset="0"/>
                <a:ea typeface="Calibri" pitchFamily="34" charset="-122"/>
                <a:cs typeface="Calibri" pitchFamily="34" charset="-120"/>
              </a:rPr>
              <a:t>Prove direct fluid continuity through the pylorus before calling duodenal atresia (30% Trisomy 21).</a:t>
            </a:r>
            <a:endParaRPr lang="en-US" sz="1000" dirty="0"/>
          </a:p>
        </p:txBody>
      </p:sp>
      <p:sp>
        <p:nvSpPr>
          <p:cNvPr id="21" name="Shape 19"/>
          <p:cNvSpPr/>
          <p:nvPr/>
        </p:nvSpPr>
        <p:spPr>
          <a:xfrm>
            <a:off x="548640" y="5257800"/>
            <a:ext cx="5440680" cy="914400"/>
          </a:xfrm>
          <a:prstGeom prst="rect">
            <a:avLst/>
          </a:prstGeom>
          <a:solidFill>
            <a:srgbClr val="FFFFFF"/>
          </a:solidFill>
          <a:ln w="15240">
            <a:solidFill>
              <a:srgbClr val="CBD5E1"/>
            </a:solidFill>
            <a:prstDash val="solid"/>
          </a:ln>
        </p:spPr>
      </p:sp>
      <p:sp>
        <p:nvSpPr>
          <p:cNvPr id="22" name="Shape 20"/>
          <p:cNvSpPr/>
          <p:nvPr/>
        </p:nvSpPr>
        <p:spPr>
          <a:xfrm>
            <a:off x="548640" y="5257800"/>
            <a:ext cx="411480" cy="914400"/>
          </a:xfrm>
          <a:prstGeom prst="rect">
            <a:avLst/>
          </a:prstGeom>
          <a:solidFill>
            <a:srgbClr val="1E3A8A"/>
          </a:solidFill>
          <a:ln/>
        </p:spPr>
      </p:sp>
      <p:sp>
        <p:nvSpPr>
          <p:cNvPr id="23" name="Text 21"/>
          <p:cNvSpPr/>
          <p:nvPr/>
        </p:nvSpPr>
        <p:spPr>
          <a:xfrm>
            <a:off x="548640" y="525780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051560" y="530352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OEIS BLADDER PARADOX: </a:t>
            </a:r>
            <a:pPr indent="0" marL="0">
              <a:buNone/>
            </a:pPr>
            <a:r>
              <a:rPr lang="en-US" sz="950" dirty="0">
                <a:solidFill>
                  <a:srgbClr val="0F172A"/>
                </a:solidFill>
                <a:latin typeface="Calibri" pitchFamily="34" charset="0"/>
                <a:ea typeface="Calibri" pitchFamily="34" charset="-122"/>
                <a:cs typeface="Calibri" pitchFamily="34" charset="-120"/>
              </a:rPr>
              <a:t>Non-visualized bladder + normal amniotic fluid = Cloacal Exstrophy / OEIS, NOT renal agenesis!</a:t>
            </a:r>
            <a:endParaRPr lang="en-US" sz="1000" dirty="0"/>
          </a:p>
        </p:txBody>
      </p:sp>
      <p:sp>
        <p:nvSpPr>
          <p:cNvPr id="25" name="Shape 23"/>
          <p:cNvSpPr/>
          <p:nvPr/>
        </p:nvSpPr>
        <p:spPr>
          <a:xfrm>
            <a:off x="6199632" y="1234440"/>
            <a:ext cx="5440680" cy="914400"/>
          </a:xfrm>
          <a:prstGeom prst="rect">
            <a:avLst/>
          </a:prstGeom>
          <a:solidFill>
            <a:srgbClr val="FFFFFF"/>
          </a:solidFill>
          <a:ln w="15240">
            <a:solidFill>
              <a:srgbClr val="CBD5E1"/>
            </a:solidFill>
            <a:prstDash val="solid"/>
          </a:ln>
        </p:spPr>
      </p:sp>
      <p:sp>
        <p:nvSpPr>
          <p:cNvPr id="26" name="Shape 24"/>
          <p:cNvSpPr/>
          <p:nvPr/>
        </p:nvSpPr>
        <p:spPr>
          <a:xfrm>
            <a:off x="6199632" y="1234440"/>
            <a:ext cx="411480" cy="914400"/>
          </a:xfrm>
          <a:prstGeom prst="rect">
            <a:avLst/>
          </a:prstGeom>
          <a:solidFill>
            <a:srgbClr val="0F766E"/>
          </a:solidFill>
          <a:ln/>
        </p:spPr>
      </p:sp>
      <p:sp>
        <p:nvSpPr>
          <p:cNvPr id="27" name="Text 25"/>
          <p:cNvSpPr/>
          <p:nvPr/>
        </p:nvSpPr>
        <p:spPr>
          <a:xfrm>
            <a:off x="6199632" y="123444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6702552" y="128016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SACRAL SICKLE IN ARM: </a:t>
            </a:r>
            <a:pPr indent="0" marL="0">
              <a:buNone/>
            </a:pPr>
            <a:r>
              <a:rPr lang="en-US" sz="950" dirty="0">
                <a:solidFill>
                  <a:srgbClr val="0F172A"/>
                </a:solidFill>
                <a:latin typeface="Calibri" pitchFamily="34" charset="0"/>
                <a:ea typeface="Calibri" pitchFamily="34" charset="-122"/>
                <a:cs typeface="Calibri" pitchFamily="34" charset="-120"/>
              </a:rPr>
              <a:t>In imperforate anus, check sacrum for 'scimitar sacrum' (Currarino / MNX1). Never needle-biopsy presacral mass!</a:t>
            </a:r>
            <a:endParaRPr lang="en-US" sz="1000" dirty="0"/>
          </a:p>
        </p:txBody>
      </p:sp>
      <p:sp>
        <p:nvSpPr>
          <p:cNvPr id="29" name="Shape 27"/>
          <p:cNvSpPr/>
          <p:nvPr/>
        </p:nvSpPr>
        <p:spPr>
          <a:xfrm>
            <a:off x="6199632" y="2240280"/>
            <a:ext cx="5440680" cy="914400"/>
          </a:xfrm>
          <a:prstGeom prst="rect">
            <a:avLst/>
          </a:prstGeom>
          <a:solidFill>
            <a:srgbClr val="FFFFFF"/>
          </a:solidFill>
          <a:ln w="15240">
            <a:solidFill>
              <a:srgbClr val="CBD5E1"/>
            </a:solidFill>
            <a:prstDash val="solid"/>
          </a:ln>
        </p:spPr>
      </p:sp>
      <p:sp>
        <p:nvSpPr>
          <p:cNvPr id="30" name="Shape 28"/>
          <p:cNvSpPr/>
          <p:nvPr/>
        </p:nvSpPr>
        <p:spPr>
          <a:xfrm>
            <a:off x="6199632" y="2240280"/>
            <a:ext cx="411480" cy="914400"/>
          </a:xfrm>
          <a:prstGeom prst="rect">
            <a:avLst/>
          </a:prstGeom>
          <a:solidFill>
            <a:srgbClr val="0F766E"/>
          </a:solidFill>
          <a:ln/>
        </p:spPr>
      </p:sp>
      <p:sp>
        <p:nvSpPr>
          <p:cNvPr id="31" name="Text 29"/>
          <p:cNvSpPr/>
          <p:nvPr/>
        </p:nvSpPr>
        <p:spPr>
          <a:xfrm>
            <a:off x="6199632" y="224028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2" name="Text 30"/>
          <p:cNvSpPr/>
          <p:nvPr/>
        </p:nvSpPr>
        <p:spPr>
          <a:xfrm>
            <a:off x="6702552" y="228600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WEIGERT-MEYER DUMI: </a:t>
            </a:r>
            <a:pPr indent="0" marL="0">
              <a:buNone/>
            </a:pPr>
            <a:r>
              <a:rPr lang="en-US" sz="950" dirty="0">
                <a:solidFill>
                  <a:srgbClr val="0F172A"/>
                </a:solidFill>
                <a:latin typeface="Calibri" pitchFamily="34" charset="0"/>
                <a:ea typeface="Calibri" pitchFamily="34" charset="-122"/>
                <a:cs typeface="Calibri" pitchFamily="34" charset="-120"/>
              </a:rPr>
              <a:t>Upper pole inserts inferomedially (obstructs/ureterocele); lower pole superolaterally (refluxes).</a:t>
            </a:r>
            <a:endParaRPr lang="en-US" sz="1000" dirty="0"/>
          </a:p>
        </p:txBody>
      </p:sp>
      <p:sp>
        <p:nvSpPr>
          <p:cNvPr id="33" name="Shape 31"/>
          <p:cNvSpPr/>
          <p:nvPr/>
        </p:nvSpPr>
        <p:spPr>
          <a:xfrm>
            <a:off x="6199632" y="3246120"/>
            <a:ext cx="5440680" cy="914400"/>
          </a:xfrm>
          <a:prstGeom prst="rect">
            <a:avLst/>
          </a:prstGeom>
          <a:solidFill>
            <a:srgbClr val="FFFFFF"/>
          </a:solidFill>
          <a:ln w="15240">
            <a:solidFill>
              <a:srgbClr val="CBD5E1"/>
            </a:solidFill>
            <a:prstDash val="solid"/>
          </a:ln>
        </p:spPr>
      </p:sp>
      <p:sp>
        <p:nvSpPr>
          <p:cNvPr id="34" name="Shape 32"/>
          <p:cNvSpPr/>
          <p:nvPr/>
        </p:nvSpPr>
        <p:spPr>
          <a:xfrm>
            <a:off x="6199632" y="3246120"/>
            <a:ext cx="411480" cy="914400"/>
          </a:xfrm>
          <a:prstGeom prst="rect">
            <a:avLst/>
          </a:prstGeom>
          <a:solidFill>
            <a:srgbClr val="0F766E"/>
          </a:solidFill>
          <a:ln/>
        </p:spPr>
      </p:sp>
      <p:sp>
        <p:nvSpPr>
          <p:cNvPr id="35" name="Text 33"/>
          <p:cNvSpPr/>
          <p:nvPr/>
        </p:nvSpPr>
        <p:spPr>
          <a:xfrm>
            <a:off x="6199632" y="324612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6" name="Text 34"/>
          <p:cNvSpPr/>
          <p:nvPr/>
        </p:nvSpPr>
        <p:spPr>
          <a:xfrm>
            <a:off x="6702552" y="329184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ADRENAL AUTONOMY: </a:t>
            </a:r>
            <a:pPr indent="0" marL="0">
              <a:buNone/>
            </a:pPr>
            <a:r>
              <a:rPr lang="en-US" sz="950" dirty="0">
                <a:solidFill>
                  <a:srgbClr val="0F172A"/>
                </a:solidFill>
                <a:latin typeface="Calibri" pitchFamily="34" charset="0"/>
                <a:ea typeface="Calibri" pitchFamily="34" charset="-122"/>
                <a:cs typeface="Calibri" pitchFamily="34" charset="-120"/>
              </a:rPr>
              <a:t>Flat 'lying-down' adrenal confirms renal agenesis or ectopia. Interrogate aorta with Color Doppler.</a:t>
            </a:r>
            <a:endParaRPr lang="en-US" sz="1000" dirty="0"/>
          </a:p>
        </p:txBody>
      </p:sp>
      <p:sp>
        <p:nvSpPr>
          <p:cNvPr id="37" name="Shape 35"/>
          <p:cNvSpPr/>
          <p:nvPr/>
        </p:nvSpPr>
        <p:spPr>
          <a:xfrm>
            <a:off x="6199632" y="4251960"/>
            <a:ext cx="5440680" cy="914400"/>
          </a:xfrm>
          <a:prstGeom prst="rect">
            <a:avLst/>
          </a:prstGeom>
          <a:solidFill>
            <a:srgbClr val="FFFFFF"/>
          </a:solidFill>
          <a:ln w="15240">
            <a:solidFill>
              <a:srgbClr val="CBD5E1"/>
            </a:solidFill>
            <a:prstDash val="solid"/>
          </a:ln>
        </p:spPr>
      </p:sp>
      <p:sp>
        <p:nvSpPr>
          <p:cNvPr id="38" name="Shape 36"/>
          <p:cNvSpPr/>
          <p:nvPr/>
        </p:nvSpPr>
        <p:spPr>
          <a:xfrm>
            <a:off x="6199632" y="4251960"/>
            <a:ext cx="411480" cy="914400"/>
          </a:xfrm>
          <a:prstGeom prst="rect">
            <a:avLst/>
          </a:prstGeom>
          <a:solidFill>
            <a:srgbClr val="0F766E"/>
          </a:solidFill>
          <a:ln/>
        </p:spPr>
      </p:sp>
      <p:sp>
        <p:nvSpPr>
          <p:cNvPr id="39" name="Text 37"/>
          <p:cNvSpPr/>
          <p:nvPr/>
        </p:nvSpPr>
        <p:spPr>
          <a:xfrm>
            <a:off x="6199632" y="425196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0" name="Text 38"/>
          <p:cNvSpPr/>
          <p:nvPr/>
        </p:nvSpPr>
        <p:spPr>
          <a:xfrm>
            <a:off x="6702552" y="429768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ASRM FUNDAL SEROSA: </a:t>
            </a:r>
            <a:pPr indent="0" marL="0">
              <a:buNone/>
            </a:pPr>
            <a:r>
              <a:rPr lang="en-US" sz="950" dirty="0">
                <a:solidFill>
                  <a:srgbClr val="0F172A"/>
                </a:solidFill>
                <a:latin typeface="Calibri" pitchFamily="34" charset="0"/>
                <a:ea typeface="Calibri" pitchFamily="34" charset="-122"/>
                <a:cs typeface="Calibri" pitchFamily="34" charset="-120"/>
              </a:rPr>
              <a:t>Never diagnose bicornuate on HSG alone. Fundal cleft &gt;= 1 cm on 3D US/MRI = bicornuate; &lt; 1 cm = septate.</a:t>
            </a:r>
            <a:endParaRPr lang="en-US" sz="1000" dirty="0"/>
          </a:p>
        </p:txBody>
      </p:sp>
      <p:sp>
        <p:nvSpPr>
          <p:cNvPr id="41" name="Shape 39"/>
          <p:cNvSpPr/>
          <p:nvPr/>
        </p:nvSpPr>
        <p:spPr>
          <a:xfrm>
            <a:off x="6199632" y="5257800"/>
            <a:ext cx="5440680" cy="914400"/>
          </a:xfrm>
          <a:prstGeom prst="rect">
            <a:avLst/>
          </a:prstGeom>
          <a:solidFill>
            <a:srgbClr val="FFFFFF"/>
          </a:solidFill>
          <a:ln w="15240">
            <a:solidFill>
              <a:srgbClr val="CBD5E1"/>
            </a:solidFill>
            <a:prstDash val="solid"/>
          </a:ln>
        </p:spPr>
      </p:sp>
      <p:sp>
        <p:nvSpPr>
          <p:cNvPr id="42" name="Shape 40"/>
          <p:cNvSpPr/>
          <p:nvPr/>
        </p:nvSpPr>
        <p:spPr>
          <a:xfrm>
            <a:off x="6199632" y="5257800"/>
            <a:ext cx="411480" cy="914400"/>
          </a:xfrm>
          <a:prstGeom prst="rect">
            <a:avLst/>
          </a:prstGeom>
          <a:solidFill>
            <a:srgbClr val="0F766E"/>
          </a:solidFill>
          <a:ln/>
        </p:spPr>
      </p:sp>
      <p:sp>
        <p:nvSpPr>
          <p:cNvPr id="43" name="Text 41"/>
          <p:cNvSpPr/>
          <p:nvPr/>
        </p:nvSpPr>
        <p:spPr>
          <a:xfrm>
            <a:off x="6199632" y="5257800"/>
            <a:ext cx="41148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4" name="Text 42"/>
          <p:cNvSpPr/>
          <p:nvPr/>
        </p:nvSpPr>
        <p:spPr>
          <a:xfrm>
            <a:off x="6702552" y="5303520"/>
            <a:ext cx="4846320" cy="822960"/>
          </a:xfrm>
          <a:prstGeom prst="rect">
            <a:avLst/>
          </a:prstGeom>
          <a:noFill/>
          <a:ln/>
        </p:spPr>
        <p:txBody>
          <a:bodyPr wrap="square" rtlCol="0" anchor="ctr"/>
          <a:lstStyle/>
          <a:p>
            <a:pPr indent="0" marL="0">
              <a:buNone/>
            </a:pPr>
            <a:r>
              <a:rPr lang="en-US" sz="1000" b="1" dirty="0">
                <a:solidFill>
                  <a:srgbClr val="0A192F"/>
                </a:solidFill>
                <a:latin typeface="Calibri" pitchFamily="34" charset="0"/>
                <a:ea typeface="Calibri" pitchFamily="34" charset="-122"/>
                <a:cs typeface="Calibri" pitchFamily="34" charset="-120"/>
              </a:rPr>
              <a:t>WAVY ADRENAL IN DSD: </a:t>
            </a:r>
            <a:pPr indent="0" marL="0">
              <a:buNone/>
            </a:pPr>
            <a:r>
              <a:rPr lang="en-US" sz="950" dirty="0">
                <a:solidFill>
                  <a:srgbClr val="0F172A"/>
                </a:solidFill>
                <a:latin typeface="Calibri" pitchFamily="34" charset="0"/>
                <a:ea typeface="Calibri" pitchFamily="34" charset="-122"/>
                <a:cs typeface="Calibri" pitchFamily="34" charset="-120"/>
              </a:rPr>
              <a:t>Ambiguous genitalia + cerebriform folded adrenals = 46,XX CAH. Urgent pediatric endocrine referral!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2026-09-15T16:52:17Z</dcterms:created>
  <dcterms:modified xsi:type="dcterms:W3CDTF">2026-09-15T16:52:17Z</dcterms:modified>
</cp:coreProperties>
</file>