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colleagues. In fetal and pediatric radiology, embryology is not academic trivia—it is our diagnostic compass. When you see a congenital defect on ultrasound, CT, or MRI, your job is not merely to describe the mass; it is to reverse-engineer the embryological failure point. Over the next 45 minutes, we will examine 18 classic developmental look-alikes across the gastrointestinal and genitourinary tracts, proving why superficial anatomical similarities hide radically different pathophysiological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Notes: Notice the crucial clinical fork in the road: Omphalocele is a midline fusion/reduction defect enveloped by an amnion-peritoneum sac where the cord inserts directly onto the apex. Because midline folding involves early organogenesis, associated anomalies reach 80%, mandating fetal echocardiography and microarray for Trisomy 18 and Beckwith-Wiedemann. Gastroschisis is a right-sided pararectal vascular event with an intact skin bridge between the cord and the naked bowel. The fetus is genetically normal, but the surgeon cares about bowel viability and closing ring stenosis.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Notes: This slide contrasts cranial fold arrest with caudal fold arrest. Cantrell destroys the chest-abdomen boundary: the septum transversum fails, the sternum splits, and the heart literally beats outside the chest into an omphalocele. OEIS destroys the lower abdomen: mesoderm fails to migrate below the umbilicus, causing premature rupture of the cloacal membrane before the urorectal septum divides the cloaca. As a result, the cecum and two hemibladders turn inside out onto the abdominal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Notes: In the foregut, the respiratory diverticulum must split from the dorsal gut. If the lateral folds fail to fuse, you get EA/TEF. Gross Type C is 86% of cases. Crucially, the presence of a fluid-filled stomach does not exclude EA because fluid passes through the fistula. In contrast, CHAOS represents failed recanalization of the larynx. The trapped lung fluid balloons both lungs symmetrically, inverting the diaphragms and squashing the heart—an appearance easily mistaken for bilateral lung tumors if you don't trace the dilated, fluid-filled trachea.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Notes: Midgut rotation is a three-stage 270-degree counterclockwise dance around the SMA. When it arrests at 180 degrees, the cecum is stuck in the RUQ, anchored by fibrous Ladd bands that strangle the duodenum. Worse, the entire small bowel hangs on a narrow pedicle that can twist, cutting off blood to the entire gut. Residents must know: never clear an infant with bilious emesis based on ultrasound alone. The gold standard is Upper GI series, and the true lateral view is mandatory to confirm the duodenum dives posteriorly into the retroperitoneum.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Notes: Duodenal atresia happens early in organogenesis: Tandler's recanalization failure during weeks 7-8. That's why 40% have Down syndrome, annular pancreas, and cardiac defects. Jejunoileal atresia is completely different: Louw &amp; Barnard proved it is a late vascular accident in the second or third trimester. The bowel formed and recanalized perfectly, then infarcted from a volvulus or thrombus. That's why chromosomes are normal, but you often find peritoneal meconium calcifications from sterile in-utero perforation.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Notes: Contrast enemas in the neonate who won't pass meconium center on one critical distinction: Hirschsprung is a neurocristopathy where neural crest cells arrested their craniocaudal march, leaving the distal rectum in permanent spasm. The classic finding is reversal of the rectosigmoid ratio and a transition zone. Meconium ileus is osmotic failure from CFTR mutations: thick inspissated pellets plug the terminal ileum, and because nothing passes downstream, the entire colon is a microcolon. Beware: total colonic Hirschsprung produces a microcolon without a transition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Notes: Bochdalek hernia is an arrest of the pleuroperitoneal membrane closing by week 8-10. Left canals close later and are bigger, explaining the 85% left-sided dominance. The crucial paradigm shift from the TOTAL trial in NEJM 2021 is that CDH is a pulmonary disease, not a hernia disease! The dual-hit hypothesis explains that genetic mutations hit both the diaphragm and bilateral pulmonary arterioles. When o/e LHR is under 25%, fetoscopic tracheal balloon occlusion (FETO) rescues lung branching by trapping lung fluid.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Notes: In any infant with a cystic RUQ mass, look for the 'gut signature'—the classic double-rim sign of echogenic inner mucosa and hypoechoic outer muscularis propria. That proves an enteric duplication cyst, where ectopic gastric mucosa can ulcerate and bleed. In contrast, choledochal cysts arise from an anomalous pancreaticobiliary junction letting pancreatic juice burn the bile duct wall. They connect directly to the biliary tree, lack smooth muscle, and carry a devastating lifetime risk of cholangiocarcinoma.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Notes: The urorectal septum divides the cloaca by week 7. Failure in females produces a persistent cloaca, where urine mixes with meconium to form calcified enteroliths in a giant dilated hydrocolpos. On the right, Currarino syndrome is an autosomal dominant MNX1 mutation that links sacral agenesis with anorectal stenosis and a presacral mass. Every radiologist must engrave this in stone: if you see a presacral mass, check the sacrum for the 'scimitar' shape. If you needle-biopsy that mass, you will puncture an anterior sacral meningocele and cause fatal meningitis.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Notes: The metanephric kidneys form down at S1-S2 and must climb to T12 while rotating 90 degrees medially. If their lower poles touch and fuse before ascending, you get a horseshoe kidney. It climbs until its parenchymal bridge hits the Inferior Mesenteric Artery at L3, which acts as a dead-bolt ceiling. In crossed-fused ectopia, the ureteric bud crossed the midline to induce the other kidney, but its ureter must obey its origin: it always crosses back over the spine to insert into its own normal side of the bladder trigone.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Notes: When you see an empty renal fossa, look at the adrenal gland. The adrenal doesn't care if the kidney exists—it comes from coelomic mesothelium and neural crest, completely separate from the metanephros. But normally, the climbing kidney physically molds the adrenal into an inverted V. When the kidney is absent or stuck in the pelvis, the adrenal lies flat as a pancake along the psoas muscle. Beware: a neonatal adrenal is huge and mimics a normal kidney to the untrained eye. Always sweep the aorta with Doppler to confirm whether a renal artery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Notes: MCDK and ARPKD represent opposite ends of cystic disease. MCDK is an early ureteric bud atresia at week 5: the collecting tubules balloon into non-communicating cysts, there is zero renal parenchyma, and nuclear medicine shows 0% function. It shrivels away on its own. ARPKD is a fatal ciliopathy caused by PKHD1 mutations: every single collecting duct is dilated into microscopic tubules, producing giant hyperechoic kidneys and lethal pulmonary hypoplasia. Don't forget: every child with ARPKD has congenital hepatic fibrosis from ductal plate malformation.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Notes: The Weigert-Meyer rule is pure embryological geometry. Two buds sprout from the Wolffian duct: the cranial one goes to the lower pole, the caudal one to the upper pole. As the Wolffian duct is absorbed into the bladder base, the cranial bud separates first and migrates superolaterally. The upper pole bud separates late and is dragged medially and inferiorly. Remember the DUMI mnemonic: Duplex Upper Medial Inferior—it obstructs and forms a ureterocele. The lower pole refluxes. And remember the clinical pearl: ectopic ureters in girls insert below the sphincter, causing continuous dribbling incontinence!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Notes: When an infant has a weeping umbilicus, you must identify whether the conduit is extraperitoneal or intraperitoneal. Urachal remnants come from the allantois and run preperitoneally in the Retzius space to the bladder dome. Vitelline remnants come from the yolk stalk and run intraperitoneally to the ileum. In pediatric practice, pediatricians frequently mistake a red umbilical polyp for a benign granuloma and apply silver nitrate. If that polyp is a patent vitelline or urachal tract, silver nitrate burns through into the peritoneal cavity, causing bowel perforation and chemical peritonitis. Ultrasound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Notes: Posterior Urethral Valves are the number one cause of end-stage renal disease in boys. Modern embryology recognizes this not as Young's historic folds, but as a persistent Congenital Obstructive Posterior Urethral Membrane (COP) derived from Wolffian duct insertion at the verumontanum. But pay attention to the physics of high-pressure obstruction: the VURD syndrome. If one kidney has massive high-grade reflux or a ruptured fornix producing a urinoma, it acts as a mechanical pop-off valve, absorbing pressure and protecting the contralateral kidney from dysplasia.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Notes: This is one of the most litigated areas in reproductive imaging. Both anomalies present with a bifurcated endometrial cavity. The differentiator is the external fundal serosa, dictated by embryology. Bicornuate is failure of lateral fusion—there are two separate horns with a fundal cleft of 1.0 cm or deeper. Septate is failure of apoptotic resorption of the midline wall—the external fundus is flat or cleft less than 1.0 cm. You cannot see the serosa on HSG! An incision in a bicornuate uterus causes peritoneal perforation, while metroplasty in a septate uterus cures recurrent pregnancy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Notes: DSD internal duct anatomy follows one simple rule: AMH from Sertoli cells destroys Müllerian ducts; Testosterone from Leydig cells saves Wolffian ducts. In CAIS (46,XY), testes make AMH, so the uterus is gone, but the androgen receptor is broken, so external genitalia default to female. In Swyer (46,XY), the SRY gene failed, so no testes formed. No testes means NO AMH. Without AMH, the Müllerian ducts survive, giving this 46,XY female a completely normal uterus! But beware: the dysgenetic streak gonads have a 30% risk of malignant dysgerminoma and must be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Notes: This master reference matrix summarizes the core curriculum. Print this slide and keep it pinned at the workstation. Notice how each imaging dilemma pairs an early embryonic checkpoint with its decisive imaging discriminator.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Notes: Thank you for your attention. Commit these 8 golden embryology rules to memory. They will save you from malpractice pitfalls, misdiagnoses, and dangerous surgical misadventures on your daily clinical workstation.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Shape 0"/>
          <p:cNvSpPr/>
          <p:nvPr/>
        </p:nvSpPr>
        <p:spPr>
          <a:xfrm>
            <a:off x="731520" y="1005840"/>
            <a:ext cx="5669280" cy="365760"/>
          </a:xfrm>
          <a:prstGeom prst="rect">
            <a:avLst/>
          </a:prstGeom>
          <a:solidFill>
            <a:srgbClr val="0284C7"/>
          </a:solidFill>
          <a:ln/>
        </p:spPr>
      </p:sp>
      <p:sp>
        <p:nvSpPr>
          <p:cNvPr id="3" name="Text 1"/>
          <p:cNvSpPr/>
          <p:nvPr/>
        </p:nvSpPr>
        <p:spPr>
          <a:xfrm>
            <a:off x="822960" y="1005840"/>
            <a:ext cx="5486400" cy="36576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FETAL &amp; PEDIATRIC RADIOLOGY MASTERCLASS</a:t>
            </a:r>
            <a:endParaRPr lang="en-US" sz="1200" dirty="0"/>
          </a:p>
        </p:txBody>
      </p:sp>
      <p:sp>
        <p:nvSpPr>
          <p:cNvPr id="4" name="Text 2"/>
          <p:cNvSpPr/>
          <p:nvPr/>
        </p:nvSpPr>
        <p:spPr>
          <a:xfrm>
            <a:off x="731520" y="1463040"/>
            <a:ext cx="10698480" cy="1645920"/>
          </a:xfrm>
          <a:prstGeom prst="rect">
            <a:avLst/>
          </a:prstGeom>
          <a:noFill/>
          <a:ln/>
        </p:spPr>
        <p:txBody>
          <a:bodyPr wrap="square" rtlCol="0" anchor="ctr"/>
          <a:lstStyle/>
          <a:p>
            <a:pPr indent="0" marL="0">
              <a:lnSpc>
                <a:spcPts val="4200"/>
              </a:lnSpc>
              <a:buNone/>
            </a:pPr>
            <a:r>
              <a:rPr lang="en-US" sz="3800" b="1" dirty="0">
                <a:solidFill>
                  <a:srgbClr val="FFFFFF"/>
                </a:solidFill>
                <a:latin typeface="Calibri" pitchFamily="34" charset="0"/>
                <a:ea typeface="Calibri" pitchFamily="34" charset="-122"/>
                <a:cs typeface="Calibri" pitchFamily="34" charset="-120"/>
              </a:rPr>
              <a:t>EMBRYOLOGY FOR THE</a:t>
            </a:r>
            <a:endParaRPr lang="en-US" sz="3800" dirty="0"/>
          </a:p>
          <a:p>
            <a:pPr indent="0" marL="0">
              <a:lnSpc>
                <a:spcPts val="4200"/>
              </a:lnSpc>
              <a:buNone/>
            </a:pPr>
            <a:r>
              <a:rPr lang="en-US" sz="3800" b="1" dirty="0">
                <a:solidFill>
                  <a:srgbClr val="FFFFFF"/>
                </a:solidFill>
                <a:latin typeface="Calibri" pitchFamily="34" charset="0"/>
                <a:ea typeface="Calibri" pitchFamily="34" charset="-122"/>
                <a:cs typeface="Calibri" pitchFamily="34" charset="-120"/>
              </a:rPr>
              <a:t>RADIOLOGY WORKSTATION</a:t>
            </a:r>
            <a:endParaRPr lang="en-US" sz="3800" dirty="0"/>
          </a:p>
        </p:txBody>
      </p:sp>
      <p:sp>
        <p:nvSpPr>
          <p:cNvPr id="5" name="Text 3"/>
          <p:cNvSpPr/>
          <p:nvPr/>
        </p:nvSpPr>
        <p:spPr>
          <a:xfrm>
            <a:off x="731520" y="3200400"/>
            <a:ext cx="10698480" cy="914400"/>
          </a:xfrm>
          <a:prstGeom prst="rect">
            <a:avLst/>
          </a:prstGeom>
          <a:noFill/>
          <a:ln/>
        </p:spPr>
        <p:txBody>
          <a:bodyPr wrap="square" rtlCol="0" anchor="ctr"/>
          <a:lstStyle/>
          <a:p>
            <a:pPr indent="0" marL="0">
              <a:lnSpc>
                <a:spcPts val="2200"/>
              </a:lnSpc>
              <a:buNone/>
            </a:pPr>
            <a:r>
              <a:rPr lang="en-US" sz="1800" dirty="0">
                <a:solidFill>
                  <a:srgbClr val="BAE6FD"/>
                </a:solidFill>
                <a:latin typeface="Calibri" pitchFamily="34" charset="0"/>
                <a:ea typeface="Calibri" pitchFamily="34" charset="-122"/>
                <a:cs typeface="Calibri" pitchFamily="34" charset="-120"/>
              </a:rPr>
              <a:t>Clinically Oriented Gastrointestinal &amp; Genitourinary Morphogenesis:</a:t>
            </a:r>
            <a:endParaRPr lang="en-US" sz="1800" dirty="0"/>
          </a:p>
          <a:p>
            <a:pPr indent="0" marL="0">
              <a:lnSpc>
                <a:spcPts val="2200"/>
              </a:lnSpc>
              <a:buNone/>
            </a:pPr>
            <a:r>
              <a:rPr lang="en-US" sz="1800" dirty="0">
                <a:solidFill>
                  <a:srgbClr val="BAE6FD"/>
                </a:solidFill>
                <a:latin typeface="Calibri" pitchFamily="34" charset="0"/>
                <a:ea typeface="Calibri" pitchFamily="34" charset="-122"/>
                <a:cs typeface="Calibri" pitchFamily="34" charset="-120"/>
              </a:rPr>
              <a:t>Look-Alikes, Reverse Embryological Reasoning &amp; Workstation Pitfalls</a:t>
            </a:r>
            <a:endParaRPr lang="en-US" sz="1800" dirty="0"/>
          </a:p>
        </p:txBody>
      </p:sp>
      <p:sp>
        <p:nvSpPr>
          <p:cNvPr id="6" name="Shape 4"/>
          <p:cNvSpPr/>
          <p:nvPr/>
        </p:nvSpPr>
        <p:spPr>
          <a:xfrm>
            <a:off x="731520" y="4389120"/>
            <a:ext cx="10698480" cy="1280160"/>
          </a:xfrm>
          <a:prstGeom prst="rect">
            <a:avLst/>
          </a:prstGeom>
          <a:solidFill>
            <a:srgbClr val="1E293B"/>
          </a:solidFill>
          <a:ln w="19050">
            <a:solidFill>
              <a:srgbClr val="38BDF8"/>
            </a:solidFill>
            <a:prstDash val="solid"/>
          </a:ln>
        </p:spPr>
      </p:sp>
      <p:sp>
        <p:nvSpPr>
          <p:cNvPr id="7" name="Text 5"/>
          <p:cNvSpPr/>
          <p:nvPr/>
        </p:nvSpPr>
        <p:spPr>
          <a:xfrm>
            <a:off x="914400" y="4480560"/>
            <a:ext cx="10332720" cy="1097280"/>
          </a:xfrm>
          <a:prstGeom prst="rect">
            <a:avLst/>
          </a:prstGeom>
          <a:noFill/>
          <a:ln/>
        </p:spPr>
        <p:txBody>
          <a:bodyPr wrap="square"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THE REVERSE EMBRYOLOGY PRINCIPLE:
</a:t>
            </a:r>
            <a:pPr indent="0" marL="0">
              <a:buNone/>
            </a:pPr>
            <a:r>
              <a:rPr lang="en-US" sz="1100" dirty="0">
                <a:solidFill>
                  <a:srgbClr val="FFFFFF"/>
                </a:solidFill>
                <a:latin typeface="Calibri" pitchFamily="34" charset="0"/>
                <a:ea typeface="Calibri" pitchFamily="34" charset="-122"/>
                <a:cs typeface="Calibri" pitchFamily="34" charset="-120"/>
              </a:rPr>
              <a:t>Clinical radiologists do not memorize Carnegie stages for trivia. We practice Reverse Embryology:
</a:t>
            </a:r>
            <a:pPr indent="0" marL="0">
              <a:buNone/>
            </a:pPr>
            <a:r>
              <a:rPr lang="en-US" sz="1150" b="1" dirty="0">
                <a:solidFill>
                  <a:srgbClr val="FDE047"/>
                </a:solidFill>
                <a:latin typeface="Calibri" pitchFamily="34" charset="0"/>
                <a:ea typeface="Calibri" pitchFamily="34" charset="-122"/>
                <a:cs typeface="Calibri" pitchFamily="34" charset="-120"/>
              </a:rPr>
              <a:t>Imaging Sign (Arrest / Distortion)  --&gt;  Embryological Checkpoint  --&gt;  Occult Syndromic Cascade  --&gt;  Perinatal Triage</a:t>
            </a:r>
            <a:endParaRPr lang="en-US" sz="1300" dirty="0"/>
          </a:p>
        </p:txBody>
      </p:sp>
      <p:sp>
        <p:nvSpPr>
          <p:cNvPr id="8" name="Text 6"/>
          <p:cNvSpPr/>
          <p:nvPr/>
        </p:nvSpPr>
        <p:spPr>
          <a:xfrm>
            <a:off x="731520" y="6035040"/>
            <a:ext cx="10698480" cy="365760"/>
          </a:xfrm>
          <a:prstGeom prst="rect">
            <a:avLst/>
          </a:prstGeom>
          <a:noFill/>
          <a:ln/>
        </p:spPr>
        <p:txBody>
          <a:bodyPr wrap="square" rtlCol="0" anchor="ctr"/>
          <a:lstStyle/>
          <a:p>
            <a:pPr indent="0" marL="0">
              <a:buNone/>
            </a:pPr>
            <a:r>
              <a:rPr lang="en-US" sz="1100" dirty="0">
                <a:solidFill>
                  <a:srgbClr val="94A3B8"/>
                </a:solidFill>
                <a:latin typeface="Calibri" pitchFamily="34" charset="0"/>
                <a:ea typeface="Calibri" pitchFamily="34" charset="-122"/>
                <a:cs typeface="Calibri" pitchFamily="34" charset="-120"/>
              </a:rPr>
              <a:t>Faculty: Expert Scientist &amp; Fetal / Pediatric Radiologist  |  Target: Radiologists, Fellows &amp; MFMs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ANTERIOR ABDOMINAL WALL • WEEKS 6–12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Gastroschisis vs. Omphalocele: Divergent Pathogenesis Behind Herniated Gut</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Both present as herniated bowel at the anterior fetal wall at 20 weeks. Why does one trigger urgent fetal echo and microarray for lethal trisomies, while the other prompts serial Doppler sweeps for bowel ischemia in a genetically normal fetus?</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OMPHALOCELE (EXOMPHALOS)</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Failure of physiological midgut herniation to reduce into the peritoneal cavity at 10–12 wks GA (CS 16–23), or lateral fold midline fusion failure.
</a:t>
            </a:r>
            <a:pPr indent="0" marL="0">
              <a:buNone/>
            </a:pPr>
            <a:r>
              <a:rPr lang="en-US" sz="1050" b="1" dirty="0">
                <a:solidFill>
                  <a:srgbClr val="0A192F"/>
                </a:solidFill>
                <a:latin typeface="Calibri" pitchFamily="34" charset="0"/>
                <a:ea typeface="Calibri" pitchFamily="34" charset="-122"/>
                <a:cs typeface="Calibri" pitchFamily="34" charset="-120"/>
              </a:rPr>
              <a:t>Covering Sac: </a:t>
            </a:r>
            <a:pPr indent="0" marL="0">
              <a:buNone/>
            </a:pPr>
            <a:r>
              <a:rPr lang="en-US" sz="1050" dirty="0">
                <a:solidFill>
                  <a:srgbClr val="0F172A"/>
                </a:solidFill>
                <a:latin typeface="Calibri" pitchFamily="34" charset="0"/>
                <a:ea typeface="Calibri" pitchFamily="34" charset="-122"/>
                <a:cs typeface="Calibri" pitchFamily="34" charset="-120"/>
              </a:rPr>
              <a:t>ALWAYS enclosed by a 3-layered membrane: outer amnion, middle Wharton's jelly, inner parietal peritoneum (unless ruptured in labor &lt;5%).
</a:t>
            </a:r>
            <a:pPr indent="0" marL="0">
              <a:buNone/>
            </a:pPr>
            <a:r>
              <a:rPr lang="en-US" sz="1050" b="1" dirty="0">
                <a:solidFill>
                  <a:srgbClr val="0A192F"/>
                </a:solidFill>
                <a:latin typeface="Calibri" pitchFamily="34" charset="0"/>
                <a:ea typeface="Calibri" pitchFamily="34" charset="-122"/>
                <a:cs typeface="Calibri" pitchFamily="34" charset="-120"/>
              </a:rPr>
              <a:t>Cord Insertion: </a:t>
            </a:r>
            <a:pPr indent="0" marL="0">
              <a:buNone/>
            </a:pPr>
            <a:r>
              <a:rPr lang="en-US" sz="1050" dirty="0">
                <a:solidFill>
                  <a:srgbClr val="0F172A"/>
                </a:solidFill>
                <a:latin typeface="Calibri" pitchFamily="34" charset="0"/>
                <a:ea typeface="Calibri" pitchFamily="34" charset="-122"/>
                <a:cs typeface="Calibri" pitchFamily="34" charset="-120"/>
              </a:rPr>
              <a:t>Cord inserts DIRECTLY onto the apex of the hernia sac. Umbilical vessels radiate along the sac wall.
</a:t>
            </a:r>
            <a:pPr indent="0" marL="0">
              <a:buNone/>
            </a:pPr>
            <a:r>
              <a:rPr lang="en-US" sz="1050" b="1" dirty="0">
                <a:solidFill>
                  <a:srgbClr val="0A192F"/>
                </a:solidFill>
                <a:latin typeface="Calibri" pitchFamily="34" charset="0"/>
                <a:ea typeface="Calibri" pitchFamily="34" charset="-122"/>
                <a:cs typeface="Calibri" pitchFamily="34" charset="-120"/>
              </a:rPr>
              <a:t>Genetics (60–80%): </a:t>
            </a:r>
            <a:pPr indent="0" marL="0">
              <a:buNone/>
            </a:pPr>
            <a:r>
              <a:rPr lang="en-US" sz="1050" dirty="0">
                <a:solidFill>
                  <a:srgbClr val="0F172A"/>
                </a:solidFill>
                <a:latin typeface="Calibri" pitchFamily="34" charset="0"/>
                <a:ea typeface="Calibri" pitchFamily="34" charset="-122"/>
                <a:cs typeface="Calibri" pitchFamily="34" charset="-120"/>
              </a:rPr>
              <a:t>Trisomies 18, 13, 21; Beckwith-Wiedemann (11p15, CDKN1C, macroglossia/macrosomia); Cantrell pentad; OEIS complex.
</a:t>
            </a:r>
            <a:pPr indent="0" marL="0">
              <a:buNone/>
            </a:pPr>
            <a:r>
              <a:rPr lang="en-US" sz="1050" b="1" dirty="0">
                <a:solidFill>
                  <a:srgbClr val="0A192F"/>
                </a:solidFill>
                <a:latin typeface="Calibri" pitchFamily="34" charset="0"/>
                <a:ea typeface="Calibri" pitchFamily="34" charset="-122"/>
                <a:cs typeface="Calibri" pitchFamily="34" charset="-120"/>
              </a:rPr>
              <a:t>Prognosis &amp; US: </a:t>
            </a:r>
            <a:pPr indent="0" marL="0">
              <a:buNone/>
            </a:pPr>
            <a:r>
              <a:rPr lang="en-US" sz="1050" dirty="0">
                <a:solidFill>
                  <a:srgbClr val="0F172A"/>
                </a:solidFill>
                <a:latin typeface="Calibri" pitchFamily="34" charset="0"/>
                <a:ea typeface="Calibri" pitchFamily="34" charset="-122"/>
                <a:cs typeface="Calibri" pitchFamily="34" charset="-120"/>
              </a:rPr>
              <a:t>Dictated by cardiac (50%) &amp; aneuploidy risks. 'Liver-containing' sac has LOWER aneuploidy risk than 'bowel-only', but greater pulmonary hypoplasia.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D9488"/>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GASTROSCHISIS</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NOT a failure of herniation retraction! Right vitelline (omphalomesenteric) artery thrombosis/atrophy, or failed yolk stalk body fold incorporation.
</a:t>
            </a:r>
            <a:pPr indent="0" marL="0">
              <a:buNone/>
            </a:pPr>
            <a:r>
              <a:rPr lang="en-US" sz="1050" b="1" dirty="0">
                <a:solidFill>
                  <a:srgbClr val="0A192F"/>
                </a:solidFill>
                <a:latin typeface="Calibri" pitchFamily="34" charset="0"/>
                <a:ea typeface="Calibri" pitchFamily="34" charset="-122"/>
                <a:cs typeface="Calibri" pitchFamily="34" charset="-120"/>
              </a:rPr>
              <a:t>Covering Sac: </a:t>
            </a:r>
            <a:pPr indent="0" marL="0">
              <a:buNone/>
            </a:pPr>
            <a:r>
              <a:rPr lang="en-US" sz="1050" dirty="0">
                <a:solidFill>
                  <a:srgbClr val="0F172A"/>
                </a:solidFill>
                <a:latin typeface="Calibri" pitchFamily="34" charset="0"/>
                <a:ea typeface="Calibri" pitchFamily="34" charset="-122"/>
                <a:cs typeface="Calibri" pitchFamily="34" charset="-120"/>
              </a:rPr>
              <a:t>NO covering sac (bare, naked bowel). Direct contact with amniotic fluid produces chemical peritonitis, wall edema, and fibrous 'peel'.
</a:t>
            </a:r>
            <a:pPr indent="0" marL="0">
              <a:buNone/>
            </a:pPr>
            <a:r>
              <a:rPr lang="en-US" sz="1050" b="1" dirty="0">
                <a:solidFill>
                  <a:srgbClr val="0A192F"/>
                </a:solidFill>
                <a:latin typeface="Calibri" pitchFamily="34" charset="0"/>
                <a:ea typeface="Calibri" pitchFamily="34" charset="-122"/>
                <a:cs typeface="Calibri" pitchFamily="34" charset="-120"/>
              </a:rPr>
              <a:t>Cord Insertion: </a:t>
            </a:r>
            <a:pPr indent="0" marL="0">
              <a:buNone/>
            </a:pPr>
            <a:r>
              <a:rPr lang="en-US" sz="1050" dirty="0">
                <a:solidFill>
                  <a:srgbClr val="0F172A"/>
                </a:solidFill>
                <a:latin typeface="Calibri" pitchFamily="34" charset="0"/>
                <a:ea typeface="Calibri" pitchFamily="34" charset="-122"/>
                <a:cs typeface="Calibri" pitchFamily="34" charset="-120"/>
              </a:rPr>
              <a:t>NORMAL insertion on abdominal wall. Defect is 2–4 cm, strictly to the RIGHT of the cord, separated by a normal skin bridge.
</a:t>
            </a:r>
            <a:pPr indent="0" marL="0">
              <a:buNone/>
            </a:pPr>
            <a:r>
              <a:rPr lang="en-US" sz="1050" b="1" dirty="0">
                <a:solidFill>
                  <a:srgbClr val="0A192F"/>
                </a:solidFill>
                <a:latin typeface="Calibri" pitchFamily="34" charset="0"/>
                <a:ea typeface="Calibri" pitchFamily="34" charset="-122"/>
                <a:cs typeface="Calibri" pitchFamily="34" charset="-120"/>
              </a:rPr>
              <a:t>Genetics (&lt;2%): </a:t>
            </a:r>
            <a:pPr indent="0" marL="0">
              <a:buNone/>
            </a:pPr>
            <a:r>
              <a:rPr lang="en-US" sz="1050" dirty="0">
                <a:solidFill>
                  <a:srgbClr val="0F172A"/>
                </a:solidFill>
                <a:latin typeface="Calibri" pitchFamily="34" charset="0"/>
                <a:ea typeface="Calibri" pitchFamily="34" charset="-122"/>
                <a:cs typeface="Calibri" pitchFamily="34" charset="-120"/>
              </a:rPr>
              <a:t>Almost always isolated; young maternal age, nicotine. Pathology is vascular/mechanical: bowel atresia (10–15%), necrosis, volvulus.
</a:t>
            </a:r>
            <a:pPr indent="0" marL="0">
              <a:buNone/>
            </a:pPr>
            <a:r>
              <a:rPr lang="en-US" sz="1050" b="1" dirty="0">
                <a:solidFill>
                  <a:srgbClr val="0A192F"/>
                </a:solidFill>
                <a:latin typeface="Calibri" pitchFamily="34" charset="0"/>
                <a:ea typeface="Calibri" pitchFamily="34" charset="-122"/>
                <a:cs typeface="Calibri" pitchFamily="34" charset="-120"/>
              </a:rPr>
              <a:t>Prognosis &amp; US: </a:t>
            </a:r>
            <a:pPr indent="0" marL="0">
              <a:buNone/>
            </a:pPr>
            <a:r>
              <a:rPr lang="en-US" sz="1050" dirty="0">
                <a:solidFill>
                  <a:srgbClr val="0F172A"/>
                </a:solidFill>
                <a:latin typeface="Calibri" pitchFamily="34" charset="0"/>
                <a:ea typeface="Calibri" pitchFamily="34" charset="-122"/>
                <a:cs typeface="Calibri" pitchFamily="34" charset="-120"/>
              </a:rPr>
              <a:t>Dictated by bowel length. Serial US: Intra-abdominal bowel dilatation &gt;10–14 mm or stomach dilation warns of stricture, closing ring, or ischemia.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12-WEEK RULE &amp; RUPTURED SACS: Never diagnose an omphalocele before 12.0 wks GA (CRL &lt;= 45 mm); physiological midgut herniation (up to 7 mm) is normal up to 11+6 wks! In ruptured omphalocele, the cord inserts onto the defect margin (not intact skin) and liver is often eviscerated (never in gastroschisis).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Pakdaman R, Woodward PJ, Kennedy A. RadioGraphics 2015;35(2):636–649; Feldkamp ML, et al. Am J Med Genet A 2007;143A(7):653–663.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BODY WALL FOLDING AXIS • WEEKS 4–5 EMBRYONIC</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Cranial vs. Caudal Fold Disruptions: Cantrell Pentad vs. OEIS Complex</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Severe ventral wall disruptions can destroy either the top or bottom of the torso. How does cranial versus caudal embryonic fold failure dictate the difference between ectopia cordis and a split pelvis with absent bladder?</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7C2D12"/>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PENTALOGY OF CANTRELL (CRANIAL FOLD)</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Carnegie Stages 11–13 (day 24–30). Developmental arrest of the cranial mesodermal fold and anterior septum transversum.
</a:t>
            </a:r>
            <a:pPr indent="0" marL="0">
              <a:buNone/>
            </a:pPr>
            <a:r>
              <a:rPr lang="en-US" sz="1050" b="1" dirty="0">
                <a:solidFill>
                  <a:srgbClr val="0A192F"/>
                </a:solidFill>
                <a:latin typeface="Calibri" pitchFamily="34" charset="0"/>
                <a:ea typeface="Calibri" pitchFamily="34" charset="-122"/>
                <a:cs typeface="Calibri" pitchFamily="34" charset="-120"/>
              </a:rPr>
              <a:t>The Pentad: </a:t>
            </a:r>
            <a:pPr indent="0" marL="0">
              <a:buNone/>
            </a:pPr>
            <a:r>
              <a:rPr lang="en-US" sz="1050" dirty="0">
                <a:solidFill>
                  <a:srgbClr val="0F172A"/>
                </a:solidFill>
                <a:latin typeface="Calibri" pitchFamily="34" charset="0"/>
                <a:ea typeface="Calibri" pitchFamily="34" charset="-122"/>
                <a:cs typeface="Calibri" pitchFamily="34" charset="-120"/>
              </a:rPr>
              <a:t>1. Supraumbilical midline omphalocele
2. Anterior diaphragmatic hernia
3. Diaphragmatic pericardial defect
4. Lower sternal cleft / bifid sternum
5. Intracardiac anomalies (VSD 100%, ectopia cordis, TOF, LV diverticulum).
</a:t>
            </a:r>
            <a:pPr indent="0" marL="0">
              <a:buNone/>
            </a:pPr>
            <a:r>
              <a:rPr lang="en-US" sz="1050" b="1" dirty="0">
                <a:solidFill>
                  <a:srgbClr val="0A192F"/>
                </a:solidFill>
                <a:latin typeface="Calibri" pitchFamily="34" charset="0"/>
                <a:ea typeface="Calibri" pitchFamily="34" charset="-122"/>
                <a:cs typeface="Calibri" pitchFamily="34" charset="-120"/>
              </a:rPr>
              <a:t>Fetal Imaging: </a:t>
            </a:r>
            <a:pPr indent="0" marL="0">
              <a:buNone/>
            </a:pPr>
            <a:r>
              <a:rPr lang="en-US" sz="1050" dirty="0">
                <a:solidFill>
                  <a:srgbClr val="0F172A"/>
                </a:solidFill>
                <a:latin typeface="Calibri" pitchFamily="34" charset="0"/>
                <a:ea typeface="Calibri" pitchFamily="34" charset="-122"/>
                <a:cs typeface="Calibri" pitchFamily="34" charset="-120"/>
              </a:rPr>
              <a:t>Pulsating heart protruding outside the thoracic cage (ectopia cordis) through a sternal cleft into the omphalocele sac. Diaphragmatic defect on sagittal MRI.
</a:t>
            </a:r>
            <a:pPr indent="0" marL="0">
              <a:buNone/>
            </a:pPr>
            <a:r>
              <a:rPr lang="en-US" sz="1050" b="1" dirty="0">
                <a:solidFill>
                  <a:srgbClr val="0A192F"/>
                </a:solidFill>
                <a:latin typeface="Calibri" pitchFamily="34" charset="0"/>
                <a:ea typeface="Calibri" pitchFamily="34" charset="-122"/>
                <a:cs typeface="Calibri" pitchFamily="34" charset="-120"/>
              </a:rPr>
              <a:t>Prognosis: </a:t>
            </a:r>
            <a:pPr indent="0" marL="0">
              <a:buNone/>
            </a:pPr>
            <a:r>
              <a:rPr lang="en-US" sz="1050" dirty="0">
                <a:solidFill>
                  <a:srgbClr val="0F172A"/>
                </a:solidFill>
                <a:latin typeface="Calibri" pitchFamily="34" charset="0"/>
                <a:ea typeface="Calibri" pitchFamily="34" charset="-122"/>
                <a:cs typeface="Calibri" pitchFamily="34" charset="-120"/>
              </a:rPr>
              <a:t>Extremely guarded; dictated by the severity of complex intracardiac anatomy and thoracic wall reconstruction.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4C1D95"/>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OEIS COMPLEX / CLOACAL EXSTROPHY (CAUDAL FOLD)</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 4 embryonic. Failure of infraumbilical mesoderm to migrate into caudal shield. Unreinforced cloacal membrane ruptures prematurely before week 7.
</a:t>
            </a:r>
            <a:pPr indent="0" marL="0">
              <a:buNone/>
            </a:pPr>
            <a:r>
              <a:rPr lang="en-US" sz="1050" b="1" dirty="0">
                <a:solidFill>
                  <a:srgbClr val="0A192F"/>
                </a:solidFill>
                <a:latin typeface="Calibri" pitchFamily="34" charset="0"/>
                <a:ea typeface="Calibri" pitchFamily="34" charset="-122"/>
                <a:cs typeface="Calibri" pitchFamily="34" charset="-120"/>
              </a:rPr>
              <a:t>The Tetrad: </a:t>
            </a:r>
            <a:pPr indent="0" marL="0">
              <a:buNone/>
            </a:pPr>
            <a:r>
              <a:rPr lang="en-US" sz="1050" dirty="0">
                <a:solidFill>
                  <a:srgbClr val="0F172A"/>
                </a:solidFill>
                <a:latin typeface="Calibri" pitchFamily="34" charset="0"/>
                <a:ea typeface="Calibri" pitchFamily="34" charset="-122"/>
                <a:cs typeface="Calibri" pitchFamily="34" charset="-120"/>
              </a:rPr>
              <a:t>O: Omphalocele (low-set, infraumbilical)
E: Exstrophy of cloaca (everted cecal plate between 2 hemibladders)
I: Imperforate anus
S: Spinal defects (myelomeningocele, tethered cord, sacral dysgenesis).
</a:t>
            </a:r>
            <a:pPr indent="0" marL="0">
              <a:buNone/>
            </a:pPr>
            <a:r>
              <a:rPr lang="en-US" sz="1050" b="1" dirty="0">
                <a:solidFill>
                  <a:srgbClr val="0A192F"/>
                </a:solidFill>
                <a:latin typeface="Calibri" pitchFamily="34" charset="0"/>
                <a:ea typeface="Calibri" pitchFamily="34" charset="-122"/>
                <a:cs typeface="Calibri" pitchFamily="34" charset="-120"/>
              </a:rPr>
              <a:t>Fetal Imaging: </a:t>
            </a:r>
            <a:pPr indent="0" marL="0">
              <a:buNone/>
            </a:pPr>
            <a:r>
              <a:rPr lang="en-US" sz="1050" dirty="0">
                <a:solidFill>
                  <a:srgbClr val="0F172A"/>
                </a:solidFill>
                <a:latin typeface="Calibri" pitchFamily="34" charset="0"/>
                <a:ea typeface="Calibri" pitchFamily="34" charset="-122"/>
                <a:cs typeface="Calibri" pitchFamily="34" charset="-120"/>
              </a:rPr>
              <a:t>Non-visualized urinary bladder; 'Elephant trunk' sign (prolapsed ileocecal stump between lateral hemibladders); wide pubic diastasis; lumbosacral mass.
</a:t>
            </a:r>
            <a:pPr indent="0" marL="0">
              <a:buNone/>
            </a:pPr>
            <a:r>
              <a:rPr lang="en-US" sz="1050" b="1" dirty="0">
                <a:solidFill>
                  <a:srgbClr val="0A192F"/>
                </a:solidFill>
                <a:latin typeface="Calibri" pitchFamily="34" charset="0"/>
                <a:ea typeface="Calibri" pitchFamily="34" charset="-122"/>
                <a:cs typeface="Calibri" pitchFamily="34" charset="-120"/>
              </a:rPr>
              <a:t>Fluid Paradox: </a:t>
            </a:r>
            <a:pPr indent="0" marL="0">
              <a:buNone/>
            </a:pPr>
            <a:r>
              <a:rPr lang="en-US" sz="1050" dirty="0">
                <a:solidFill>
                  <a:srgbClr val="0F172A"/>
                </a:solidFill>
                <a:latin typeface="Calibri" pitchFamily="34" charset="0"/>
                <a:ea typeface="Calibri" pitchFamily="34" charset="-122"/>
                <a:cs typeface="Calibri" pitchFamily="34" charset="-120"/>
              </a:rPr>
              <a:t>Amniotic fluid is NORMAL! Kidneys produce urine normally, which discharges freely into the amniotic cavity via exstrophic hemibladders.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OEIS BLADDER PARADOX: Non-visualized fetal bladder with NORMAL amniotic fluid volume means OEIS / Cloacal Exstrophy, NOT bilateral renal agenesis! Bilateral renal agenesis invariably produces lethal anhydramnios after 16 weeks. Look for pubic bone separation and low omphalocele.</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Cantrell JR, Haller JA, Ravitch MM. Surg Gynecol Obstet 1958;107(5):602–614; Austin PF, Homsy YL, Gearhart JP, et al. J Urol 1998;160(3 Pt 2):1179–1181.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FOREGUT CLEAVAGE &amp; CANALIZATION • WEEKS 4–10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Foregut Dysmorphology: Tracheoesophageal Cleavage vs. Laryngeal Canalization</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Foregut malformations present two deadly faces: one collapses the fetal stomach and floods the amniotic sac; the other balloons both lungs into giant echogenic masses that invert the diaphragm. What governs tracheoesophageal septation?</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0369A1"/>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ESOPHAGEAL ATRESIA &amp; TEF (EA/TEF)</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4–5 embryonic (CS 10–13). Downregulation of SHH &amp; NOGGIN disrupts midline fusion of lateral tracheoesophageal ridges, failing to cleave esophagus from trachea.
</a:t>
            </a:r>
            <a:pPr indent="0" marL="0">
              <a:buNone/>
            </a:pPr>
            <a:r>
              <a:rPr lang="en-US" sz="1050" b="1" dirty="0">
                <a:solidFill>
                  <a:srgbClr val="0A192F"/>
                </a:solidFill>
                <a:latin typeface="Calibri" pitchFamily="34" charset="0"/>
                <a:ea typeface="Calibri" pitchFamily="34" charset="-122"/>
                <a:cs typeface="Calibri" pitchFamily="34" charset="-120"/>
              </a:rPr>
              <a:t>Subtypes (Gross): </a:t>
            </a:r>
            <a:pPr indent="0" marL="0">
              <a:buNone/>
            </a:pPr>
            <a:r>
              <a:rPr lang="en-US" sz="1050" dirty="0">
                <a:solidFill>
                  <a:srgbClr val="0F172A"/>
                </a:solidFill>
                <a:latin typeface="Calibri" pitchFamily="34" charset="0"/>
                <a:ea typeface="Calibri" pitchFamily="34" charset="-122"/>
                <a:cs typeface="Calibri" pitchFamily="34" charset="-120"/>
              </a:rPr>
              <a:t>Type C (86%): Proximal atresia + distal TEF.
Type A (8%): Pure atresia without fistula.
Type E (4%): H-type fistula without atresia.
</a:t>
            </a:r>
            <a:pPr indent="0" marL="0">
              <a:buNone/>
            </a:pPr>
            <a:r>
              <a:rPr lang="en-US" sz="1050" b="1" dirty="0">
                <a:solidFill>
                  <a:srgbClr val="0A192F"/>
                </a:solidFill>
                <a:latin typeface="Calibri" pitchFamily="34" charset="0"/>
                <a:ea typeface="Calibri" pitchFamily="34" charset="-122"/>
                <a:cs typeface="Calibri" pitchFamily="34" charset="-120"/>
              </a:rPr>
              <a:t>Associations: </a:t>
            </a:r>
            <a:pPr indent="0" marL="0">
              <a:buNone/>
            </a:pPr>
            <a:r>
              <a:rPr lang="en-US" sz="1050" dirty="0">
                <a:solidFill>
                  <a:srgbClr val="0F172A"/>
                </a:solidFill>
                <a:latin typeface="Calibri" pitchFamily="34" charset="0"/>
                <a:ea typeface="Calibri" pitchFamily="34" charset="-122"/>
                <a:cs typeface="Calibri" pitchFamily="34" charset="-120"/>
              </a:rPr>
              <a:t>VACTERL Association in 50% (Vertebral, Anal, Cardiac, TEF, Renal, Limb). Karyotype abnormal in 10–15% (Trisomy 18, 21).
</a:t>
            </a:r>
            <a:pPr indent="0" marL="0">
              <a:buNone/>
            </a:pPr>
            <a:r>
              <a:rPr lang="en-US" sz="1050" b="1" dirty="0">
                <a:solidFill>
                  <a:srgbClr val="0A192F"/>
                </a:solidFill>
                <a:latin typeface="Calibri" pitchFamily="34" charset="0"/>
                <a:ea typeface="Calibri" pitchFamily="34" charset="-122"/>
                <a:cs typeface="Calibri" pitchFamily="34" charset="-120"/>
              </a:rPr>
              <a:t>Imaging Hallmarks: </a:t>
            </a:r>
            <a:pPr indent="0" marL="0">
              <a:buNone/>
            </a:pPr>
            <a:r>
              <a:rPr lang="en-US" sz="1050" dirty="0">
                <a:solidFill>
                  <a:srgbClr val="0F172A"/>
                </a:solidFill>
                <a:latin typeface="Calibri" pitchFamily="34" charset="0"/>
                <a:ea typeface="Calibri" pitchFamily="34" charset="-122"/>
                <a:cs typeface="Calibri" pitchFamily="34" charset="-120"/>
              </a:rPr>
              <a:t>Prenatal US: Polyhydramnios with small/absent stomach bubble (sensitivity 50%). Fetal MRI: Blind proximal esophageal 'pouch sign'. Postnatal: Coiled feeding tube.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991B1B"/>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CHAOS (LARYNGEAL / TRACHEAL ATRESIA)</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 10 embryonic. Failure of the solid epithelial plug in the embryonic larynx/upper trachea to recanalize, completely obstructing upper fetal airway.
</a:t>
            </a:r>
            <a:pPr indent="0" marL="0">
              <a:buNone/>
            </a:pPr>
            <a:r>
              <a:rPr lang="en-US" sz="1050" b="1" dirty="0">
                <a:solidFill>
                  <a:srgbClr val="0A192F"/>
                </a:solidFill>
                <a:latin typeface="Calibri" pitchFamily="34" charset="0"/>
                <a:ea typeface="Calibri" pitchFamily="34" charset="-122"/>
                <a:cs typeface="Calibri" pitchFamily="34" charset="-120"/>
              </a:rPr>
              <a:t>Pathophysiology: </a:t>
            </a:r>
            <a:pPr indent="0" marL="0">
              <a:buNone/>
            </a:pPr>
            <a:r>
              <a:rPr lang="en-US" sz="1050" dirty="0">
                <a:solidFill>
                  <a:srgbClr val="0F172A"/>
                </a:solidFill>
                <a:latin typeface="Calibri" pitchFamily="34" charset="0"/>
                <a:ea typeface="Calibri" pitchFamily="34" charset="-122"/>
                <a:cs typeface="Calibri" pitchFamily="34" charset="-120"/>
              </a:rPr>
              <a:t>Fetal lungs secrete 300–400 mL fluid/day. Total obstruction traps fluid under high hydrostatic pressure, overexpanding distal alveolar architecture.
</a:t>
            </a:r>
            <a:pPr indent="0" marL="0">
              <a:buNone/>
            </a:pPr>
            <a:r>
              <a:rPr lang="en-US" sz="1050" b="1" dirty="0">
                <a:solidFill>
                  <a:srgbClr val="0A192F"/>
                </a:solidFill>
                <a:latin typeface="Calibri" pitchFamily="34" charset="0"/>
                <a:ea typeface="Calibri" pitchFamily="34" charset="-122"/>
                <a:cs typeface="Calibri" pitchFamily="34" charset="-120"/>
              </a:rPr>
              <a:t>Associations: </a:t>
            </a:r>
            <a:pPr indent="0" marL="0">
              <a:buNone/>
            </a:pPr>
            <a:r>
              <a:rPr lang="en-US" sz="1050" dirty="0">
                <a:solidFill>
                  <a:srgbClr val="0F172A"/>
                </a:solidFill>
                <a:latin typeface="Calibri" pitchFamily="34" charset="0"/>
                <a:ea typeface="Calibri" pitchFamily="34" charset="-122"/>
                <a:cs typeface="Calibri" pitchFamily="34" charset="-120"/>
              </a:rPr>
              <a:t>Fraser syndrome (cryptophthalmos, syndactyly, renal agenesis; FREM1/FRAS1 mutations); laryngeal web/cartilage dysgenesis.
</a:t>
            </a:r>
            <a:pPr indent="0" marL="0">
              <a:buNone/>
            </a:pPr>
            <a:r>
              <a:rPr lang="en-US" sz="1050" b="1" dirty="0">
                <a:solidFill>
                  <a:srgbClr val="0A192F"/>
                </a:solidFill>
                <a:latin typeface="Calibri" pitchFamily="34" charset="0"/>
                <a:ea typeface="Calibri" pitchFamily="34" charset="-122"/>
                <a:cs typeface="Calibri" pitchFamily="34" charset="-120"/>
              </a:rPr>
              <a:t>Imaging Hallmarks: </a:t>
            </a:r>
            <a:pPr indent="0" marL="0">
              <a:buNone/>
            </a:pPr>
            <a:r>
              <a:rPr lang="en-US" sz="1050" dirty="0">
                <a:solidFill>
                  <a:srgbClr val="0F172A"/>
                </a:solidFill>
                <a:latin typeface="Calibri" pitchFamily="34" charset="0"/>
                <a:ea typeface="Calibri" pitchFamily="34" charset="-122"/>
                <a:cs typeface="Calibri" pitchFamily="34" charset="-120"/>
              </a:rPr>
              <a:t>Symmetrically massive, diffusely HYPERECHOIC lungs; flattened/inverted diaphragmatic domes; small compressed midline heart; ascites/hydrops; fluid-distended trachea.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NORMAL STOMACH BUBBLE TRAP: A normal stomach bubble on prenatal ultrasound DOES NOT rule out Esophageal Atresia! In Gross Type C (86% of cases), air and swallowed fluid cross from the trachea through the distal fistula into the stomach. Always search for the upper cervical pouch on MRI.</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Bradshaw CJ, et al. Ultrasound Obstet Gynecol 2016;47(6):687–693; Roybal JL, et al. J Pediatr Surg 2010;45(6):1301–1305.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MIDGUT MORPHOGENESIS • WEEKS 6–12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The 270° Counterclockwise Ballet: Midgut Rotation, Ladd Bands &amp; Volvulus</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Why can an infant who nursed normally for 3 weeks suddenly present with bilious emesis and progress to total bowel necrosis within 6 hours? Trace the 270° rotational journey and why the lateral fluoroscopic view is legally mandatory.</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NORMAL 270° CCW ROTATION STAGES</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Arterial Axis: </a:t>
            </a:r>
            <a:pPr indent="0" marL="0">
              <a:buNone/>
            </a:pPr>
            <a:r>
              <a:rPr lang="en-US" sz="1050" dirty="0">
                <a:solidFill>
                  <a:srgbClr val="0F172A"/>
                </a:solidFill>
                <a:latin typeface="Calibri" pitchFamily="34" charset="0"/>
                <a:ea typeface="Calibri" pitchFamily="34" charset="-122"/>
                <a:cs typeface="Calibri" pitchFamily="34" charset="-120"/>
              </a:rPr>
              <a:t>Rotation occurs around the Superior Mesenteric Artery (SMA).
</a:t>
            </a:r>
            <a:pPr indent="0" marL="0">
              <a:buNone/>
            </a:pPr>
            <a:r>
              <a:rPr lang="en-US" sz="1050" b="1" dirty="0">
                <a:solidFill>
                  <a:srgbClr val="0A192F"/>
                </a:solidFill>
                <a:latin typeface="Calibri" pitchFamily="34" charset="0"/>
                <a:ea typeface="Calibri" pitchFamily="34" charset="-122"/>
                <a:cs typeface="Calibri" pitchFamily="34" charset="-120"/>
              </a:rPr>
              <a:t>Stage 1 (Herniation, 6–10 wks GA): </a:t>
            </a:r>
            <a:pPr indent="0" marL="0">
              <a:buNone/>
            </a:pPr>
            <a:r>
              <a:rPr lang="en-US" sz="1050" dirty="0">
                <a:solidFill>
                  <a:srgbClr val="0F172A"/>
                </a:solidFill>
                <a:latin typeface="Calibri" pitchFamily="34" charset="0"/>
                <a:ea typeface="Calibri" pitchFamily="34" charset="-122"/>
                <a:cs typeface="Calibri" pitchFamily="34" charset="-120"/>
              </a:rPr>
              <a:t>Loops herniate into umbilical cord; 90° CCW rotation. Duodenojejunal (DJ) pre-arterial loop moves right; cecocolic post-arterial loop moves left.
</a:t>
            </a:r>
            <a:pPr indent="0" marL="0">
              <a:buNone/>
            </a:pPr>
            <a:r>
              <a:rPr lang="en-US" sz="1050" b="1" dirty="0">
                <a:solidFill>
                  <a:srgbClr val="0A192F"/>
                </a:solidFill>
                <a:latin typeface="Calibri" pitchFamily="34" charset="0"/>
                <a:ea typeface="Calibri" pitchFamily="34" charset="-122"/>
                <a:cs typeface="Calibri" pitchFamily="34" charset="-120"/>
              </a:rPr>
              <a:t>Stage 2 (Reduction, 10–12 wks GA): </a:t>
            </a:r>
            <a:pPr indent="0" marL="0">
              <a:buNone/>
            </a:pPr>
            <a:r>
              <a:rPr lang="en-US" sz="1050" dirty="0">
                <a:solidFill>
                  <a:srgbClr val="0F172A"/>
                </a:solidFill>
                <a:latin typeface="Calibri" pitchFamily="34" charset="0"/>
                <a:ea typeface="Calibri" pitchFamily="34" charset="-122"/>
                <a:cs typeface="Calibri" pitchFamily="34" charset="-120"/>
              </a:rPr>
              <a:t>Loops return to abdomen; additional 180° CCW rotation (total = 270°). DJ loop passes BEHIND SMA to Treitz (L1, left of spine). Cecum passes IN FRONT of SMA to RLQ.
</a:t>
            </a:r>
            <a:pPr indent="0" marL="0">
              <a:buNone/>
            </a:pPr>
            <a:r>
              <a:rPr lang="en-US" sz="1050" b="1" dirty="0">
                <a:solidFill>
                  <a:srgbClr val="0A192F"/>
                </a:solidFill>
                <a:latin typeface="Calibri" pitchFamily="34" charset="0"/>
                <a:ea typeface="Calibri" pitchFamily="34" charset="-122"/>
                <a:cs typeface="Calibri" pitchFamily="34" charset="-120"/>
              </a:rPr>
              <a:t>Stage 3 (Fixation, 12 wks–Term): </a:t>
            </a:r>
            <a:pPr indent="0" marL="0">
              <a:buNone/>
            </a:pPr>
            <a:r>
              <a:rPr lang="en-US" sz="1050" dirty="0">
                <a:solidFill>
                  <a:srgbClr val="0F172A"/>
                </a:solidFill>
                <a:latin typeface="Calibri" pitchFamily="34" charset="0"/>
                <a:ea typeface="Calibri" pitchFamily="34" charset="-122"/>
                <a:cs typeface="Calibri" pitchFamily="34" charset="-120"/>
              </a:rPr>
              <a:t>Mesenteric base broadens across 15–20 cm, fusing obliquely from LUQ (Treitz) to RLQ (cecum), anchoring gut against torsion.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B91C1C"/>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MALROTATION &amp; VOLVULUS PATHOLOGY</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Arrest at 90° (Non-rotation): </a:t>
            </a:r>
            <a:pPr indent="0" marL="0">
              <a:buNone/>
            </a:pPr>
            <a:r>
              <a:rPr lang="en-US" sz="1050" dirty="0">
                <a:solidFill>
                  <a:srgbClr val="0F172A"/>
                </a:solidFill>
                <a:latin typeface="Calibri" pitchFamily="34" charset="0"/>
                <a:ea typeface="Calibri" pitchFamily="34" charset="-122"/>
                <a:cs typeface="Calibri" pitchFamily="34" charset="-120"/>
              </a:rPr>
              <a:t>Small bowel remains on right, colon on left. Mesentery broad; volvulus risk low.
</a:t>
            </a:r>
            <a:pPr indent="0" marL="0">
              <a:buNone/>
            </a:pPr>
            <a:r>
              <a:rPr lang="en-US" sz="1050" b="1" dirty="0">
                <a:solidFill>
                  <a:srgbClr val="0A192F"/>
                </a:solidFill>
                <a:latin typeface="Calibri" pitchFamily="34" charset="0"/>
                <a:ea typeface="Calibri" pitchFamily="34" charset="-122"/>
                <a:cs typeface="Calibri" pitchFamily="34" charset="-120"/>
              </a:rPr>
              <a:t>Arrest at 180° (Incomplete): </a:t>
            </a:r>
            <a:pPr indent="0" marL="0">
              <a:buNone/>
            </a:pPr>
            <a:r>
              <a:rPr lang="en-US" sz="1050" dirty="0">
                <a:solidFill>
                  <a:srgbClr val="0F172A"/>
                </a:solidFill>
                <a:latin typeface="Calibri" pitchFamily="34" charset="0"/>
                <a:ea typeface="Calibri" pitchFamily="34" charset="-122"/>
                <a:cs typeface="Calibri" pitchFamily="34" charset="-120"/>
              </a:rPr>
              <a:t>Cecum arrested in subhepatic space/midline. Peritoneal Ladd bands cross 2nd/3rd duodenum to right lateral wall, causing extrinsic duodenal obstruction.
</a:t>
            </a:r>
            <a:pPr indent="0" marL="0">
              <a:buNone/>
            </a:pPr>
            <a:r>
              <a:rPr lang="en-US" sz="1050" b="1" dirty="0">
                <a:solidFill>
                  <a:srgbClr val="0A192F"/>
                </a:solidFill>
                <a:latin typeface="Calibri" pitchFamily="34" charset="0"/>
                <a:ea typeface="Calibri" pitchFamily="34" charset="-122"/>
                <a:cs typeface="Calibri" pitchFamily="34" charset="-120"/>
              </a:rPr>
              <a:t>Midgut Volvulus: </a:t>
            </a:r>
            <a:pPr indent="0" marL="0">
              <a:buNone/>
            </a:pPr>
            <a:r>
              <a:rPr lang="en-US" sz="1050" dirty="0">
                <a:solidFill>
                  <a:srgbClr val="0F172A"/>
                </a:solidFill>
                <a:latin typeface="Calibri" pitchFamily="34" charset="0"/>
                <a:ea typeface="Calibri" pitchFamily="34" charset="-122"/>
                <a:cs typeface="Calibri" pitchFamily="34" charset="-120"/>
              </a:rPr>
              <a:t>Narrow, pedicled mesenteric root twists CLOCKWISE around the SMA/SMV vascular pedicle -&gt; mesenteric venous thrombosis, arterial occlusion, and total midgut gangrene (D3 to mid-transverse colon).
</a:t>
            </a:r>
            <a:pPr indent="0" marL="0">
              <a:buNone/>
            </a:pPr>
            <a:r>
              <a:rPr lang="en-US" sz="1050" b="1" dirty="0">
                <a:solidFill>
                  <a:srgbClr val="0A192F"/>
                </a:solidFill>
                <a:latin typeface="Calibri" pitchFamily="34" charset="0"/>
                <a:ea typeface="Calibri" pitchFamily="34" charset="-122"/>
                <a:cs typeface="Calibri" pitchFamily="34" charset="-120"/>
              </a:rPr>
              <a:t>Ultrasound Signs: </a:t>
            </a:r>
            <a:pPr indent="0" marL="0">
              <a:buNone/>
            </a:pPr>
            <a:r>
              <a:rPr lang="en-US" sz="1050" dirty="0">
                <a:solidFill>
                  <a:srgbClr val="0F172A"/>
                </a:solidFill>
                <a:latin typeface="Calibri" pitchFamily="34" charset="0"/>
                <a:ea typeface="Calibri" pitchFamily="34" charset="-122"/>
                <a:cs typeface="Calibri" pitchFamily="34" charset="-120"/>
              </a:rPr>
              <a:t>'Whirlpool sign' (clockwise swirl of SMV/mesentery around SMA); reversed SMA/SMV relationship (SMV to left of SMA).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DOPPLER PITFALL &amp; LATERAL FLUOROSCOPY MANDATE: Up to 15–20% of surgically confirmed malrotations have a completely NORMAL SMA/SMV relationship on Doppler! Normal US does NOT rule out malrotation in an infant with bilious vomiting. Upper GI fluoroscopy is mandatory: the DJ loop MUST cross the midline AND dive posteriorly into the retroperitoneum on the true lateral view.</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Applegate KE. Pediatr Radiol 2009;39(Suppl 2):S161–S166; Pracros JP, et al. Pediatr Radiol 1992;22(1):18–20.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INTESTINAL CANALIZATION • WEEKS 7–8 VS. LATE FETAL</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Intestinal Atresia Paradox: Duodenal Recanalization vs. Vascular Accident</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Both cause fetal bowel dilatation and polyhydramnios on prenatal imaging. Why does the proximal obstruction point directly to a chromosomal karyotype, while the distal obstruction represents a preventable intrauterine vascular accident?</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0F766E"/>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DUODENAL ATRESIA (TANDLER'S ARREST)</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7–8 embryonic (CS 18–20). Endodermal hyperplasia occludes duodenal lumen ('solid cord'). Apoptotic vacuolation fails to recanalize lumen by week 10.
</a:t>
            </a:r>
            <a:pPr indent="0" marL="0">
              <a:buNone/>
            </a:pPr>
            <a:r>
              <a:rPr lang="en-US" sz="1050" b="1" dirty="0">
                <a:solidFill>
                  <a:srgbClr val="0A192F"/>
                </a:solidFill>
                <a:latin typeface="Calibri" pitchFamily="34" charset="0"/>
                <a:ea typeface="Calibri" pitchFamily="34" charset="-122"/>
                <a:cs typeface="Calibri" pitchFamily="34" charset="-120"/>
              </a:rPr>
              <a:t>Anatomy: </a:t>
            </a:r>
            <a:pPr indent="0" marL="0">
              <a:buNone/>
            </a:pPr>
            <a:r>
              <a:rPr lang="en-US" sz="1050" dirty="0">
                <a:solidFill>
                  <a:srgbClr val="0F172A"/>
                </a:solidFill>
                <a:latin typeface="Calibri" pitchFamily="34" charset="0"/>
                <a:ea typeface="Calibri" pitchFamily="34" charset="-122"/>
                <a:cs typeface="Calibri" pitchFamily="34" charset="-120"/>
              </a:rPr>
              <a:t>80% infra-ampullary (bilious vomiting); 20% supra-ampullary. 20% have a bifid common bile duct draining to both sides of the atresia.
</a:t>
            </a:r>
            <a:pPr indent="0" marL="0">
              <a:buNone/>
            </a:pPr>
            <a:r>
              <a:rPr lang="en-US" sz="1050" b="1" dirty="0">
                <a:solidFill>
                  <a:srgbClr val="0A192F"/>
                </a:solidFill>
                <a:latin typeface="Calibri" pitchFamily="34" charset="0"/>
                <a:ea typeface="Calibri" pitchFamily="34" charset="-122"/>
                <a:cs typeface="Calibri" pitchFamily="34" charset="-120"/>
              </a:rPr>
              <a:t>Genetics (50–60%): </a:t>
            </a:r>
            <a:pPr indent="0" marL="0">
              <a:buNone/>
            </a:pPr>
            <a:r>
              <a:rPr lang="en-US" sz="1050" dirty="0">
                <a:solidFill>
                  <a:srgbClr val="0F172A"/>
                </a:solidFill>
                <a:latin typeface="Calibri" pitchFamily="34" charset="0"/>
                <a:ea typeface="Calibri" pitchFamily="34" charset="-122"/>
                <a:cs typeface="Calibri" pitchFamily="34" charset="-120"/>
              </a:rPr>
              <a:t>Trisomy 21 in 30–40%; annular pancreas (shared developmental arrest of ventral/dorsal buds); congenital heart disease (AV canal, VSD).
</a:t>
            </a:r>
            <a:pPr indent="0" marL="0">
              <a:buNone/>
            </a:pPr>
            <a:r>
              <a:rPr lang="en-US" sz="1050" b="1" dirty="0">
                <a:solidFill>
                  <a:srgbClr val="0A192F"/>
                </a:solidFill>
                <a:latin typeface="Calibri" pitchFamily="34" charset="0"/>
                <a:ea typeface="Calibri" pitchFamily="34" charset="-122"/>
                <a:cs typeface="Calibri" pitchFamily="34" charset="-120"/>
              </a:rPr>
              <a:t>Imaging Hallmark: </a:t>
            </a:r>
            <a:pPr indent="0" marL="0">
              <a:buNone/>
            </a:pPr>
            <a:r>
              <a:rPr lang="en-US" sz="1050" dirty="0">
                <a:solidFill>
                  <a:srgbClr val="0F172A"/>
                </a:solidFill>
                <a:latin typeface="Calibri" pitchFamily="34" charset="0"/>
                <a:ea typeface="Calibri" pitchFamily="34" charset="-122"/>
                <a:cs typeface="Calibri" pitchFamily="34" charset="-120"/>
              </a:rPr>
              <a:t>'Double Bubble' sign (fluid/gas distended stomach + duodenal bulb) with an AIRLESS distal abdomen. Polyhydramnios in &gt;90%.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9A3412"/>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JEJUNOILEAL ATRESIA (LOUW &amp; BARNARD)</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Late 2nd or 3rd trimester (weeks 14–28 GA). NOT a recanalization defect! Late intrauterine mesenteric vascular catastrophe destroying already-formed gut.
</a:t>
            </a:r>
            <a:pPr indent="0" marL="0">
              <a:buNone/>
            </a:pPr>
            <a:r>
              <a:rPr lang="en-US" sz="1050" b="1" dirty="0">
                <a:solidFill>
                  <a:srgbClr val="0A192F"/>
                </a:solidFill>
                <a:latin typeface="Calibri" pitchFamily="34" charset="0"/>
                <a:ea typeface="Calibri" pitchFamily="34" charset="-122"/>
                <a:cs typeface="Calibri" pitchFamily="34" charset="-120"/>
              </a:rPr>
              <a:t>Etiologies: </a:t>
            </a:r>
            <a:pPr indent="0" marL="0">
              <a:buNone/>
            </a:pPr>
            <a:r>
              <a:rPr lang="en-US" sz="1050" dirty="0">
                <a:solidFill>
                  <a:srgbClr val="0F172A"/>
                </a:solidFill>
                <a:latin typeface="Calibri" pitchFamily="34" charset="0"/>
                <a:ea typeface="Calibri" pitchFamily="34" charset="-122"/>
                <a:cs typeface="Calibri" pitchFamily="34" charset="-120"/>
              </a:rPr>
              <a:t>Segmental mesenteric thromboembolism, in-utero volvulus, intussusception, or strangulation in a tight umbilical ring / gastroschisis.
</a:t>
            </a:r>
            <a:pPr indent="0" marL="0">
              <a:buNone/>
            </a:pPr>
            <a:r>
              <a:rPr lang="en-US" sz="1050" b="1" dirty="0">
                <a:solidFill>
                  <a:srgbClr val="0A192F"/>
                </a:solidFill>
                <a:latin typeface="Calibri" pitchFamily="34" charset="0"/>
                <a:ea typeface="Calibri" pitchFamily="34" charset="-122"/>
                <a:cs typeface="Calibri" pitchFamily="34" charset="-120"/>
              </a:rPr>
              <a:t>Genetics (&lt;2%): </a:t>
            </a:r>
            <a:pPr indent="0" marL="0">
              <a:buNone/>
            </a:pPr>
            <a:r>
              <a:rPr lang="en-US" sz="1050" dirty="0">
                <a:solidFill>
                  <a:srgbClr val="0F172A"/>
                </a:solidFill>
                <a:latin typeface="Calibri" pitchFamily="34" charset="0"/>
                <a:ea typeface="Calibri" pitchFamily="34" charset="-122"/>
                <a:cs typeface="Calibri" pitchFamily="34" charset="-120"/>
              </a:rPr>
              <a:t>Normal chromosomes! Usually isolated. 10% associated with cystic fibrosis / meconium ileus. 'Apple-peel' atresia (Type IIIb) has SMA trunk occlusion.
</a:t>
            </a:r>
            <a:pPr indent="0" marL="0">
              <a:buNone/>
            </a:pPr>
            <a:r>
              <a:rPr lang="en-US" sz="1050" b="1" dirty="0">
                <a:solidFill>
                  <a:srgbClr val="0A192F"/>
                </a:solidFill>
                <a:latin typeface="Calibri" pitchFamily="34" charset="0"/>
                <a:ea typeface="Calibri" pitchFamily="34" charset="-122"/>
                <a:cs typeface="Calibri" pitchFamily="34" charset="-120"/>
              </a:rPr>
              <a:t>Imaging Hallmark: </a:t>
            </a:r>
            <a:pPr indent="0" marL="0">
              <a:buNone/>
            </a:pPr>
            <a:r>
              <a:rPr lang="en-US" sz="1050" dirty="0">
                <a:solidFill>
                  <a:srgbClr val="0F172A"/>
                </a:solidFill>
                <a:latin typeface="Calibri" pitchFamily="34" charset="0"/>
                <a:ea typeface="Calibri" pitchFamily="34" charset="-122"/>
                <a:cs typeface="Calibri" pitchFamily="34" charset="-120"/>
              </a:rPr>
              <a:t>Multiple dilated hyperperistaltic fluid loops (&gt;7 mm at 20 wks, &gt;15 mm term); Meconium peritonitis (punctate/linear calcifications, pseudocyst, ascites).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WINDSOCK WEB &amp; DISTAL GAS: A Type I duodenal web can balloon distally into D3/D4 under chronic peristalsis ('windsock deformity'), mimicking distal obstruction. In jejunoileal atresia, in utero perforation spills meconium, leaving peritoneal calcifications that can be seen even after the bowel reseals!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Louw JH, Barnard CN. Lancet 1955;269(6898):1065–1067; Brantberg A, et al. Ultrasound Obstet Gynecol 2002;20(5):439–446.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DISTAL BOWEL &amp; MOTILITY • WEEKS 5–12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Neonatal Distal Obstruction: Neural Crest Arrest vs. Exocrine Osmotic Failure</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newborn fails to pass meconium in the first 48 hours and develops abdominal distension. Contrast enema shows a small-caliber rectum or microcolon. How do neural crest migration, cystic fibrosis, and maternal diabetes differentiate these three surgical pathways?</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293B"/>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HIRSCHSPRUNG DISEASE (AGANGLIONOSIS)</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Failure of vagal NEURAL CREST CELLS to complete craniocaudal migration along gut between weeks 5 and 12 (RET proto-oncogene, EDNRB mutations).
</a:t>
            </a:r>
            <a:pPr indent="0" marL="0">
              <a:buNone/>
            </a:pPr>
            <a:r>
              <a:rPr lang="en-US" sz="1050" b="1" dirty="0">
                <a:solidFill>
                  <a:srgbClr val="0A192F"/>
                </a:solidFill>
                <a:latin typeface="Calibri" pitchFamily="34" charset="0"/>
                <a:ea typeface="Calibri" pitchFamily="34" charset="-122"/>
                <a:cs typeface="Calibri" pitchFamily="34" charset="-120"/>
              </a:rPr>
              <a:t>Pathology: </a:t>
            </a:r>
            <a:pPr indent="0" marL="0">
              <a:buNone/>
            </a:pPr>
            <a:r>
              <a:rPr lang="en-US" sz="1050" dirty="0">
                <a:solidFill>
                  <a:srgbClr val="0F172A"/>
                </a:solidFill>
                <a:latin typeface="Calibri" pitchFamily="34" charset="0"/>
                <a:ea typeface="Calibri" pitchFamily="34" charset="-122"/>
                <a:cs typeface="Calibri" pitchFamily="34" charset="-120"/>
              </a:rPr>
              <a:t>Total absence of ganglion cells in Meissner and Auerbach plexuses from internal anal sphincter proximally (80% rectosigmoid = short-segment). Aganglionic zone remains in continuous spasm.
</a:t>
            </a:r>
            <a:pPr indent="0" marL="0">
              <a:buNone/>
            </a:pPr>
            <a:r>
              <a:rPr lang="en-US" sz="1050" b="1" dirty="0">
                <a:solidFill>
                  <a:srgbClr val="0A192F"/>
                </a:solidFill>
                <a:latin typeface="Calibri" pitchFamily="34" charset="0"/>
                <a:ea typeface="Calibri" pitchFamily="34" charset="-122"/>
                <a:cs typeface="Calibri" pitchFamily="34" charset="-120"/>
              </a:rPr>
              <a:t>Contrast Enema: </a:t>
            </a:r>
            <a:pPr indent="0" marL="0">
              <a:buNone/>
            </a:pPr>
            <a:r>
              <a:rPr lang="en-US" sz="1050" dirty="0">
                <a:solidFill>
                  <a:srgbClr val="0F172A"/>
                </a:solidFill>
                <a:latin typeface="Calibri" pitchFamily="34" charset="0"/>
                <a:ea typeface="Calibri" pitchFamily="34" charset="-122"/>
                <a:cs typeface="Calibri" pitchFamily="34" charset="-120"/>
              </a:rPr>
              <a:t>Rectosigmoid Ratio Reversal: Normal rectum is wider than sigmoid (R/S &gt; 1.0); in Hirschsprung R/S &lt; 1.0. Transition zone: Cone-shaped transition to dilated colon with saw-tooth contractions. 24-hr delay: Barium retention.
</a:t>
            </a:r>
            <a:pPr indent="0" marL="0">
              <a:buNone/>
            </a:pPr>
            <a:r>
              <a:rPr lang="en-US" sz="1050" b="1" dirty="0">
                <a:solidFill>
                  <a:srgbClr val="0A192F"/>
                </a:solidFill>
                <a:latin typeface="Calibri" pitchFamily="34" charset="0"/>
                <a:ea typeface="Calibri" pitchFamily="34" charset="-122"/>
                <a:cs typeface="Calibri" pitchFamily="34" charset="-120"/>
              </a:rPr>
              <a:t>Gold Standard: </a:t>
            </a:r>
            <a:pPr indent="0" marL="0">
              <a:buNone/>
            </a:pPr>
            <a:r>
              <a:rPr lang="en-US" sz="1050" dirty="0">
                <a:solidFill>
                  <a:srgbClr val="0F172A"/>
                </a:solidFill>
                <a:latin typeface="Calibri" pitchFamily="34" charset="0"/>
                <a:ea typeface="Calibri" pitchFamily="34" charset="-122"/>
                <a:cs typeface="Calibri" pitchFamily="34" charset="-120"/>
              </a:rPr>
              <a:t>Rectal suction biopsy (demonstrates absence of ganglion cells and hypertrophied acetylcholinesterase-positive nerve trunks).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65F46"/>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MECONIUM ILEUS (CYSTIC FIBROSIS)</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Biallelic mutations in CFTR gene (7q31.2). Defective chloride and water transport across exocrine epithelial glands.
</a:t>
            </a:r>
            <a:pPr indent="0" marL="0">
              <a:buNone/>
            </a:pPr>
            <a:r>
              <a:rPr lang="en-US" sz="1050" b="1" dirty="0">
                <a:solidFill>
                  <a:srgbClr val="0A192F"/>
                </a:solidFill>
                <a:latin typeface="Calibri" pitchFamily="34" charset="0"/>
                <a:ea typeface="Calibri" pitchFamily="34" charset="-122"/>
                <a:cs typeface="Calibri" pitchFamily="34" charset="-120"/>
              </a:rPr>
              <a:t>Pathology: </a:t>
            </a:r>
            <a:pPr indent="0" marL="0">
              <a:buNone/>
            </a:pPr>
            <a:r>
              <a:rPr lang="en-US" sz="1050" dirty="0">
                <a:solidFill>
                  <a:srgbClr val="0F172A"/>
                </a:solidFill>
                <a:latin typeface="Calibri" pitchFamily="34" charset="0"/>
                <a:ea typeface="Calibri" pitchFamily="34" charset="-122"/>
                <a:cs typeface="Calibri" pitchFamily="34" charset="-120"/>
              </a:rPr>
              <a:t>Tenacious, tar-like, dehydrated meconium obstructs the terminal ileum. Because no succus entericus reaches the colon, the colon remains diminutive (MICROCOLON).
</a:t>
            </a:r>
            <a:pPr indent="0" marL="0">
              <a:buNone/>
            </a:pPr>
            <a:r>
              <a:rPr lang="en-US" sz="1050" b="1" dirty="0">
                <a:solidFill>
                  <a:srgbClr val="0A192F"/>
                </a:solidFill>
                <a:latin typeface="Calibri" pitchFamily="34" charset="0"/>
                <a:ea typeface="Calibri" pitchFamily="34" charset="-122"/>
                <a:cs typeface="Calibri" pitchFamily="34" charset="-120"/>
              </a:rPr>
              <a:t>Contrast Enema: </a:t>
            </a:r>
            <a:pPr indent="0" marL="0">
              <a:buNone/>
            </a:pPr>
            <a:r>
              <a:rPr lang="en-US" sz="1050" dirty="0">
                <a:solidFill>
                  <a:srgbClr val="0F172A"/>
                </a:solidFill>
                <a:latin typeface="Calibri" pitchFamily="34" charset="0"/>
                <a:ea typeface="Calibri" pitchFamily="34" charset="-122"/>
                <a:cs typeface="Calibri" pitchFamily="34" charset="-120"/>
              </a:rPr>
              <a:t>Microcolon ('String Sign'): Diffusely small-caliber colon throughout. Multiple round, radiolucent filling defects (inspissated meconium pellets) in the terminal ileum. Diagnostic &amp; therapeutic (Gastrografin enema).
</a:t>
            </a:r>
            <a:pPr indent="0" marL="0">
              <a:buNone/>
            </a:pPr>
            <a:r>
              <a:rPr lang="en-US" sz="1050" b="1" dirty="0">
                <a:solidFill>
                  <a:srgbClr val="0A192F"/>
                </a:solidFill>
                <a:latin typeface="Calibri" pitchFamily="34" charset="0"/>
                <a:ea typeface="Calibri" pitchFamily="34" charset="-122"/>
                <a:cs typeface="Calibri" pitchFamily="34" charset="-120"/>
              </a:rPr>
              <a:t>Small Left Colon: </a:t>
            </a:r>
            <a:pPr indent="0" marL="0">
              <a:buNone/>
            </a:pPr>
            <a:r>
              <a:rPr lang="en-US" sz="1050" dirty="0">
                <a:solidFill>
                  <a:srgbClr val="0F172A"/>
                </a:solidFill>
                <a:latin typeface="Calibri" pitchFamily="34" charset="0"/>
                <a:ea typeface="Calibri" pitchFamily="34" charset="-122"/>
                <a:cs typeface="Calibri" pitchFamily="34" charset="-120"/>
              </a:rPr>
              <a:t>Look-alike in infants of diabetic mothers: abrupt caliber transition at SPLENIC FLEXURE; transient functional immaturity.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TOTAL COLONIC AGANGLIONOSIS TRAP: In 5–10% of Hirschsprung disease, aganglionosis involves the ENTIRE colon. On contrast enema, this mimics meconium ileus with a generalized microcolon and NO transition zone! Any newborn with a microcolon and normal CF genetics must undergo rectal suction biopsy to rule out total colonic aganglionosis.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Pratap A, et al. Pediatr Surg Int 2007;23(4):313–319; Buonomo C. Radiol Clin North Am 1996;34(4):815–823.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DIAPHRAGMATIC CLEAVAGE • WEEKS 4–10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Congenital Diaphragmatic Hernia: The Dual-Hit Hypothesis &amp; TOTAL Trial Matrix</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85% are left-sided and posterolateral. Why does the timing of pleuroperitoneal closure dictate not just a diaphragmatic defect, but lethal pulmonary hypoplasia and pulmonary hypertension that can be rescued by an in-utero balloon?</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BOCHDALEK HERNIA (POSTEROLATERAL 85%)</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Failure of pleuroperitoneal fold (PPF) mesenchyme to fuse with septum transversum before midgut returns at week 10. Left canal is larger and closes later than right; right is protected by liver.
</a:t>
            </a:r>
            <a:pPr indent="0" marL="0">
              <a:buNone/>
            </a:pPr>
            <a:r>
              <a:rPr lang="en-US" sz="1050" b="1" dirty="0">
                <a:solidFill>
                  <a:srgbClr val="0A192F"/>
                </a:solidFill>
                <a:latin typeface="Calibri" pitchFamily="34" charset="0"/>
                <a:ea typeface="Calibri" pitchFamily="34" charset="-122"/>
                <a:cs typeface="Calibri" pitchFamily="34" charset="-120"/>
              </a:rPr>
              <a:t>The Dual-Hit Hypothesis: </a:t>
            </a:r>
            <a:pPr indent="0" marL="0">
              <a:buNone/>
            </a:pPr>
            <a:r>
              <a:rPr lang="en-US" sz="1050" dirty="0">
                <a:solidFill>
                  <a:srgbClr val="0F172A"/>
                </a:solidFill>
                <a:latin typeface="Calibri" pitchFamily="34" charset="0"/>
                <a:ea typeface="Calibri" pitchFamily="34" charset="-122"/>
                <a:cs typeface="Calibri" pitchFamily="34" charset="-120"/>
              </a:rPr>
              <a:t>Herniation during pseudoglandular lung stage (wks 5–16) arrests bronchial branching. Concurrently, primary genetic mutations (GATA4, WT1) independently disrupt bilateral pulmonary arteriolar muscularization.
</a:t>
            </a:r>
            <a:pPr indent="0" marL="0">
              <a:buNone/>
            </a:pPr>
            <a:r>
              <a:rPr lang="en-US" sz="1050" b="1" dirty="0">
                <a:solidFill>
                  <a:srgbClr val="0A192F"/>
                </a:solidFill>
                <a:latin typeface="Calibri" pitchFamily="34" charset="0"/>
                <a:ea typeface="Calibri" pitchFamily="34" charset="-122"/>
                <a:cs typeface="Calibri" pitchFamily="34" charset="-120"/>
              </a:rPr>
              <a:t>Morgagni Defect: </a:t>
            </a:r>
            <a:pPr indent="0" marL="0">
              <a:buNone/>
            </a:pPr>
            <a:r>
              <a:rPr lang="en-US" sz="1050" dirty="0">
                <a:solidFill>
                  <a:srgbClr val="0F172A"/>
                </a:solidFill>
                <a:latin typeface="Calibri" pitchFamily="34" charset="0"/>
                <a:ea typeface="Calibri" pitchFamily="34" charset="-122"/>
                <a:cs typeface="Calibri" pitchFamily="34" charset="-120"/>
              </a:rPr>
              <a:t>Anterior retrosternal space of Larrey (90% right-sided); late failure of sternal/costal muscular slips; minimal pulmonary hypoplasia.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47857"/>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TOTAL TRIAL PROGNOSTIC MATRIX (NEJM 2021)</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Observed/Expected LHR: </a:t>
            </a:r>
            <a:pPr indent="0" marL="0">
              <a:buNone/>
            </a:pPr>
            <a:r>
              <a:rPr lang="en-US" sz="1050" dirty="0">
                <a:solidFill>
                  <a:srgbClr val="0F172A"/>
                </a:solidFill>
                <a:latin typeface="Calibri" pitchFamily="34" charset="0"/>
                <a:ea typeface="Calibri" pitchFamily="34" charset="-122"/>
                <a:cs typeface="Calibri" pitchFamily="34" charset="-120"/>
              </a:rPr>
              <a:t>o/e LHR on 2D US (measured at 22–32 wks GA):
• Severe CDH: o/e LHR &lt;25% (Survival &lt;15–20% without FETO; ECMO &gt;80%)
• Moderate CDH: o/e LHR 25–34.9% (liver-up) or 25–44.9% (liver-down)
• Mild CDH: o/e LHR &gt;= 45% (Survival &gt;85%).
</a:t>
            </a:r>
            <a:pPr indent="0" marL="0">
              <a:buNone/>
            </a:pPr>
            <a:r>
              <a:rPr lang="en-US" sz="1050" b="1" dirty="0">
                <a:solidFill>
                  <a:srgbClr val="0A192F"/>
                </a:solidFill>
                <a:latin typeface="Calibri" pitchFamily="34" charset="0"/>
                <a:ea typeface="Calibri" pitchFamily="34" charset="-122"/>
                <a:cs typeface="Calibri" pitchFamily="34" charset="-120"/>
              </a:rPr>
              <a:t>Liver Position: </a:t>
            </a:r>
            <a:pPr indent="0" marL="0">
              <a:buNone/>
            </a:pPr>
            <a:r>
              <a:rPr lang="en-US" sz="1050" dirty="0">
                <a:solidFill>
                  <a:srgbClr val="0F172A"/>
                </a:solidFill>
                <a:latin typeface="Calibri" pitchFamily="34" charset="0"/>
                <a:ea typeface="Calibri" pitchFamily="34" charset="-122"/>
                <a:cs typeface="Calibri" pitchFamily="34" charset="-120"/>
              </a:rPr>
              <a:t>Herniation of left hepatic lobe into thorax ('Liver-Up') reduces survival by ~40% across all strata.
</a:t>
            </a:r>
            <a:pPr indent="0" marL="0">
              <a:buNone/>
            </a:pPr>
            <a:r>
              <a:rPr lang="en-US" sz="1050" b="1" dirty="0">
                <a:solidFill>
                  <a:srgbClr val="0A192F"/>
                </a:solidFill>
                <a:latin typeface="Calibri" pitchFamily="34" charset="0"/>
                <a:ea typeface="Calibri" pitchFamily="34" charset="-122"/>
                <a:cs typeface="Calibri" pitchFamily="34" charset="-120"/>
              </a:rPr>
              <a:t>Fetal MRI TFLV: </a:t>
            </a:r>
            <a:pPr indent="0" marL="0">
              <a:buNone/>
            </a:pPr>
            <a:r>
              <a:rPr lang="en-US" sz="1050" dirty="0">
                <a:solidFill>
                  <a:srgbClr val="0F172A"/>
                </a:solidFill>
                <a:latin typeface="Calibri" pitchFamily="34" charset="0"/>
                <a:ea typeface="Calibri" pitchFamily="34" charset="-122"/>
                <a:cs typeface="Calibri" pitchFamily="34" charset="-120"/>
              </a:rPr>
              <a:t>o/e Total Fetal Lung Volume (TFLV) &lt;25% predicts extreme pulmonary hypoplasia.
</a:t>
            </a:r>
            <a:pPr indent="0" marL="0">
              <a:buNone/>
            </a:pPr>
            <a:r>
              <a:rPr lang="en-US" sz="1050" b="1" dirty="0">
                <a:solidFill>
                  <a:srgbClr val="0A192F"/>
                </a:solidFill>
                <a:latin typeface="Calibri" pitchFamily="34" charset="0"/>
                <a:ea typeface="Calibri" pitchFamily="34" charset="-122"/>
                <a:cs typeface="Calibri" pitchFamily="34" charset="-120"/>
              </a:rPr>
              <a:t>Fetal Surgery (FETO): </a:t>
            </a:r>
            <a:pPr indent="0" marL="0">
              <a:buNone/>
            </a:pPr>
            <a:r>
              <a:rPr lang="en-US" sz="1050" dirty="0">
                <a:solidFill>
                  <a:srgbClr val="0F172A"/>
                </a:solidFill>
                <a:latin typeface="Calibri" pitchFamily="34" charset="0"/>
                <a:ea typeface="Calibri" pitchFamily="34" charset="-122"/>
                <a:cs typeface="Calibri" pitchFamily="34" charset="-120"/>
              </a:rPr>
              <a:t>Fetoscopic endoluminal tracheal occlusion at 27–29 wks traps lung fluid to accelerate alveolar growth, removed at 34 wks.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RIGHT-SIDED CDH MIMICKER: Right-sided CDH herniates liver and gallbladder, frequently misdiagnosed as CPAM Type III or bronchopulmonary sequestration on prenatal US. Interrogate the thoracic mass with Color Doppler: tracing portal venous branches or a fluid-filled gallbladder into the chest proves right CDH!</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Deprest JA, et al. N Engl J Med 2021;385(2):107–118 (TOTAL Trial); Hedrick HL, et al. RadioGraphics 2004;24(2):483–497.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ABDOMINAL CYSTIC MASSES • FOREGUT &amp; MIDGUT</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Pediatric Cystic RUQ Masses: The 'Gut Signature' vs. The Biliary Tree</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fluid-filled right upper quadrant cystic mass in an infant: Is it an enteric duplication prone to life-threatening bleeding, a choledochal cyst requiring cancer-prophylactic excision, or a benign lymphangioma? How does the 'gut signature' make the call?</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831843"/>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ENTERIC DUPLICATION CYST</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4–8. Incomplete vacuolation and recanalization of primitive gut lumen creating a parallel lumen, or split notochord syndrome (associated with vertebral segmentation anomalies).
</a:t>
            </a:r>
            <a:pPr indent="0" marL="0">
              <a:buNone/>
            </a:pPr>
            <a:r>
              <a:rPr lang="en-US" sz="1050" b="1" dirty="0">
                <a:solidFill>
                  <a:srgbClr val="0A192F"/>
                </a:solidFill>
                <a:latin typeface="Calibri" pitchFamily="34" charset="0"/>
                <a:ea typeface="Calibri" pitchFamily="34" charset="-122"/>
                <a:cs typeface="Calibri" pitchFamily="34" charset="-120"/>
              </a:rPr>
              <a:t>Obligate Criteria: </a:t>
            </a:r>
            <a:pPr indent="0" marL="0">
              <a:buNone/>
            </a:pPr>
            <a:r>
              <a:rPr lang="en-US" sz="1050" dirty="0">
                <a:solidFill>
                  <a:srgbClr val="0F172A"/>
                </a:solidFill>
                <a:latin typeface="Calibri" pitchFamily="34" charset="0"/>
                <a:ea typeface="Calibri" pitchFamily="34" charset="-122"/>
                <a:cs typeface="Calibri" pitchFamily="34" charset="-120"/>
              </a:rPr>
              <a:t>1. Intimately attached to / embedded in GI wall
2. Enclosed by a smooth muscularis propria coat
3. Lined by true GI mucosa (heterotopic gastric mucosa in 30–50% -&gt; ulceration and massive GI bleeding).
</a:t>
            </a:r>
            <a:pPr indent="0" marL="0">
              <a:buNone/>
            </a:pPr>
            <a:r>
              <a:rPr lang="en-US" sz="1050" b="1" dirty="0">
                <a:solidFill>
                  <a:srgbClr val="0A192F"/>
                </a:solidFill>
                <a:latin typeface="Calibri" pitchFamily="34" charset="0"/>
                <a:ea typeface="Calibri" pitchFamily="34" charset="-122"/>
                <a:cs typeface="Calibri" pitchFamily="34" charset="-120"/>
              </a:rPr>
              <a:t>The 'Gut Signature': </a:t>
            </a:r>
            <a:pPr indent="0" marL="0">
              <a:buNone/>
            </a:pPr>
            <a:r>
              <a:rPr lang="en-US" sz="1050" dirty="0">
                <a:solidFill>
                  <a:srgbClr val="0F172A"/>
                </a:solidFill>
                <a:latin typeface="Calibri" pitchFamily="34" charset="0"/>
                <a:ea typeface="Calibri" pitchFamily="34" charset="-122"/>
                <a:cs typeface="Calibri" pitchFamily="34" charset="-120"/>
              </a:rPr>
              <a:t>Double-Rim Sign on US: Inner hyperechoic mucosal-submucosal interface surrounded by outer hypoechoic muscularis propria rim (&gt;95% specificity). Real-time peristalsis.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369A1"/>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CHOLEDOCHAL CYST (TODANI SPECTRUM)</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Anomalous Pancreaticobiliary Ductal Junction (APBDJ). Pancreatic and bile ducts join &gt;15 mm outside duodenal wall, outside the sphincter of Oddi.
</a:t>
            </a:r>
            <a:pPr indent="0" marL="0">
              <a:buNone/>
            </a:pPr>
            <a:r>
              <a:rPr lang="en-US" sz="1050" b="1" dirty="0">
                <a:solidFill>
                  <a:srgbClr val="0A192F"/>
                </a:solidFill>
                <a:latin typeface="Calibri" pitchFamily="34" charset="0"/>
                <a:ea typeface="Calibri" pitchFamily="34" charset="-122"/>
                <a:cs typeface="Calibri" pitchFamily="34" charset="-120"/>
              </a:rPr>
              <a:t>Pathology: </a:t>
            </a:r>
            <a:pPr indent="0" marL="0">
              <a:buNone/>
            </a:pPr>
            <a:r>
              <a:rPr lang="en-US" sz="1050" dirty="0">
                <a:solidFill>
                  <a:srgbClr val="0F172A"/>
                </a:solidFill>
                <a:latin typeface="Calibri" pitchFamily="34" charset="0"/>
                <a:ea typeface="Calibri" pitchFamily="34" charset="-122"/>
                <a:cs typeface="Calibri" pitchFamily="34" charset="-120"/>
              </a:rPr>
              <a:t>Uncontrolled reflux of activated pancreatic enzymes into biliary tree causes chemical elastolysis, wall destruction, and cystic duct dilation. LACKS muscularis propria smooth muscle coat.
</a:t>
            </a:r>
            <a:pPr indent="0" marL="0">
              <a:buNone/>
            </a:pPr>
            <a:r>
              <a:rPr lang="en-US" sz="1050" b="1" dirty="0">
                <a:solidFill>
                  <a:srgbClr val="0A192F"/>
                </a:solidFill>
                <a:latin typeface="Calibri" pitchFamily="34" charset="0"/>
                <a:ea typeface="Calibri" pitchFamily="34" charset="-122"/>
                <a:cs typeface="Calibri" pitchFamily="34" charset="-120"/>
              </a:rPr>
              <a:t>Malignancy Risk: </a:t>
            </a:r>
            <a:pPr indent="0" marL="0">
              <a:buNone/>
            </a:pPr>
            <a:r>
              <a:rPr lang="en-US" sz="1050" dirty="0">
                <a:solidFill>
                  <a:srgbClr val="0F172A"/>
                </a:solidFill>
                <a:latin typeface="Calibri" pitchFamily="34" charset="0"/>
                <a:ea typeface="Calibri" pitchFamily="34" charset="-122"/>
                <a:cs typeface="Calibri" pitchFamily="34" charset="-120"/>
              </a:rPr>
              <a:t>20–30% risk of cholangiocarcinoma in adulthood if untreated; requires complete surgical resection with Roux-en-Y hepaticojejunostomy.
</a:t>
            </a:r>
            <a:pPr indent="0" marL="0">
              <a:buNone/>
            </a:pPr>
            <a:r>
              <a:rPr lang="en-US" sz="1050" b="1" dirty="0">
                <a:solidFill>
                  <a:srgbClr val="0A192F"/>
                </a:solidFill>
                <a:latin typeface="Calibri" pitchFamily="34" charset="0"/>
                <a:ea typeface="Calibri" pitchFamily="34" charset="-122"/>
                <a:cs typeface="Calibri" pitchFamily="34" charset="-120"/>
              </a:rPr>
              <a:t>Mesenteric Cyst: </a:t>
            </a:r>
            <a:pPr indent="0" marL="0">
              <a:buNone/>
            </a:pPr>
            <a:r>
              <a:rPr lang="en-US" sz="1050" dirty="0">
                <a:solidFill>
                  <a:srgbClr val="0F172A"/>
                </a:solidFill>
                <a:latin typeface="Calibri" pitchFamily="34" charset="0"/>
                <a:ea typeface="Calibri" pitchFamily="34" charset="-122"/>
                <a:cs typeface="Calibri" pitchFamily="34" charset="-120"/>
              </a:rPr>
              <a:t>Benign lymphatic sequestration; thin-walled, compressible, multilocular, devoid of muscle.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CYSTIC BILIARY ATRESIA VS. TODANI TYPE I: In a jaundiced neonate with a porta hepatis cyst, cystic biliary atresia mimics a Todani Type I cyst. Look for an absent or small, irregular, non-contractile gallbladder (&lt;1.5 cm) and the 'triangular cord sign' (&gt;4 mm echogenic fibrous cone anterior to portal bifurcation) to diagnose biliary atresia before the 60-day Kasai portoenterostomy deadline!</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Macpherson RI. RadioGraphics 1993;13(5):1063–1080; Todani T, et al. Am J Surg 1977;134(2):263–269.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CLOACAL CLEAVAGE • WEEKS 4–7 EMBRYONIC</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Anorectal Morphogenesis: The Krickenbeck Consensus, MNX1 &amp; The Sacral Trap</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newborn female has a single perineal opening, and another infant has chronic constipation and an abnormal sacrum. Why is aspirating a presacral mass in the latter an act of surgical disaster, and what genetic mutation links the sacrum to the anus?</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312E81"/>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CLOACAL CLEAVAGE &amp; KRICKENBECK (2005)</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Urorectal septum (Tourneux fold + Rathke folds) descends weeks 4–7 to fuse with cloacal membrane, cleaving cloaca into anterior Urogenital Sinus and posterior Anorectal Canal.
</a:t>
            </a:r>
            <a:pPr indent="0" marL="0">
              <a:buNone/>
            </a:pPr>
            <a:r>
              <a:rPr lang="en-US" sz="1050" b="1" dirty="0">
                <a:solidFill>
                  <a:srgbClr val="0A192F"/>
                </a:solidFill>
                <a:latin typeface="Calibri" pitchFamily="34" charset="0"/>
                <a:ea typeface="Calibri" pitchFamily="34" charset="-122"/>
                <a:cs typeface="Calibri" pitchFamily="34" charset="-120"/>
              </a:rPr>
              <a:t>Krickenbeck Classification: </a:t>
            </a:r>
            <a:pPr indent="0" marL="0">
              <a:buNone/>
            </a:pPr>
            <a:r>
              <a:rPr lang="en-US" sz="1050" dirty="0">
                <a:solidFill>
                  <a:srgbClr val="0F172A"/>
                </a:solidFill>
                <a:latin typeface="Calibri" pitchFamily="34" charset="0"/>
                <a:ea typeface="Calibri" pitchFamily="34" charset="-122"/>
                <a:cs typeface="Calibri" pitchFamily="34" charset="-120"/>
              </a:rPr>
              <a:t>Replaced obsolete Wingspread criteria. Categorized by specific fistulae: Perineal, Rectourethral (bulbar/prostatic), Rectovesical, Rectovestibular, Persistent Cloaca, ARM without fistula.
</a:t>
            </a:r>
            <a:pPr indent="0" marL="0">
              <a:buNone/>
            </a:pPr>
            <a:r>
              <a:rPr lang="en-US" sz="1050" b="1" dirty="0">
                <a:solidFill>
                  <a:srgbClr val="0A192F"/>
                </a:solidFill>
                <a:latin typeface="Calibri" pitchFamily="34" charset="0"/>
                <a:ea typeface="Calibri" pitchFamily="34" charset="-122"/>
                <a:cs typeface="Calibri" pitchFamily="34" charset="-120"/>
              </a:rPr>
              <a:t>Persistent Cloaca: </a:t>
            </a:r>
            <a:pPr indent="0" marL="0">
              <a:buNone/>
            </a:pPr>
            <a:r>
              <a:rPr lang="en-US" sz="1050" dirty="0">
                <a:solidFill>
                  <a:srgbClr val="0F172A"/>
                </a:solidFill>
                <a:latin typeface="Calibri" pitchFamily="34" charset="0"/>
                <a:ea typeface="Calibri" pitchFamily="34" charset="-122"/>
                <a:cs typeface="Calibri" pitchFamily="34" charset="-120"/>
              </a:rPr>
              <a:t>Complete failure of urorectal descent in females. Urethra, vagina, and rectum empty into a SINGLE common perineal channel. Fetal/neonatal MRI: Hydrocolpos + Enterolithiasis (calcified meconium).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881337"/>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CURRARINO SYNDROME / TRIAD</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&amp; Genetics: </a:t>
            </a:r>
            <a:pPr indent="0" marL="0">
              <a:buNone/>
            </a:pPr>
            <a:r>
              <a:rPr lang="en-US" sz="1050" dirty="0">
                <a:solidFill>
                  <a:srgbClr val="0F172A"/>
                </a:solidFill>
                <a:latin typeface="Calibri" pitchFamily="34" charset="0"/>
                <a:ea typeface="Calibri" pitchFamily="34" charset="-122"/>
                <a:cs typeface="Calibri" pitchFamily="34" charset="-120"/>
              </a:rPr>
              <a:t>Carnegie Stage 12 blastogenesis arrest. Autosomal dominant mutation / haploinsufficiency of MNX1 gene (formerly HLXB9) on chromosome 7q36.
</a:t>
            </a:r>
            <a:pPr indent="0" marL="0">
              <a:buNone/>
            </a:pPr>
            <a:r>
              <a:rPr lang="en-US" sz="1050" b="1" dirty="0">
                <a:solidFill>
                  <a:srgbClr val="0A192F"/>
                </a:solidFill>
                <a:latin typeface="Calibri" pitchFamily="34" charset="0"/>
                <a:ea typeface="Calibri" pitchFamily="34" charset="-122"/>
                <a:cs typeface="Calibri" pitchFamily="34" charset="-120"/>
              </a:rPr>
              <a:t>The Pathognomonic Triad: </a:t>
            </a:r>
            <a:pPr indent="0" marL="0">
              <a:buNone/>
            </a:pPr>
            <a:r>
              <a:rPr lang="en-US" sz="1050" dirty="0">
                <a:solidFill>
                  <a:srgbClr val="0F172A"/>
                </a:solidFill>
                <a:latin typeface="Calibri" pitchFamily="34" charset="0"/>
                <a:ea typeface="Calibri" pitchFamily="34" charset="-122"/>
                <a:cs typeface="Calibri" pitchFamily="34" charset="-120"/>
              </a:rPr>
              <a:t>1. Sacral anomaly (Scimitar sacrum / hemisacrum)
2. Anorectal malformation (anal stenosis, ectopia)
3. Presacral mass (anterior sacral meningocele in 60%, mature teratoma, or duplication cyst).
</a:t>
            </a:r>
            <a:pPr indent="0" marL="0">
              <a:buNone/>
            </a:pPr>
            <a:r>
              <a:rPr lang="en-US" sz="1050" b="1" dirty="0">
                <a:solidFill>
                  <a:srgbClr val="0A192F"/>
                </a:solidFill>
                <a:latin typeface="Calibri" pitchFamily="34" charset="0"/>
                <a:ea typeface="Calibri" pitchFamily="34" charset="-122"/>
                <a:cs typeface="Calibri" pitchFamily="34" charset="-120"/>
              </a:rPr>
              <a:t>Imaging Hallmarks: </a:t>
            </a:r>
            <a:pPr indent="0" marL="0">
              <a:buNone/>
            </a:pPr>
            <a:r>
              <a:rPr lang="en-US" sz="1050" dirty="0">
                <a:solidFill>
                  <a:srgbClr val="0F172A"/>
                </a:solidFill>
                <a:latin typeface="Calibri" pitchFamily="34" charset="0"/>
                <a:ea typeface="Calibri" pitchFamily="34" charset="-122"/>
                <a:cs typeface="Calibri" pitchFamily="34" charset="-120"/>
              </a:rPr>
              <a:t>Frontal pelvic X-ray shows 'Scimitar sacrum' (smooth, sickle-shaped sacral defect). Pelvic MRI confirms anterior meningocele communicating with spinal thecal sac; rules out tethered cord.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NEVER BIOPSY A PRESACRAL MASS IN CURRARINO SYNDROME: Unsuspecting radiologists or surgeons attempting needle biopsy or transrectal aspiration of a presacral mass in Currarino syndrome will puncture an ANTERIOR SACRAL MENINGOCELE, producing catastrophic bacterial meningitis, CSF fistulae, and death! Always inspect the sacrum on frontal films before touching a presacral mass.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Holschneider A, et al. J Pediatr Surg 2005;40(10):1522–1526; Currarino G, et al. Pediatr Radiol 1981;10(4):219–223; Lynch SA, et al. Am J Hum Genet 1995;56(6):1276–1281.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METANEPHRIC MIGRATION • WEEKS 5–9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Renal Ascent &amp; Fusion: The L3 IMA Roof vs. Crossed-Fused Ureteric Trajectories</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Metanephric kidneys begin in the sacral pelvis and end at T12. Why does a horseshoe kidney always stop climbing precisely at L3, while a crossed-fused ectopic kidney crosses the midline entirely?</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HORSESHOE KIDNEY (ARREST AT L3)</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4–6. Lower blastemal poles fuse across midline in true pelvis (95% lower pole, 5% upper pole) before ascent.
</a:t>
            </a:r>
            <a:pPr indent="0" marL="0">
              <a:buNone/>
            </a:pPr>
            <a:r>
              <a:rPr lang="en-US" sz="1050" b="1" dirty="0">
                <a:solidFill>
                  <a:srgbClr val="0A192F"/>
                </a:solidFill>
                <a:latin typeface="Calibri" pitchFamily="34" charset="0"/>
                <a:ea typeface="Calibri" pitchFamily="34" charset="-122"/>
                <a:cs typeface="Calibri" pitchFamily="34" charset="-120"/>
              </a:rPr>
              <a:t>The IMA Arrest: </a:t>
            </a:r>
            <a:pPr indent="0" marL="0">
              <a:buNone/>
            </a:pPr>
            <a:r>
              <a:rPr lang="en-US" sz="1050" dirty="0">
                <a:solidFill>
                  <a:srgbClr val="0F172A"/>
                </a:solidFill>
                <a:latin typeface="Calibri" pitchFamily="34" charset="0"/>
                <a:ea typeface="Calibri" pitchFamily="34" charset="-122"/>
                <a:cs typeface="Calibri" pitchFamily="34" charset="-120"/>
              </a:rPr>
              <a:t>As the fused parenchymal isthmus ascends, it encounters the Inferior Mesenteric Artery (IMA) originating from anterior aorta at L3. The IMA acts as a fixed roof, arresting ascent!
</a:t>
            </a:r>
            <a:pPr indent="0" marL="0">
              <a:buNone/>
            </a:pPr>
            <a:r>
              <a:rPr lang="en-US" sz="1050" b="1" dirty="0">
                <a:solidFill>
                  <a:srgbClr val="0A192F"/>
                </a:solidFill>
                <a:latin typeface="Calibri" pitchFamily="34" charset="0"/>
                <a:ea typeface="Calibri" pitchFamily="34" charset="-122"/>
                <a:cs typeface="Calibri" pitchFamily="34" charset="-120"/>
              </a:rPr>
              <a:t>Rotational Arrest: </a:t>
            </a:r>
            <a:pPr indent="0" marL="0">
              <a:buNone/>
            </a:pPr>
            <a:r>
              <a:rPr lang="en-US" sz="1050" dirty="0">
                <a:solidFill>
                  <a:srgbClr val="0F172A"/>
                </a:solidFill>
                <a:latin typeface="Calibri" pitchFamily="34" charset="0"/>
                <a:ea typeface="Calibri" pitchFamily="34" charset="-122"/>
                <a:cs typeface="Calibri" pitchFamily="34" charset="-120"/>
              </a:rPr>
              <a:t>Medial 90° rotation also halts: calyces point posteriorly; ureters drape anteriorly over the isthmus.
</a:t>
            </a:r>
            <a:pPr indent="0" marL="0">
              <a:buNone/>
            </a:pPr>
            <a:r>
              <a:rPr lang="en-US" sz="1050" b="1" dirty="0">
                <a:solidFill>
                  <a:srgbClr val="0A192F"/>
                </a:solidFill>
                <a:latin typeface="Calibri" pitchFamily="34" charset="0"/>
                <a:ea typeface="Calibri" pitchFamily="34" charset="-122"/>
                <a:cs typeface="Calibri" pitchFamily="34" charset="-120"/>
              </a:rPr>
              <a:t>Complications &amp; Cancer: </a:t>
            </a:r>
            <a:pPr indent="0" marL="0">
              <a:buNone/>
            </a:pPr>
            <a:r>
              <a:rPr lang="en-US" sz="1050" dirty="0">
                <a:solidFill>
                  <a:srgbClr val="0F172A"/>
                </a:solidFill>
                <a:latin typeface="Calibri" pitchFamily="34" charset="0"/>
                <a:ea typeface="Calibri" pitchFamily="34" charset="-122"/>
                <a:cs typeface="Calibri" pitchFamily="34" charset="-120"/>
              </a:rPr>
              <a:t>UPJ obstruction in 30% from aberrant lower-pole vessels. 6- to 8-fold increased incidence of Wilms tumor; increased carcinoid tumors of the isthmus; RCC and TCC from urinary stasis/calculi.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65F46"/>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CROSSED-FUSED RENAL ECTOPIA</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Abnormal lateral flexion of caudal trunk directs the ureteric bud across the midline, or the contralateral blastema is pulled across. 90% fuse with the orthotopic kidney (left-to-right crossing 3x more common).
</a:t>
            </a:r>
            <a:pPr indent="0" marL="0">
              <a:buNone/>
            </a:pPr>
            <a:r>
              <a:rPr lang="en-US" sz="1050" b="1" dirty="0">
                <a:solidFill>
                  <a:srgbClr val="0A192F"/>
                </a:solidFill>
                <a:latin typeface="Calibri" pitchFamily="34" charset="0"/>
                <a:ea typeface="Calibri" pitchFamily="34" charset="-122"/>
                <a:cs typeface="Calibri" pitchFamily="34" charset="-120"/>
              </a:rPr>
              <a:t>The Immutable Ureteric Law: </a:t>
            </a:r>
            <a:pPr indent="0" marL="0">
              <a:buNone/>
            </a:pPr>
            <a:r>
              <a:rPr lang="en-US" sz="1050" dirty="0">
                <a:solidFill>
                  <a:srgbClr val="0F172A"/>
                </a:solidFill>
                <a:latin typeface="Calibri" pitchFamily="34" charset="0"/>
                <a:ea typeface="Calibri" pitchFamily="34" charset="-122"/>
                <a:cs typeface="Calibri" pitchFamily="34" charset="-120"/>
              </a:rPr>
              <a:t>The ectopic kidney's ureter ALWAYS crosses back over the midline to insert into its embryologically correct ipsilateral bladder trigone!
</a:t>
            </a:r>
            <a:pPr indent="0" marL="0">
              <a:buNone/>
            </a:pPr>
            <a:r>
              <a:rPr lang="en-US" sz="1050" b="1" dirty="0">
                <a:solidFill>
                  <a:srgbClr val="0A192F"/>
                </a:solidFill>
                <a:latin typeface="Calibri" pitchFamily="34" charset="0"/>
                <a:ea typeface="Calibri" pitchFamily="34" charset="-122"/>
                <a:cs typeface="Calibri" pitchFamily="34" charset="-120"/>
              </a:rPr>
              <a:t>Vascular Supply: </a:t>
            </a:r>
            <a:pPr indent="0" marL="0">
              <a:buNone/>
            </a:pPr>
            <a:r>
              <a:rPr lang="en-US" sz="1050" dirty="0">
                <a:solidFill>
                  <a:srgbClr val="0F172A"/>
                </a:solidFill>
                <a:latin typeface="Calibri" pitchFamily="34" charset="0"/>
                <a:ea typeface="Calibri" pitchFamily="34" charset="-122"/>
                <a:cs typeface="Calibri" pitchFamily="34" charset="-120"/>
              </a:rPr>
              <a:t>Supplied by multiple aberrant low aortic and common iliac branches reflecting arrested ascent.
</a:t>
            </a:r>
            <a:pPr indent="0" marL="0">
              <a:buNone/>
            </a:pPr>
            <a:r>
              <a:rPr lang="en-US" sz="1050" b="1" dirty="0">
                <a:solidFill>
                  <a:srgbClr val="0A192F"/>
                </a:solidFill>
                <a:latin typeface="Calibri" pitchFamily="34" charset="0"/>
                <a:ea typeface="Calibri" pitchFamily="34" charset="-122"/>
                <a:cs typeface="Calibri" pitchFamily="34" charset="-120"/>
              </a:rPr>
              <a:t>Imaging: </a:t>
            </a:r>
            <a:pPr indent="0" marL="0">
              <a:buNone/>
            </a:pPr>
            <a:r>
              <a:rPr lang="en-US" sz="1050" dirty="0">
                <a:solidFill>
                  <a:srgbClr val="0F172A"/>
                </a:solidFill>
                <a:latin typeface="Calibri" pitchFamily="34" charset="0"/>
                <a:ea typeface="Calibri" pitchFamily="34" charset="-122"/>
                <a:cs typeface="Calibri" pitchFamily="34" charset="-120"/>
              </a:rPr>
              <a:t>Solitary enlarged, reniform mass containing two collecting systems; empty contralateral renal fossa.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RETROPERITONEAL ADENOPATHY MIMIC &amp; WILMS TUMOR RISK: The parenchymal isthmus of a horseshoe kidney crossing anterior to the aorta and IVC can mimic retroperitoneal lymphadenopathy or sarcoma on non-contrast CT. Verify parenchymal continuity with lower poles and identical contrast enhancement. Remember the 6x Wilms tumor risk in pediatric patients!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Glodny B, et al. Eur Urol 2008;54(4):812–824; Bauer SB. Campbell-Walsh Urology 10th ed. 2012:3115–3164.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RENAL AGENESIS VS. ECTOPIA • WEEKS 5–9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The Empty Renal Fossa: Embryological Adrenal Autonomy &amp; The Aortic Doppler Sweep</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You scan an empty renal bed in a neonate. The adrenal gland is present and elongated. Does this prove the kidney never formed, or is there a functional ectopic kidney hiding behind the bladder?</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0F172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EMBRYOLOGICAL ADRENAL INDEPENDENCE</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Dual Embryological Origins: </a:t>
            </a:r>
            <a:pPr indent="0" marL="0">
              <a:buNone/>
            </a:pPr>
            <a:r>
              <a:rPr lang="en-US" sz="1050" dirty="0">
                <a:solidFill>
                  <a:srgbClr val="0F172A"/>
                </a:solidFill>
                <a:latin typeface="Calibri" pitchFamily="34" charset="0"/>
                <a:ea typeface="Calibri" pitchFamily="34" charset="-122"/>
                <a:cs typeface="Calibri" pitchFamily="34" charset="-120"/>
              </a:rPr>
              <a:t>• Adrenal Cortex: Coelomic mesothelium (week 5).
• Adrenal Medulla: Ectodermal neural crest cells (week 7).
• Metanephric Kidney: Intermediate mesoderm induced by ureteric bud (week 5).
</a:t>
            </a:r>
            <a:pPr indent="0" marL="0">
              <a:buNone/>
            </a:pPr>
            <a:r>
              <a:rPr lang="en-US" sz="1050" b="1" dirty="0">
                <a:solidFill>
                  <a:srgbClr val="0A192F"/>
                </a:solidFill>
                <a:latin typeface="Calibri" pitchFamily="34" charset="0"/>
                <a:ea typeface="Calibri" pitchFamily="34" charset="-122"/>
                <a:cs typeface="Calibri" pitchFamily="34" charset="-120"/>
              </a:rPr>
              <a:t>The Autonomy Rule: </a:t>
            </a:r>
            <a:pPr indent="0" marL="0">
              <a:buNone/>
            </a:pPr>
            <a:r>
              <a:rPr lang="en-US" sz="1050" dirty="0">
                <a:solidFill>
                  <a:srgbClr val="0F172A"/>
                </a:solidFill>
                <a:latin typeface="Calibri" pitchFamily="34" charset="0"/>
                <a:ea typeface="Calibri" pitchFamily="34" charset="-122"/>
                <a:cs typeface="Calibri" pitchFamily="34" charset="-120"/>
              </a:rPr>
              <a:t>Adrenal organogenesis is COMPLETELY INDEPENDENT of renal development! Even in bilateral renal agenesis (Potter sequence), both adrenal glands are present and normal in size in their designated suprarenal beds.
</a:t>
            </a:r>
            <a:pPr indent="0" marL="0">
              <a:buNone/>
            </a:pPr>
            <a:r>
              <a:rPr lang="en-US" sz="1050" b="1" dirty="0">
                <a:solidFill>
                  <a:srgbClr val="0A192F"/>
                </a:solidFill>
                <a:latin typeface="Calibri" pitchFamily="34" charset="0"/>
                <a:ea typeface="Calibri" pitchFamily="34" charset="-122"/>
                <a:cs typeface="Calibri" pitchFamily="34" charset="-120"/>
              </a:rPr>
              <a:t>Mechanical Morphogenesis: </a:t>
            </a:r>
            <a:pPr indent="0" marL="0">
              <a:buNone/>
            </a:pPr>
            <a:r>
              <a:rPr lang="en-US" sz="1050" dirty="0">
                <a:solidFill>
                  <a:srgbClr val="0F172A"/>
                </a:solidFill>
                <a:latin typeface="Calibri" pitchFamily="34" charset="0"/>
                <a:ea typeface="Calibri" pitchFamily="34" charset="-122"/>
                <a:cs typeface="Calibri" pitchFamily="34" charset="-120"/>
              </a:rPr>
              <a:t>Normally, cranial mechanical pressure from the ascending kidney reaches the adrenal by week 9, molding it into an inverted 'V' or 'Y' shape.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284C7"/>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RADIOLOGICAL SIGNATURES &amp; DOPPLER PROTOCOL</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'Lying-Down Adrenal' Sign: </a:t>
            </a:r>
            <a:pPr indent="0" marL="0">
              <a:buNone/>
            </a:pPr>
            <a:r>
              <a:rPr lang="en-US" sz="1050" dirty="0">
                <a:solidFill>
                  <a:srgbClr val="0F172A"/>
                </a:solidFill>
                <a:latin typeface="Calibri" pitchFamily="34" charset="0"/>
                <a:ea typeface="Calibri" pitchFamily="34" charset="-122"/>
                <a:cs typeface="Calibri" pitchFamily="34" charset="-120"/>
              </a:rPr>
              <a:t>Without the upward molding pressure of the ascending kidney (in Renal Agenesis OR Pelvic Ectopia), the adrenal remains flat, discoid, and elongated parallel along the psoas muscle or diaphragmatic crus.
</a:t>
            </a:r>
            <a:pPr indent="0" marL="0">
              <a:buNone/>
            </a:pPr>
            <a:r>
              <a:rPr lang="en-US" sz="1050" b="1" dirty="0">
                <a:solidFill>
                  <a:srgbClr val="0A192F"/>
                </a:solidFill>
                <a:latin typeface="Calibri" pitchFamily="34" charset="0"/>
                <a:ea typeface="Calibri" pitchFamily="34" charset="-122"/>
                <a:cs typeface="Calibri" pitchFamily="34" charset="-120"/>
              </a:rPr>
              <a:t>Aortic Color Doppler Sweep: </a:t>
            </a:r>
            <a:pPr indent="0" marL="0">
              <a:buNone/>
            </a:pPr>
            <a:r>
              <a:rPr lang="en-US" sz="1050" dirty="0">
                <a:solidFill>
                  <a:srgbClr val="0F172A"/>
                </a:solidFill>
                <a:latin typeface="Calibri" pitchFamily="34" charset="0"/>
                <a:ea typeface="Calibri" pitchFamily="34" charset="-122"/>
                <a:cs typeface="Calibri" pitchFamily="34" charset="-120"/>
              </a:rPr>
              <a:t>• Renal Agenesis: Complete absence of the ipsilateral main renal artery branching from the abdominal aorta.
• Pelvic Ectopic Kidney: Main renal artery absent at T12–L1, but a low feeding artery arises from distal aorta or iliac vessels.
</a:t>
            </a:r>
            <a:pPr indent="0" marL="0">
              <a:buNone/>
            </a:pPr>
            <a:r>
              <a:rPr lang="en-US" sz="1050" b="1" dirty="0">
                <a:solidFill>
                  <a:srgbClr val="0A192F"/>
                </a:solidFill>
                <a:latin typeface="Calibri" pitchFamily="34" charset="0"/>
                <a:ea typeface="Calibri" pitchFamily="34" charset="-122"/>
                <a:cs typeface="Calibri" pitchFamily="34" charset="-120"/>
              </a:rPr>
              <a:t>Genital Co-Anomalies: </a:t>
            </a:r>
            <a:pPr indent="0" marL="0">
              <a:buNone/>
            </a:pPr>
            <a:r>
              <a:rPr lang="en-US" sz="1050" dirty="0">
                <a:solidFill>
                  <a:srgbClr val="0F172A"/>
                </a:solidFill>
                <a:latin typeface="Calibri" pitchFamily="34" charset="0"/>
                <a:ea typeface="Calibri" pitchFamily="34" charset="-122"/>
                <a:cs typeface="Calibri" pitchFamily="34" charset="-120"/>
              </a:rPr>
              <a:t>Unilateral renal agenesis is associated with ipsilateral genital anomalies in 50–70% of females (OHVIRA) and 15% of males (Zinner syndrome).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NEONATAL ADRENAL KIDNEY MIMIC: Neonatal adrenal glands are proportionally massive (1/3 the size of the kidney at birth, vs 1/30 in adults). Under ultrasound, the hypoechoic cortex and central echogenic medulla closely mimic a normal kidney! Inexperienced sonographers frequently mistake a flat 'lying-down' adrenal for a small kidney. Always verify renal pyramids and ureteric jets.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McGahan JP, Nyberg DA. J Clin Ultrasound 1989;17(6):429–434; Bronshtein M, et al. Ultrasound Obstet Gynecol 1995;6(2):107–111.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RENAL CYSTIC SPECTRUM • EARLY VS. COLLECTING SYSTEM</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Congenital Renal Cystic Disease: Early Blastemal Atresia vs. Ciliary Mechanotransduction</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Why does one neonate with cystic kidneys require zero surgery because the organ will spontaneously shrivel to nothing, while another requires imminent lung ventilation, dialysis, and liver transplantation?</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334155"/>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MCDK (EARLY BLASTEMAL DISRUPTION)</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Severe, early disruption at weeks 5–7 GA (CS 14–18). Ureteric bud fails to branch or suffers complete atresia at primitive pyeloureteral junction. Blastemal nephron induction aborts.
</a:t>
            </a:r>
            <a:pPr indent="0" marL="0">
              <a:buNone/>
            </a:pPr>
            <a:r>
              <a:rPr lang="en-US" sz="1050" b="1" dirty="0">
                <a:solidFill>
                  <a:srgbClr val="0A192F"/>
                </a:solidFill>
                <a:latin typeface="Calibri" pitchFamily="34" charset="0"/>
                <a:ea typeface="Calibri" pitchFamily="34" charset="-122"/>
                <a:cs typeface="Calibri" pitchFamily="34" charset="-120"/>
              </a:rPr>
              <a:t>Pathology: </a:t>
            </a:r>
            <a:pPr indent="0" marL="0">
              <a:buNone/>
            </a:pPr>
            <a:r>
              <a:rPr lang="en-US" sz="1050" dirty="0">
                <a:solidFill>
                  <a:srgbClr val="0F172A"/>
                </a:solidFill>
                <a:latin typeface="Calibri" pitchFamily="34" charset="0"/>
                <a:ea typeface="Calibri" pitchFamily="34" charset="-122"/>
                <a:cs typeface="Calibri" pitchFamily="34" charset="-120"/>
              </a:rPr>
              <a:t>Blind-ending collecting tubules balloon into non-communicating, grape-like cysts separated by fibrous stroma and metaplastic cartilage. ZERO functioning nephrons.
</a:t>
            </a:r>
            <a:pPr indent="0" marL="0">
              <a:buNone/>
            </a:pPr>
            <a:r>
              <a:rPr lang="en-US" sz="1050" b="1" dirty="0">
                <a:solidFill>
                  <a:srgbClr val="0A192F"/>
                </a:solidFill>
                <a:latin typeface="Calibri" pitchFamily="34" charset="0"/>
                <a:ea typeface="Calibri" pitchFamily="34" charset="-122"/>
                <a:cs typeface="Calibri" pitchFamily="34" charset="-120"/>
              </a:rPr>
              <a:t>Natural History: </a:t>
            </a:r>
            <a:pPr indent="0" marL="0">
              <a:buNone/>
            </a:pPr>
            <a:r>
              <a:rPr lang="en-US" sz="1050" dirty="0">
                <a:solidFill>
                  <a:srgbClr val="0F172A"/>
                </a:solidFill>
                <a:latin typeface="Calibri" pitchFamily="34" charset="0"/>
                <a:ea typeface="Calibri" pitchFamily="34" charset="-122"/>
                <a:cs typeface="Calibri" pitchFamily="34" charset="-120"/>
              </a:rPr>
              <a:t>Tc-99m DMSA scan: Completely photopenic (0% split function). Spontaneous involution occurs in 60% by age 5. Contralateral kidney has anomalies in 30–40% (VUR, UPJ).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166534"/>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ARPKD (CILIARY PKHD1 ECTASIA)</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&amp; Genetics: </a:t>
            </a:r>
            <a:pPr indent="0" marL="0">
              <a:buNone/>
            </a:pPr>
            <a:r>
              <a:rPr lang="en-US" sz="1050" dirty="0">
                <a:solidFill>
                  <a:srgbClr val="0F172A"/>
                </a:solidFill>
                <a:latin typeface="Calibri" pitchFamily="34" charset="0"/>
                <a:ea typeface="Calibri" pitchFamily="34" charset="-122"/>
                <a:cs typeface="Calibri" pitchFamily="34" charset="-120"/>
              </a:rPr>
              <a:t>Monogenic ciliopathy caused by biallelic mutations in PKHD1 (6p12.2) encoding fibrocystin/polyductin on primary cilia of collecting duct cells and cholangiocytes.
</a:t>
            </a:r>
            <a:pPr indent="0" marL="0">
              <a:buNone/>
            </a:pPr>
            <a:r>
              <a:rPr lang="en-US" sz="1050" b="1" dirty="0">
                <a:solidFill>
                  <a:srgbClr val="0A192F"/>
                </a:solidFill>
                <a:latin typeface="Calibri" pitchFamily="34" charset="0"/>
                <a:ea typeface="Calibri" pitchFamily="34" charset="-122"/>
                <a:cs typeface="Calibri" pitchFamily="34" charset="-120"/>
              </a:rPr>
              <a:t>Pathology: </a:t>
            </a:r>
            <a:pPr indent="0" marL="0">
              <a:buNone/>
            </a:pPr>
            <a:r>
              <a:rPr lang="en-US" sz="1050" dirty="0">
                <a:solidFill>
                  <a:srgbClr val="0F172A"/>
                </a:solidFill>
                <a:latin typeface="Calibri" pitchFamily="34" charset="0"/>
                <a:ea typeface="Calibri" pitchFamily="34" charset="-122"/>
                <a:cs typeface="Calibri" pitchFamily="34" charset="-120"/>
              </a:rPr>
              <a:t>Defective ciliary mechanotransduction -&gt; fusiform cylindrical ectasia of 100% OF COLLECTING DUCTS radiating from medulla to cortex. Ductal Plate Malformation -&gt; Congenital Hepatic Fibrosis (CHF) in 100%.
</a:t>
            </a:r>
            <a:pPr indent="0" marL="0">
              <a:buNone/>
            </a:pPr>
            <a:r>
              <a:rPr lang="en-US" sz="1050" b="1" dirty="0">
                <a:solidFill>
                  <a:srgbClr val="0A192F"/>
                </a:solidFill>
                <a:latin typeface="Calibri" pitchFamily="34" charset="0"/>
                <a:ea typeface="Calibri" pitchFamily="34" charset="-122"/>
                <a:cs typeface="Calibri" pitchFamily="34" charset="-120"/>
              </a:rPr>
              <a:t>Imaging Hallmark: </a:t>
            </a:r>
            <a:pPr indent="0" marL="0">
              <a:buNone/>
            </a:pPr>
            <a:r>
              <a:rPr lang="en-US" sz="1050" dirty="0">
                <a:solidFill>
                  <a:srgbClr val="0F172A"/>
                </a:solidFill>
                <a:latin typeface="Calibri" pitchFamily="34" charset="0"/>
                <a:ea typeface="Calibri" pitchFamily="34" charset="-122"/>
                <a:cs typeface="Calibri" pitchFamily="34" charset="-120"/>
              </a:rPr>
              <a:t>Bilateral, massively enlarged kidneys filling abdomen. Diffusely hyperechoic ('ground glass' / 'salt-and-pepper') with loss of CMD due to millions of microscopic tubule interfaces. Severe oligohydramnios.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MCDK VS. HYDRONEPHROSIS &amp; ADPKD PARENT SCAN: In severe UPJ hydronephrosis, dilated calyces COMMUNICATE with a central renal pelvis and a rim of functional cortex remains; in MCDK cysts do NOT communicate and function is 0%. When encountering bilateral enlarged echogenic fetal kidneys, SCAN THE PARENTS' KIDNEYS! Finding cysts in a parent confirms ADPKD, carrying a radically better prognosis than ARPKD.</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Avni EF, et al. Pediatr Radiol 1997;27(1):72–78; Guay-Woodford LM. Pediatr Radiol 2010;40(1):89–93.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URETERIC BUD SPROUTING • WEEKS 5–7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Duplex Collecting Systems: Wolffian Migration &amp; The Weigert-Meyer Rule</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When a kidney develops two ureters, why does the upper pole ALWAYS obstruct, while the lower pole ALWAYS refluxes? The developmental geometry of the Wolffian duct dictates this immutable law.</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DUAL URETERIC BUD MORPHOGENESIS</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Normal Sprouting: </a:t>
            </a:r>
            <a:pPr indent="0" marL="0">
              <a:buNone/>
            </a:pPr>
            <a:r>
              <a:rPr lang="en-US" sz="1050" dirty="0">
                <a:solidFill>
                  <a:srgbClr val="0F172A"/>
                </a:solidFill>
                <a:latin typeface="Calibri" pitchFamily="34" charset="0"/>
                <a:ea typeface="Calibri" pitchFamily="34" charset="-122"/>
                <a:cs typeface="Calibri" pitchFamily="34" charset="-120"/>
              </a:rPr>
              <a:t>Single ureteric bud arises from caudal mesonephric (Wolffian) duct at week 5 and invades metanephric blastema.
</a:t>
            </a:r>
            <a:pPr indent="0" marL="0">
              <a:buNone/>
            </a:pPr>
            <a:r>
              <a:rPr lang="en-US" sz="1050" b="1" dirty="0">
                <a:solidFill>
                  <a:srgbClr val="0A192F"/>
                </a:solidFill>
                <a:latin typeface="Calibri" pitchFamily="34" charset="0"/>
                <a:ea typeface="Calibri" pitchFamily="34" charset="-122"/>
                <a:cs typeface="Calibri" pitchFamily="34" charset="-120"/>
              </a:rPr>
              <a:t>Complete Duplication: </a:t>
            </a:r>
            <a:pPr indent="0" marL="0">
              <a:buNone/>
            </a:pPr>
            <a:r>
              <a:rPr lang="en-US" sz="1050" dirty="0">
                <a:solidFill>
                  <a:srgbClr val="0F172A"/>
                </a:solidFill>
                <a:latin typeface="Calibri" pitchFamily="34" charset="0"/>
                <a:ea typeface="Calibri" pitchFamily="34" charset="-122"/>
                <a:cs typeface="Calibri" pitchFamily="34" charset="-120"/>
              </a:rPr>
              <a:t>Two distinct ureteric buds sprout independently from the Wolffian duct:
1. Cranial bud (destined for future Lower Pole)
2. Caudal bud (destined for future Upper Pole).
</a:t>
            </a:r>
            <a:pPr indent="0" marL="0">
              <a:buNone/>
            </a:pPr>
            <a:r>
              <a:rPr lang="en-US" sz="1050" b="1" dirty="0">
                <a:solidFill>
                  <a:srgbClr val="0A192F"/>
                </a:solidFill>
                <a:latin typeface="Calibri" pitchFamily="34" charset="0"/>
                <a:ea typeface="Calibri" pitchFamily="34" charset="-122"/>
                <a:cs typeface="Calibri" pitchFamily="34" charset="-120"/>
              </a:rPr>
              <a:t>The Weigert-Meyer Law: </a:t>
            </a:r>
            <a:pPr indent="0" marL="0">
              <a:buNone/>
            </a:pPr>
            <a:r>
              <a:rPr lang="en-US" sz="1050" dirty="0">
                <a:solidFill>
                  <a:srgbClr val="0F172A"/>
                </a:solidFill>
                <a:latin typeface="Calibri" pitchFamily="34" charset="0"/>
                <a:ea typeface="Calibri" pitchFamily="34" charset="-122"/>
                <a:cs typeface="Calibri" pitchFamily="34" charset="-120"/>
              </a:rPr>
              <a:t>As the caudal Wolffian duct is absorbed into the expanding urogenital sinus (forming bladder trigone), the CRANIAL bud (Lower Pole) separates FIRST and is incorporated earlier, migrating cranially and laterally.
The CAUDAL bud (Upper Pole) stays attached to Wolffian duct longer, separates LATER, and is carried CAUDALLY AND MEDIALLY.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F766E"/>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CLINICAL &amp; IMAGING PHENOTYPE (MNEMONIC: DUMI)</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Upper Pole (DUMI: Duplex Upper Medial Inferior): </a:t>
            </a:r>
            <a:pPr indent="0" marL="0">
              <a:buNone/>
            </a:pPr>
            <a:r>
              <a:rPr lang="en-US" sz="1050" dirty="0">
                <a:solidFill>
                  <a:srgbClr val="0F172A"/>
                </a:solidFill>
                <a:latin typeface="Calibri" pitchFamily="34" charset="0"/>
                <a:ea typeface="Calibri" pitchFamily="34" charset="-122"/>
                <a:cs typeface="Calibri" pitchFamily="34" charset="-120"/>
              </a:rPr>
              <a:t>Inserts INFEROMEDIALLY, often ectopic (bladder neck, posterior urethra in males; urethra, vagina, vestibule in females). Prone to stenosis or an INTRAVESICAL URETEROCELE -&gt; Obstruction &amp; Hydronephrosis.
</a:t>
            </a:r>
            <a:pPr indent="0" marL="0">
              <a:buNone/>
            </a:pPr>
            <a:r>
              <a:rPr lang="en-US" sz="1050" b="1" dirty="0">
                <a:solidFill>
                  <a:srgbClr val="0A192F"/>
                </a:solidFill>
                <a:latin typeface="Calibri" pitchFamily="34" charset="0"/>
                <a:ea typeface="Calibri" pitchFamily="34" charset="-122"/>
                <a:cs typeface="Calibri" pitchFamily="34" charset="-120"/>
              </a:rPr>
              <a:t>Lower Pole: </a:t>
            </a:r>
            <a:pPr indent="0" marL="0">
              <a:buNone/>
            </a:pPr>
            <a:r>
              <a:rPr lang="en-US" sz="1050" dirty="0">
                <a:solidFill>
                  <a:srgbClr val="0F172A"/>
                </a:solidFill>
                <a:latin typeface="Calibri" pitchFamily="34" charset="0"/>
                <a:ea typeface="Calibri" pitchFamily="34" charset="-122"/>
                <a:cs typeface="Calibri" pitchFamily="34" charset="-120"/>
              </a:rPr>
              <a:t>Inserts SUPEROLATERALLY with a short, perpendicular submucosal tunnel -&gt; Incompetent flap valve -&gt; VESICOURETERAL REFLUX (VUR) &amp; pyelonephritis.
</a:t>
            </a:r>
            <a:pPr indent="0" marL="0">
              <a:buNone/>
            </a:pPr>
            <a:r>
              <a:rPr lang="en-US" sz="1050" b="1" dirty="0">
                <a:solidFill>
                  <a:srgbClr val="0A192F"/>
                </a:solidFill>
                <a:latin typeface="Calibri" pitchFamily="34" charset="0"/>
                <a:ea typeface="Calibri" pitchFamily="34" charset="-122"/>
                <a:cs typeface="Calibri" pitchFamily="34" charset="-120"/>
              </a:rPr>
              <a:t>'Drooping Lily' Sign: </a:t>
            </a:r>
            <a:pPr indent="0" marL="0">
              <a:buNone/>
            </a:pPr>
            <a:r>
              <a:rPr lang="en-US" sz="1050" dirty="0">
                <a:solidFill>
                  <a:srgbClr val="0F172A"/>
                </a:solidFill>
                <a:latin typeface="Calibri" pitchFamily="34" charset="0"/>
                <a:ea typeface="Calibri" pitchFamily="34" charset="-122"/>
                <a:cs typeface="Calibri" pitchFamily="34" charset="-120"/>
              </a:rPr>
              <a:t>On contrast fluoroscopy / coronal CT: Massively dilated, non-functioning upper pole moiety displaces functioning opacified lower pole calyces inferolaterally ('drooping flower').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ECTOPIC URETER INCONTINENCE IN FEMALES: In males, ectopic upper pole ureters ALWAYS insert ABOVE the external urethral sphincter (posterior urethra, seminal vesicles, vas) -&gt; present with obstruction/epididymitis, NEVER incontinence. In females, ectopic ureters can insert BELOW the external sphincter (distal urethra, vagina, vestibule) -&gt; presents with continuous non-stop dribbling incontinence despite normal voiding!</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Fernbach SK, Feinstein KA, Spencer K, Lebowitz RL. AJR Am J Roentgenol 1997;169(2):541–546; Chertin B, et al. J Urol 2003;170(4 Pt 2):1565–1569.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UMBILICAL STALK REMNANTS • WEEKS 5–9 VS. 3RD TRIMESTER</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The Weeping Umbilicus: Extra- vs. Intra-peritoneal Conduits &amp; The Silver Nitrate Disaster</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1-month-old infant has a continuously weeping umbilicus. Is the fluid coming from the urinary bladder or the terminal ileum? Why does an adult urachal mass present a lethal adenocarcinoma rather than urothelial carcinoma?</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0F172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URACHAL REMNANTS (ALLANTOIC CONDUIT)</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Allantoic canal connecting the dome of the primitive bladder (urogenital sinus) to the allantois at umbilicus. Normally obliterates by 3rd trimester into fibrous Median Umbilical Ligament.
</a:t>
            </a:r>
            <a:pPr indent="0" marL="0">
              <a:buNone/>
            </a:pPr>
            <a:r>
              <a:rPr lang="en-US" sz="1050" b="1" dirty="0">
                <a:solidFill>
                  <a:srgbClr val="0A192F"/>
                </a:solidFill>
                <a:latin typeface="Calibri" pitchFamily="34" charset="0"/>
                <a:ea typeface="Calibri" pitchFamily="34" charset="-122"/>
                <a:cs typeface="Calibri" pitchFamily="34" charset="-120"/>
              </a:rPr>
              <a:t>Anatomical Plane: </a:t>
            </a:r>
            <a:pPr indent="0" marL="0">
              <a:buNone/>
            </a:pPr>
            <a:r>
              <a:rPr lang="en-US" sz="1050" dirty="0">
                <a:solidFill>
                  <a:srgbClr val="0F172A"/>
                </a:solidFill>
                <a:latin typeface="Calibri" pitchFamily="34" charset="0"/>
                <a:ea typeface="Calibri" pitchFamily="34" charset="-122"/>
                <a:cs typeface="Calibri" pitchFamily="34" charset="-120"/>
              </a:rPr>
              <a:t>Strictly EXTRAPERITONEAL / PREPERITONEAL in the prevesical Retzius space, anterior to parietal peritoneum along the linea alba.
</a:t>
            </a:r>
            <a:pPr indent="0" marL="0">
              <a:buNone/>
            </a:pPr>
            <a:r>
              <a:rPr lang="en-US" sz="1050" b="1" dirty="0">
                <a:solidFill>
                  <a:srgbClr val="0A192F"/>
                </a:solidFill>
                <a:latin typeface="Calibri" pitchFamily="34" charset="0"/>
                <a:ea typeface="Calibri" pitchFamily="34" charset="-122"/>
                <a:cs typeface="Calibri" pitchFamily="34" charset="-120"/>
              </a:rPr>
              <a:t>Spectrum: </a:t>
            </a:r>
            <a:pPr indent="0" marL="0">
              <a:buNone/>
            </a:pPr>
            <a:r>
              <a:rPr lang="en-US" sz="1050" dirty="0">
                <a:solidFill>
                  <a:srgbClr val="0F172A"/>
                </a:solidFill>
                <a:latin typeface="Calibri" pitchFamily="34" charset="0"/>
                <a:ea typeface="Calibri" pitchFamily="34" charset="-122"/>
                <a:cs typeface="Calibri" pitchFamily="34" charset="-120"/>
              </a:rPr>
              <a:t>1. Patent Urachus (50%): Free urine discharge
2. Urachal Cyst (30%): Middle lumen patent
3. Urachal Sinus (15%): Umbilical end open
4. Vesicourachal Diverticulum (5%): Dome open.
</a:t>
            </a:r>
            <a:pPr indent="0" marL="0">
              <a:buNone/>
            </a:pPr>
            <a:r>
              <a:rPr lang="en-US" sz="1050" b="1" dirty="0">
                <a:solidFill>
                  <a:srgbClr val="0A192F"/>
                </a:solidFill>
                <a:latin typeface="Calibri" pitchFamily="34" charset="0"/>
                <a:ea typeface="Calibri" pitchFamily="34" charset="-122"/>
                <a:cs typeface="Calibri" pitchFamily="34" charset="-120"/>
              </a:rPr>
              <a:t>Histology Trap: </a:t>
            </a:r>
            <a:pPr indent="0" marL="0">
              <a:buNone/>
            </a:pPr>
            <a:r>
              <a:rPr lang="en-US" sz="1050" dirty="0">
                <a:solidFill>
                  <a:srgbClr val="0F172A"/>
                </a:solidFill>
                <a:latin typeface="Calibri" pitchFamily="34" charset="0"/>
                <a:ea typeface="Calibri" pitchFamily="34" charset="-122"/>
                <a:cs typeface="Calibri" pitchFamily="34" charset="-120"/>
              </a:rPr>
              <a:t>90% of urachal neoplasms are ADENOCARCINOMAS (not transitional cell), because cloacal endoderm undergoes enteric glandular metaplasia!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9A3412"/>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VITELLINE REMNANTS (YOLK STALK)</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Vitelline (omphalomesenteric) duct connecting primitive midgut to yolk sac. Normally obliterates completely by embryonic weeks 5–9.
</a:t>
            </a:r>
            <a:pPr indent="0" marL="0">
              <a:buNone/>
            </a:pPr>
            <a:r>
              <a:rPr lang="en-US" sz="1050" b="1" dirty="0">
                <a:solidFill>
                  <a:srgbClr val="0A192F"/>
                </a:solidFill>
                <a:latin typeface="Calibri" pitchFamily="34" charset="0"/>
                <a:ea typeface="Calibri" pitchFamily="34" charset="-122"/>
                <a:cs typeface="Calibri" pitchFamily="34" charset="-120"/>
              </a:rPr>
              <a:t>Anatomical Plane: </a:t>
            </a:r>
            <a:pPr indent="0" marL="0">
              <a:buNone/>
            </a:pPr>
            <a:r>
              <a:rPr lang="en-US" sz="1050" dirty="0">
                <a:solidFill>
                  <a:srgbClr val="0F172A"/>
                </a:solidFill>
                <a:latin typeface="Calibri" pitchFamily="34" charset="0"/>
                <a:ea typeface="Calibri" pitchFamily="34" charset="-122"/>
                <a:cs typeface="Calibri" pitchFamily="34" charset="-120"/>
              </a:rPr>
              <a:t>Strictly INTRAPERITONEAL, extending from antimesenteric border of terminal ileum to umbilicus.
</a:t>
            </a:r>
            <a:pPr indent="0" marL="0">
              <a:buNone/>
            </a:pPr>
            <a:r>
              <a:rPr lang="en-US" sz="1050" b="1" dirty="0">
                <a:solidFill>
                  <a:srgbClr val="0A192F"/>
                </a:solidFill>
                <a:latin typeface="Calibri" pitchFamily="34" charset="0"/>
                <a:ea typeface="Calibri" pitchFamily="34" charset="-122"/>
                <a:cs typeface="Calibri" pitchFamily="34" charset="-120"/>
              </a:rPr>
              <a:t>Spectrum: </a:t>
            </a:r>
            <a:pPr indent="0" marL="0">
              <a:buNone/>
            </a:pPr>
            <a:r>
              <a:rPr lang="en-US" sz="1050" dirty="0">
                <a:solidFill>
                  <a:srgbClr val="0F172A"/>
                </a:solidFill>
                <a:latin typeface="Calibri" pitchFamily="34" charset="0"/>
                <a:ea typeface="Calibri" pitchFamily="34" charset="-122"/>
                <a:cs typeface="Calibri" pitchFamily="34" charset="-120"/>
              </a:rPr>
              <a:t>1. Patent Vitelline Duct: Fecal umbilical discharge
2. Meckel's Diverticulum (Rule of 2s: 2% prevalence, 2 inches long, 2 feet from valve; ectopic gastric/pancreatic mucosa)
3. Vitelline Cyst / Sinus / Fibrous Band (leads to internal small bowel volvulus).
</a:t>
            </a:r>
            <a:pPr indent="0" marL="0">
              <a:buNone/>
            </a:pPr>
            <a:r>
              <a:rPr lang="en-US" sz="1050" b="1" dirty="0">
                <a:solidFill>
                  <a:srgbClr val="0A192F"/>
                </a:solidFill>
                <a:latin typeface="Calibri" pitchFamily="34" charset="0"/>
                <a:ea typeface="Calibri" pitchFamily="34" charset="-122"/>
                <a:cs typeface="Calibri" pitchFamily="34" charset="-120"/>
              </a:rPr>
              <a:t>Fistulogram: </a:t>
            </a:r>
            <a:pPr indent="0" marL="0">
              <a:buNone/>
            </a:pPr>
            <a:r>
              <a:rPr lang="en-US" sz="1050" dirty="0">
                <a:solidFill>
                  <a:srgbClr val="0F172A"/>
                </a:solidFill>
                <a:latin typeface="Calibri" pitchFamily="34" charset="0"/>
                <a:ea typeface="Calibri" pitchFamily="34" charset="-122"/>
                <a:cs typeface="Calibri" pitchFamily="34" charset="-120"/>
              </a:rPr>
              <a:t>Opacifies small bowel mucosal folds (contrast goes into ileum).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SILVER NITRATE DISASTER: Cauterizing an apparent 'umbilical granuloma' with silver nitrate without prior ultrasound is dangerous! If the lesion is actually a patent vitelline duct polyp or patent urachus, chemical cauterization can produce bowel perforation, fecal peritonitis, or bladder wall necrosis. Always ultrasound the weeping umbilicus first!</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Yu JS, Kim KW, Lee HJ, et al. RadioGraphics 2001;21(2):451–461; Levy AD, Hobbs CM. RadioGraphics 2004;24(2):565–587.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URETHRAL MORPHOGENESIS • WEEKS 7–9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LUTO Spectrum: Posterior Urethral Membrane (COP), Prune Belly &amp; VURD</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male fetus presents with massive megacystis and bilateral hydronephrosis. Does the 'keyhole sign' guarantee posterior urethral valves, and why does unilateral severe vesicoureteral reflux actually save the baby's life?</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1E3A8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POSTERIOR URETHRAL VALVES (COP)</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7–9 GA. Abnormal integration and persistent remnants of mesonephric (Wolffian) ducts into urogenital sinus floor at verumontanum.
</a:t>
            </a:r>
            <a:pPr indent="0" marL="0">
              <a:buNone/>
            </a:pPr>
            <a:r>
              <a:rPr lang="en-US" sz="1050" b="1" dirty="0">
                <a:solidFill>
                  <a:srgbClr val="0A192F"/>
                </a:solidFill>
                <a:latin typeface="Calibri" pitchFamily="34" charset="0"/>
                <a:ea typeface="Calibri" pitchFamily="34" charset="-122"/>
                <a:cs typeface="Calibri" pitchFamily="34" charset="-120"/>
              </a:rPr>
              <a:t>Modern Pathology: </a:t>
            </a:r>
            <a:pPr indent="0" marL="0">
              <a:buNone/>
            </a:pPr>
            <a:r>
              <a:rPr lang="en-US" sz="1050" dirty="0">
                <a:solidFill>
                  <a:srgbClr val="0F172A"/>
                </a:solidFill>
                <a:latin typeface="Calibri" pitchFamily="34" charset="0"/>
                <a:ea typeface="Calibri" pitchFamily="34" charset="-122"/>
                <a:cs typeface="Calibri" pitchFamily="34" charset="-120"/>
              </a:rPr>
              <a:t>Dewan's Congenital Obstructive Posterior Urethral Membrane (COP): Obstructing sail-like membrane extending distally from verumontanum (Young Type I in 95%; Young Type II is non-existent/iatrogenic).
</a:t>
            </a:r>
            <a:pPr indent="0" marL="0">
              <a:buNone/>
            </a:pPr>
            <a:r>
              <a:rPr lang="en-US" sz="1050" b="1" dirty="0">
                <a:solidFill>
                  <a:srgbClr val="0A192F"/>
                </a:solidFill>
                <a:latin typeface="Calibri" pitchFamily="34" charset="0"/>
                <a:ea typeface="Calibri" pitchFamily="34" charset="-122"/>
                <a:cs typeface="Calibri" pitchFamily="34" charset="-120"/>
              </a:rPr>
              <a:t>The 'Keyhole Sign': </a:t>
            </a:r>
            <a:pPr indent="0" marL="0">
              <a:buNone/>
            </a:pPr>
            <a:r>
              <a:rPr lang="en-US" sz="1050" dirty="0">
                <a:solidFill>
                  <a:srgbClr val="0F172A"/>
                </a:solidFill>
                <a:latin typeface="Calibri" pitchFamily="34" charset="0"/>
                <a:ea typeface="Calibri" pitchFamily="34" charset="-122"/>
                <a:cs typeface="Calibri" pitchFamily="34" charset="-120"/>
              </a:rPr>
              <a:t>Thick-walled, trabeculated, hypertrophied bladder (head of keyhole) contiguous with dilated posterior prostatic urethra (stem of keyhole).
</a:t>
            </a:r>
            <a:pPr indent="0" marL="0">
              <a:buNone/>
            </a:pPr>
            <a:r>
              <a:rPr lang="en-US" sz="1050" b="1" dirty="0">
                <a:solidFill>
                  <a:srgbClr val="0A192F"/>
                </a:solidFill>
                <a:latin typeface="Calibri" pitchFamily="34" charset="0"/>
                <a:ea typeface="Calibri" pitchFamily="34" charset="-122"/>
                <a:cs typeface="Calibri" pitchFamily="34" charset="-120"/>
              </a:rPr>
              <a:t>Postnatal VCUG: </a:t>
            </a:r>
            <a:pPr indent="0" marL="0">
              <a:buNone/>
            </a:pPr>
            <a:r>
              <a:rPr lang="en-US" sz="1050" dirty="0">
                <a:solidFill>
                  <a:srgbClr val="0F172A"/>
                </a:solidFill>
                <a:latin typeface="Calibri" pitchFamily="34" charset="0"/>
                <a:ea typeface="Calibri" pitchFamily="34" charset="-122"/>
                <a:cs typeface="Calibri" pitchFamily="34" charset="-120"/>
              </a:rPr>
              <a:t>Abrupt caliber change from dilated posterior urethra to narrow anterior urethra at valve leaflets.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65F46"/>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PRUNE BELLY SYNDROME &amp; THE VURD SAFETY VALVE</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Prune Belly Triad: </a:t>
            </a:r>
            <a:pPr indent="0" marL="0">
              <a:buNone/>
            </a:pPr>
            <a:r>
              <a:rPr lang="en-US" sz="1050" dirty="0">
                <a:solidFill>
                  <a:srgbClr val="0F172A"/>
                </a:solidFill>
                <a:latin typeface="Calibri" pitchFamily="34" charset="0"/>
                <a:ea typeface="Calibri" pitchFamily="34" charset="-122"/>
                <a:cs typeface="Calibri" pitchFamily="34" charset="-120"/>
              </a:rPr>
              <a:t>1. Abdominal wall muscle deficiency
2. Bilateral cryptorchidism
3. Massive non-obstructive urinary tract dilatation.
</a:t>
            </a:r>
            <a:pPr indent="0" marL="0">
              <a:buNone/>
            </a:pPr>
            <a:r>
              <a:rPr lang="en-US" sz="1050" b="1" dirty="0">
                <a:solidFill>
                  <a:srgbClr val="0A192F"/>
                </a:solidFill>
                <a:latin typeface="Calibri" pitchFamily="34" charset="0"/>
                <a:ea typeface="Calibri" pitchFamily="34" charset="-122"/>
                <a:cs typeface="Calibri" pitchFamily="34" charset="-120"/>
              </a:rPr>
              <a:t>Embryology: </a:t>
            </a:r>
            <a:pPr indent="0" marL="0">
              <a:buNone/>
            </a:pPr>
            <a:r>
              <a:rPr lang="en-US" sz="1050" dirty="0">
                <a:solidFill>
                  <a:srgbClr val="0F172A"/>
                </a:solidFill>
                <a:latin typeface="Calibri" pitchFamily="34" charset="0"/>
                <a:ea typeface="Calibri" pitchFamily="34" charset="-122"/>
                <a:cs typeface="Calibri" pitchFamily="34" charset="-120"/>
              </a:rPr>
              <a:t>Primary mesodermal arrest weeks 6–10 affecting abdominal somatopleure and urinary smooth muscle. Urethra is patent; posterior urethra dilated due to prostatic hypoplasia.
</a:t>
            </a:r>
            <a:pPr indent="0" marL="0">
              <a:buNone/>
            </a:pPr>
            <a:r>
              <a:rPr lang="en-US" sz="1050" b="1" dirty="0">
                <a:solidFill>
                  <a:srgbClr val="0A192F"/>
                </a:solidFill>
                <a:latin typeface="Calibri" pitchFamily="34" charset="0"/>
                <a:ea typeface="Calibri" pitchFamily="34" charset="-122"/>
                <a:cs typeface="Calibri" pitchFamily="34" charset="-120"/>
              </a:rPr>
              <a:t>The VURD Syndrome: </a:t>
            </a:r>
            <a:pPr indent="0" marL="0">
              <a:buNone/>
            </a:pPr>
            <a:r>
              <a:rPr lang="en-US" sz="1050" dirty="0">
                <a:solidFill>
                  <a:srgbClr val="0F172A"/>
                </a:solidFill>
                <a:latin typeface="Calibri" pitchFamily="34" charset="0"/>
                <a:ea typeface="Calibri" pitchFamily="34" charset="-122"/>
                <a:cs typeface="Calibri" pitchFamily="34" charset="-120"/>
              </a:rPr>
              <a:t>Posterior Urethral Valves, Unilateral Reflux, and Renal Dysplasia. Massive unilateral high-grade VUR acts as a high-pressure 'pop-off' safety valve! The refluxing kidney sacrifices itself to absorb hydrostatic pressures, PROTECTING the contralateral kidney's nephrons!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THE POP-OFF PROTECTION: In a fetus with PUV, finding massive unilateral reflux (VURD syndrome) or a ruptured calyceal fornix with urinary ascites / perinephric urinoma is actually a POSITIVE prognostic sign for long-term renal survival, because it decompresses the closed high-pressure urinary system and preserves functional nephrons in the contralateral kidney.</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Krishnan A, de Souza A, Konijeti R, Baskin LS. J Urol 2006;175(4):1214–1220; Berdon WE, et al. Radiol Clin North Am 1977;15(1):83–93.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MÜLLERIAN FUSION VS. SEPTATION • WEEKS 6–12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Müllerian Duct Anomalies: Lateral Fusion Failure vs. Apoptotic Resorption Failure</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Two patients present with recurrent miscarriages and a bifurcated endometrial cavity on HSG. Why does one get scheduled for day-surgery hysteroscopic metroplasty while the other is strictly forbidden from surgery?</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581C87"/>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BICORNUATE UTERUS (FUSION FAILURE)</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7–9 embryonic. The two paramesonephric (Müllerian) ducts fail to fuse completely at the fundal level.
</a:t>
            </a:r>
            <a:pPr indent="0" marL="0">
              <a:buNone/>
            </a:pPr>
            <a:r>
              <a:rPr lang="en-US" sz="1050" b="1" dirty="0">
                <a:solidFill>
                  <a:srgbClr val="0A192F"/>
                </a:solidFill>
                <a:latin typeface="Calibri" pitchFamily="34" charset="0"/>
                <a:ea typeface="Calibri" pitchFamily="34" charset="-122"/>
                <a:cs typeface="Calibri" pitchFamily="34" charset="-120"/>
              </a:rPr>
              <a:t>Morphology: </a:t>
            </a:r>
            <a:pPr indent="0" marL="0">
              <a:buNone/>
            </a:pPr>
            <a:r>
              <a:rPr lang="en-US" sz="1050" dirty="0">
                <a:solidFill>
                  <a:srgbClr val="0F172A"/>
                </a:solidFill>
                <a:latin typeface="Calibri" pitchFamily="34" charset="0"/>
                <a:ea typeface="Calibri" pitchFamily="34" charset="-122"/>
                <a:cs typeface="Calibri" pitchFamily="34" charset="-120"/>
              </a:rPr>
              <a:t>Two distinct uterine horns (cornua) with TWO SEPARATE external fundal myometrial crowns.
</a:t>
            </a:r>
            <a:pPr indent="0" marL="0">
              <a:buNone/>
            </a:pPr>
            <a:r>
              <a:rPr lang="en-US" sz="1050" b="1" dirty="0">
                <a:solidFill>
                  <a:srgbClr val="0A192F"/>
                </a:solidFill>
                <a:latin typeface="Calibri" pitchFamily="34" charset="0"/>
                <a:ea typeface="Calibri" pitchFamily="34" charset="-122"/>
                <a:cs typeface="Calibri" pitchFamily="34" charset="-120"/>
              </a:rPr>
              <a:t>ASRM 2021 Metric: </a:t>
            </a:r>
            <a:pPr indent="0" marL="0">
              <a:buNone/>
            </a:pPr>
            <a:r>
              <a:rPr lang="en-US" sz="1050" dirty="0">
                <a:solidFill>
                  <a:srgbClr val="0F172A"/>
                </a:solidFill>
                <a:latin typeface="Calibri" pitchFamily="34" charset="0"/>
                <a:ea typeface="Calibri" pitchFamily="34" charset="-122"/>
                <a:cs typeface="Calibri" pitchFamily="34" charset="-120"/>
              </a:rPr>
              <a:t>External fundal serosal indentation / cleft &gt;= 1.0 cm (10 mm) below the intercornual line. Wide intercornual angle (&gt;105°) and distance (&gt;4 cm).
</a:t>
            </a:r>
            <a:pPr indent="0" marL="0">
              <a:buNone/>
            </a:pPr>
            <a:r>
              <a:rPr lang="en-US" sz="1050" b="1" dirty="0">
                <a:solidFill>
                  <a:srgbClr val="0A192F"/>
                </a:solidFill>
                <a:latin typeface="Calibri" pitchFamily="34" charset="0"/>
                <a:ea typeface="Calibri" pitchFamily="34" charset="-122"/>
                <a:cs typeface="Calibri" pitchFamily="34" charset="-120"/>
              </a:rPr>
              <a:t>Surgical Rule: </a:t>
            </a:r>
            <a:pPr indent="0" marL="0">
              <a:buNone/>
            </a:pPr>
            <a:r>
              <a:rPr lang="en-US" sz="1050" dirty="0">
                <a:solidFill>
                  <a:srgbClr val="0F172A"/>
                </a:solidFill>
                <a:latin typeface="Calibri" pitchFamily="34" charset="0"/>
                <a:ea typeface="Calibri" pitchFamily="34" charset="-122"/>
                <a:cs typeface="Calibri" pitchFamily="34" charset="-120"/>
              </a:rPr>
              <a:t>NO hysteroscopic metroplasty! Incising the fundus internally would perforate directly into the peritoneal cavity between the separate uterine horns.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0369A1"/>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SEPTATE UTERUS (SEPTAL RESORPTION FAILURE)</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t>
            </a:r>
            <a:pPr indent="0" marL="0">
              <a:buNone/>
            </a:pPr>
            <a:r>
              <a:rPr lang="en-US" sz="1050" dirty="0">
                <a:solidFill>
                  <a:srgbClr val="0F172A"/>
                </a:solidFill>
                <a:latin typeface="Calibri" pitchFamily="34" charset="0"/>
                <a:ea typeface="Calibri" pitchFamily="34" charset="-122"/>
                <a:cs typeface="Calibri" pitchFamily="34" charset="-120"/>
              </a:rPr>
              <a:t>Weeks 9–12 embryonic. Müllerian ducts fuse normally, but the midline intervening septum fails to undergo apoptotic resorption.
</a:t>
            </a:r>
            <a:pPr indent="0" marL="0">
              <a:buNone/>
            </a:pPr>
            <a:r>
              <a:rPr lang="en-US" sz="1050" b="1" dirty="0">
                <a:solidFill>
                  <a:srgbClr val="0A192F"/>
                </a:solidFill>
                <a:latin typeface="Calibri" pitchFamily="34" charset="0"/>
                <a:ea typeface="Calibri" pitchFamily="34" charset="-122"/>
                <a:cs typeface="Calibri" pitchFamily="34" charset="-120"/>
              </a:rPr>
              <a:t>Morphology: </a:t>
            </a:r>
            <a:pPr indent="0" marL="0">
              <a:buNone/>
            </a:pPr>
            <a:r>
              <a:rPr lang="en-US" sz="1050" dirty="0">
                <a:solidFill>
                  <a:srgbClr val="0F172A"/>
                </a:solidFill>
                <a:latin typeface="Calibri" pitchFamily="34" charset="0"/>
                <a:ea typeface="Calibri" pitchFamily="34" charset="-122"/>
                <a:cs typeface="Calibri" pitchFamily="34" charset="-120"/>
              </a:rPr>
              <a:t>Single unified external fundus, but an internal partition divides the cavity.
</a:t>
            </a:r>
            <a:pPr indent="0" marL="0">
              <a:buNone/>
            </a:pPr>
            <a:r>
              <a:rPr lang="en-US" sz="1050" b="1" dirty="0">
                <a:solidFill>
                  <a:srgbClr val="0A192F"/>
                </a:solidFill>
                <a:latin typeface="Calibri" pitchFamily="34" charset="0"/>
                <a:ea typeface="Calibri" pitchFamily="34" charset="-122"/>
                <a:cs typeface="Calibri" pitchFamily="34" charset="-120"/>
              </a:rPr>
              <a:t>Why Miscarriages Occur: </a:t>
            </a:r>
            <a:pPr indent="0" marL="0">
              <a:buNone/>
            </a:pPr>
            <a:r>
              <a:rPr lang="en-US" sz="1050" dirty="0">
                <a:solidFill>
                  <a:srgbClr val="0F172A"/>
                </a:solidFill>
                <a:latin typeface="Calibri" pitchFamily="34" charset="0"/>
                <a:ea typeface="Calibri" pitchFamily="34" charset="-122"/>
                <a:cs typeface="Calibri" pitchFamily="34" charset="-120"/>
              </a:rPr>
              <a:t>The septum consists of disorganized, avascular fibroelastic tissue with defective estrogen receptors. Blastocysts implanting on the septum suffer ischemic early miscarriage (60–80%).
</a:t>
            </a:r>
            <a:pPr indent="0" marL="0">
              <a:buNone/>
            </a:pPr>
            <a:r>
              <a:rPr lang="en-US" sz="1050" b="1" dirty="0">
                <a:solidFill>
                  <a:srgbClr val="0A192F"/>
                </a:solidFill>
                <a:latin typeface="Calibri" pitchFamily="34" charset="0"/>
                <a:ea typeface="Calibri" pitchFamily="34" charset="-122"/>
                <a:cs typeface="Calibri" pitchFamily="34" charset="-120"/>
              </a:rPr>
              <a:t>Surgical Rule: </a:t>
            </a:r>
            <a:pPr indent="0" marL="0">
              <a:buNone/>
            </a:pPr>
            <a:r>
              <a:rPr lang="en-US" sz="1050" dirty="0">
                <a:solidFill>
                  <a:srgbClr val="0F172A"/>
                </a:solidFill>
                <a:latin typeface="Calibri" pitchFamily="34" charset="0"/>
                <a:ea typeface="Calibri" pitchFamily="34" charset="-122"/>
                <a:cs typeface="Calibri" pitchFamily="34" charset="-120"/>
              </a:rPr>
              <a:t>Resected via day-surgery Hysteroscopic Metroplasty, restoring term pregnancy delivery rates to &gt;80%.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NEVER DIAGNOSE BICORNUATE UTERUS ON HSG ALONE: Hysterosalpingography (HSG) only opacifies the internal lumen and CANNOT visualize the external fundal serosa! Reporting 'bicornuate uterus' on HSG is a major medical-legal trap. Always report as 'divided/bifurcated cavity' and recommend 3D ultrasound or coronal pelvic MRI to measure the external fundal cleft.</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Pfeifer SM, Attaran M, Cellek S, et al. Fertil Steril 2021;116(5):1238–1252 (ASRM 2021); Troiano RN, McCarthy SM. Radiology 2004;233(1):19–32.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SEX DEVELOPMENT &amp; DUCT REGRESSION • WEEKS 6–12 GA</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Disorders of Sex Development: AMH Signaling, Androgen Receptors &amp; Streak Malignancy</a:t>
            </a:r>
            <a:endParaRPr lang="en-US" sz="2100" dirty="0"/>
          </a:p>
        </p:txBody>
      </p:sp>
      <p:sp>
        <p:nvSpPr>
          <p:cNvPr id="5" name="Shape 3"/>
          <p:cNvSpPr/>
          <p:nvPr/>
        </p:nvSpPr>
        <p:spPr>
          <a:xfrm>
            <a:off x="548640" y="1234440"/>
            <a:ext cx="11091672" cy="685800"/>
          </a:xfrm>
          <a:prstGeom prst="rect">
            <a:avLst/>
          </a:prstGeom>
          <a:solidFill>
            <a:srgbClr val="F0F9FF"/>
          </a:solidFill>
          <a:ln w="19050">
            <a:solidFill>
              <a:srgbClr val="0284C7"/>
            </a:solidFill>
            <a:prstDash val="solid"/>
          </a:ln>
        </p:spPr>
      </p:sp>
      <p:sp>
        <p:nvSpPr>
          <p:cNvPr id="6" name="Text 4"/>
          <p:cNvSpPr/>
          <p:nvPr/>
        </p:nvSpPr>
        <p:spPr>
          <a:xfrm>
            <a:off x="685800" y="1252728"/>
            <a:ext cx="10817352" cy="64922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Three adolescent phenotypic females present with primary amenorrhea and a blind-ending vagina. Why does one have intra-abdominal testes, the second has normal fertile ovaries, and the third has a fully formed uterus but streak gonads destined for malignancy?</a:t>
            </a:r>
            <a:endParaRPr lang="en-US" sz="1100" dirty="0"/>
          </a:p>
        </p:txBody>
      </p:sp>
      <p:sp>
        <p:nvSpPr>
          <p:cNvPr id="7" name="Shape 5"/>
          <p:cNvSpPr/>
          <p:nvPr/>
        </p:nvSpPr>
        <p:spPr>
          <a:xfrm>
            <a:off x="548640" y="2029968"/>
            <a:ext cx="5440680" cy="3474720"/>
          </a:xfrm>
          <a:prstGeom prst="rect">
            <a:avLst/>
          </a:prstGeom>
          <a:solidFill>
            <a:srgbClr val="FFFFFF"/>
          </a:solidFill>
          <a:ln w="15240">
            <a:solidFill>
              <a:srgbClr val="CBD5E1"/>
            </a:solidFill>
            <a:prstDash val="solid"/>
          </a:ln>
        </p:spPr>
      </p:sp>
      <p:sp>
        <p:nvSpPr>
          <p:cNvPr id="8" name="Shape 6"/>
          <p:cNvSpPr/>
          <p:nvPr/>
        </p:nvSpPr>
        <p:spPr>
          <a:xfrm>
            <a:off x="548640" y="2029968"/>
            <a:ext cx="5440680" cy="384048"/>
          </a:xfrm>
          <a:prstGeom prst="rect">
            <a:avLst/>
          </a:prstGeom>
          <a:solidFill>
            <a:srgbClr val="0F172A"/>
          </a:solidFill>
          <a:ln/>
        </p:spPr>
      </p:sp>
      <p:sp>
        <p:nvSpPr>
          <p:cNvPr id="9" name="Text 7"/>
          <p:cNvSpPr/>
          <p:nvPr/>
        </p:nvSpPr>
        <p:spPr>
          <a:xfrm>
            <a:off x="685800"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NO UTERUS: CAIS (46,XY) VS. MRKH (46,XX)</a:t>
            </a:r>
            <a:endParaRPr lang="en-US" sz="1200" dirty="0"/>
          </a:p>
        </p:txBody>
      </p:sp>
      <p:sp>
        <p:nvSpPr>
          <p:cNvPr id="10" name="Text 8"/>
          <p:cNvSpPr/>
          <p:nvPr/>
        </p:nvSpPr>
        <p:spPr>
          <a:xfrm>
            <a:off x="685800"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CAIS (46,XY): </a:t>
            </a:r>
            <a:pPr indent="0" marL="0">
              <a:buNone/>
            </a:pPr>
            <a:r>
              <a:rPr lang="en-US" sz="1050" dirty="0">
                <a:solidFill>
                  <a:srgbClr val="0F172A"/>
                </a:solidFill>
                <a:latin typeface="Calibri" pitchFamily="34" charset="0"/>
                <a:ea typeface="Calibri" pitchFamily="34" charset="-122"/>
                <a:cs typeface="Calibri" pitchFamily="34" charset="-120"/>
              </a:rPr>
              <a:t>• Inactivating mutation in Androgen Receptor (AR) gene on Xq12.
• SRY acts -&gt; Testes form and secrete Anti-Müllerian Hormone (AMH) and Testosterone.
• AMH acts normally -&gt; Müllerian ducts regress (NO uterus, tubes, upper vagina)!
• AR cannot respond -&gt; Wolffian ducts regress; external genitalia default to female.
• Pelvic MRI: Bilateral functional testes in abdomen/inguinal canal/labia.
</a:t>
            </a:r>
            <a:pPr indent="0" marL="0">
              <a:buNone/>
            </a:pPr>
            <a:r>
              <a:rPr lang="en-US" sz="1050" b="1" dirty="0">
                <a:solidFill>
                  <a:srgbClr val="0A192F"/>
                </a:solidFill>
                <a:latin typeface="Calibri" pitchFamily="34" charset="0"/>
                <a:ea typeface="Calibri" pitchFamily="34" charset="-122"/>
                <a:cs typeface="Calibri" pitchFamily="34" charset="-120"/>
              </a:rPr>
              <a:t>MRKH (46,XX): </a:t>
            </a:r>
            <a:pPr indent="0" marL="0">
              <a:buNone/>
            </a:pPr>
            <a:r>
              <a:rPr lang="en-US" sz="1050" dirty="0">
                <a:solidFill>
                  <a:srgbClr val="0F172A"/>
                </a:solidFill>
                <a:latin typeface="Calibri" pitchFamily="34" charset="0"/>
                <a:ea typeface="Calibri" pitchFamily="34" charset="-122"/>
                <a:cs typeface="Calibri" pitchFamily="34" charset="-120"/>
              </a:rPr>
              <a:t>• Müllerian duct agenesis (CS 14–18).
• Absent uterus/upper vagina, but NORMAL FUNCTIONAL OVARIES with follicles.
• High association with renal agenesis (MURCS association in 50%).
</a:t>
            </a:r>
            <a:endParaRPr lang="en-US" sz="1050" dirty="0"/>
          </a:p>
        </p:txBody>
      </p:sp>
      <p:sp>
        <p:nvSpPr>
          <p:cNvPr id="11" name="Shape 9"/>
          <p:cNvSpPr/>
          <p:nvPr/>
        </p:nvSpPr>
        <p:spPr>
          <a:xfrm>
            <a:off x="6199632" y="2029968"/>
            <a:ext cx="5440680" cy="3474720"/>
          </a:xfrm>
          <a:prstGeom prst="rect">
            <a:avLst/>
          </a:prstGeom>
          <a:solidFill>
            <a:srgbClr val="FFFFFF"/>
          </a:solidFill>
          <a:ln w="15240">
            <a:solidFill>
              <a:srgbClr val="CBD5E1"/>
            </a:solidFill>
            <a:prstDash val="solid"/>
          </a:ln>
        </p:spPr>
      </p:sp>
      <p:sp>
        <p:nvSpPr>
          <p:cNvPr id="12" name="Shape 10"/>
          <p:cNvSpPr/>
          <p:nvPr/>
        </p:nvSpPr>
        <p:spPr>
          <a:xfrm>
            <a:off x="6199632" y="2029968"/>
            <a:ext cx="5440680" cy="384048"/>
          </a:xfrm>
          <a:prstGeom prst="rect">
            <a:avLst/>
          </a:prstGeom>
          <a:solidFill>
            <a:srgbClr val="831843"/>
          </a:solidFill>
          <a:ln/>
        </p:spPr>
      </p:sp>
      <p:sp>
        <p:nvSpPr>
          <p:cNvPr id="13" name="Text 11"/>
          <p:cNvSpPr/>
          <p:nvPr/>
        </p:nvSpPr>
        <p:spPr>
          <a:xfrm>
            <a:off x="6336792" y="2029968"/>
            <a:ext cx="5166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UTERUS PRESENT: SWYER SYNDROME (46,XY)</a:t>
            </a:r>
            <a:endParaRPr lang="en-US" sz="1200" dirty="0"/>
          </a:p>
        </p:txBody>
      </p:sp>
      <p:sp>
        <p:nvSpPr>
          <p:cNvPr id="14" name="Text 12"/>
          <p:cNvSpPr/>
          <p:nvPr/>
        </p:nvSpPr>
        <p:spPr>
          <a:xfrm>
            <a:off x="6336792" y="2468880"/>
            <a:ext cx="5166360" cy="2971800"/>
          </a:xfrm>
          <a:prstGeom prst="rect">
            <a:avLst/>
          </a:prstGeom>
          <a:noFill/>
          <a:ln/>
        </p:spPr>
        <p:txBody>
          <a:bodyPr wrap="square" lIns="0" tIns="0" rIns="0" bIns="0" rtlCol="0" anchor="t"/>
          <a:lstStyle/>
          <a:p>
            <a:pPr indent="0" marL="0">
              <a:buNone/>
            </a:pPr>
            <a:r>
              <a:rPr lang="en-US" sz="1050" b="1" dirty="0">
                <a:solidFill>
                  <a:srgbClr val="0A192F"/>
                </a:solidFill>
                <a:latin typeface="Calibri" pitchFamily="34" charset="0"/>
                <a:ea typeface="Calibri" pitchFamily="34" charset="-122"/>
                <a:cs typeface="Calibri" pitchFamily="34" charset="-120"/>
              </a:rPr>
              <a:t>Embryogenesis &amp; Genetics: </a:t>
            </a:r>
            <a:pPr indent="0" marL="0">
              <a:buNone/>
            </a:pPr>
            <a:r>
              <a:rPr lang="en-US" sz="1050" dirty="0">
                <a:solidFill>
                  <a:srgbClr val="0F172A"/>
                </a:solidFill>
                <a:latin typeface="Calibri" pitchFamily="34" charset="0"/>
                <a:ea typeface="Calibri" pitchFamily="34" charset="-122"/>
                <a:cs typeface="Calibri" pitchFamily="34" charset="-120"/>
              </a:rPr>
              <a:t>Complete 46,XY Gonadal Dysgenesis. Inactivating mutation in SRY (15%) or SOX9/MAP3K1.
Bipotential gonads fail to form testes -&gt; NO TESTES = NO AMH PRODUCED!
</a:t>
            </a:r>
            <a:pPr indent="0" marL="0">
              <a:buNone/>
            </a:pPr>
            <a:r>
              <a:rPr lang="en-US" sz="1050" b="1" dirty="0">
                <a:solidFill>
                  <a:srgbClr val="0A192F"/>
                </a:solidFill>
                <a:latin typeface="Calibri" pitchFamily="34" charset="0"/>
                <a:ea typeface="Calibri" pitchFamily="34" charset="-122"/>
                <a:cs typeface="Calibri" pitchFamily="34" charset="-120"/>
              </a:rPr>
              <a:t>The Müllerian Consequence: </a:t>
            </a:r>
            <a:pPr indent="0" marL="0">
              <a:buNone/>
            </a:pPr>
            <a:r>
              <a:rPr lang="en-US" sz="1050" dirty="0">
                <a:solidFill>
                  <a:srgbClr val="0F172A"/>
                </a:solidFill>
                <a:latin typeface="Calibri" pitchFamily="34" charset="0"/>
                <a:ea typeface="Calibri" pitchFamily="34" charset="-122"/>
                <a:cs typeface="Calibri" pitchFamily="34" charset="-120"/>
              </a:rPr>
              <a:t>Because AMH is completely absent, THE MÜLLERIAN DUCTS DO NOT REGRESS!
Phenotype: 46,XY phenotypic female with a FULLY FORMED NORMAL UTERUS, fallopian tubes, and cervix, but bilateral non-functional fibrous streak gonads.
</a:t>
            </a:r>
            <a:pPr indent="0" marL="0">
              <a:buNone/>
            </a:pPr>
            <a:r>
              <a:rPr lang="en-US" sz="1050" b="1" dirty="0">
                <a:solidFill>
                  <a:srgbClr val="0A192F"/>
                </a:solidFill>
                <a:latin typeface="Calibri" pitchFamily="34" charset="0"/>
                <a:ea typeface="Calibri" pitchFamily="34" charset="-122"/>
                <a:cs typeface="Calibri" pitchFamily="34" charset="-120"/>
              </a:rPr>
              <a:t>Malignancy Warning: </a:t>
            </a:r>
            <a:pPr indent="0" marL="0">
              <a:buNone/>
            </a:pPr>
            <a:r>
              <a:rPr lang="en-US" sz="1050" dirty="0">
                <a:solidFill>
                  <a:srgbClr val="0F172A"/>
                </a:solidFill>
                <a:latin typeface="Calibri" pitchFamily="34" charset="0"/>
                <a:ea typeface="Calibri" pitchFamily="34" charset="-122"/>
                <a:cs typeface="Calibri" pitchFamily="34" charset="-120"/>
              </a:rPr>
              <a:t>25–30% lifetime risk of Dysgerminoma / Gonadoblastoma in streak gonads! Mandates prophylactic bilateral gonadectomy.
</a:t>
            </a:r>
            <a:endParaRPr lang="en-US" sz="1050" dirty="0"/>
          </a:p>
        </p:txBody>
      </p:sp>
      <p:sp>
        <p:nvSpPr>
          <p:cNvPr id="15" name="Shape 13"/>
          <p:cNvSpPr/>
          <p:nvPr/>
        </p:nvSpPr>
        <p:spPr>
          <a:xfrm>
            <a:off x="548640" y="5577840"/>
            <a:ext cx="11091672" cy="731520"/>
          </a:xfrm>
          <a:prstGeom prst="rect">
            <a:avLst/>
          </a:prstGeom>
          <a:solidFill>
            <a:srgbClr val="FEF2F2"/>
          </a:solidFill>
          <a:ln w="15240">
            <a:solidFill>
              <a:srgbClr val="DC2626"/>
            </a:solidFill>
            <a:prstDash val="solid"/>
          </a:ln>
        </p:spPr>
      </p:sp>
      <p:sp>
        <p:nvSpPr>
          <p:cNvPr id="16" name="Text 14"/>
          <p:cNvSpPr/>
          <p:nvPr/>
        </p:nvSpPr>
        <p:spPr>
          <a:xfrm>
            <a:off x="685800" y="5596128"/>
            <a:ext cx="10817352" cy="685800"/>
          </a:xfrm>
          <a:prstGeom prst="rect">
            <a:avLst/>
          </a:prstGeom>
          <a:noFill/>
          <a:ln/>
        </p:spPr>
        <p:txBody>
          <a:bodyPr wrap="square" rtlCol="0" anchor="ctr"/>
          <a:lstStyle/>
          <a:p>
            <a:pPr indent="0" marL="0">
              <a:buNone/>
            </a:pPr>
            <a:r>
              <a:rPr lang="en-US" sz="950" b="1" dirty="0">
                <a:solidFill>
                  <a:srgbClr val="DC2626"/>
                </a:solidFill>
                <a:latin typeface="Calibri" pitchFamily="34" charset="0"/>
                <a:ea typeface="Calibri" pitchFamily="34" charset="-122"/>
                <a:cs typeface="Calibri" pitchFamily="34" charset="-120"/>
              </a:rPr>
              <a:t>⚠️ RADIOLOGIST'S TRAP (DON'T MISS): </a:t>
            </a:r>
            <a:pPr indent="0" marL="0">
              <a:buNone/>
            </a:pPr>
            <a:r>
              <a:rPr lang="en-US" sz="950" dirty="0">
                <a:solidFill>
                  <a:srgbClr val="0F172A"/>
                </a:solidFill>
                <a:latin typeface="Calibri" pitchFamily="34" charset="0"/>
                <a:ea typeface="Calibri" pitchFamily="34" charset="-122"/>
                <a:cs typeface="Calibri" pitchFamily="34" charset="-120"/>
              </a:rPr>
              <a:t>INGUINAL HERNIA TESTES IN INFANT GIRLS: In female infants presenting with bilateral inguinal hernias, always scrutinize hernia contents for testicular parenchyma. Bilateral inguinal hernias in a phenotypic female represent CAIS until proven otherwise. In Swyer syndrome, discovering a normal uterus in a 46,XY individual mandates immediate search for streak gonads.</a:t>
            </a:r>
            <a:endParaRPr lang="en-US" sz="950" dirty="0"/>
          </a:p>
        </p:txBody>
      </p:sp>
      <p:sp>
        <p:nvSpPr>
          <p:cNvPr id="17" name="Text 15"/>
          <p:cNvSpPr/>
          <p:nvPr/>
        </p:nvSpPr>
        <p:spPr>
          <a:xfrm>
            <a:off x="548640" y="6382512"/>
            <a:ext cx="11091672" cy="256032"/>
          </a:xfrm>
          <a:prstGeom prst="rect">
            <a:avLst/>
          </a:prstGeom>
          <a:noFill/>
          <a:ln/>
        </p:spPr>
        <p:txBody>
          <a:bodyPr wrap="square" rtlCol="0" anchor="b"/>
          <a:lstStyle/>
          <a:p>
            <a:pPr indent="0" marL="0">
              <a:buNone/>
            </a:pPr>
            <a:r>
              <a:rPr lang="en-US" sz="850" i="1" dirty="0">
                <a:solidFill>
                  <a:srgbClr val="475569"/>
                </a:solidFill>
                <a:latin typeface="Calibri" pitchFamily="34" charset="0"/>
                <a:ea typeface="Calibri" pitchFamily="34" charset="-122"/>
                <a:cs typeface="Calibri" pitchFamily="34" charset="-120"/>
              </a:rPr>
              <a:t>Verified Evidence: Chavhan GB, Parra DA, Oudjhane K, et al. RadioGraphics 2008;28(7):1917–1933; Guerrier D, et al. Mol Hum Reprod 2006;12(11):677–688.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COMPREHENSIVE SYNTHESIS • GESTATIONAL TIMELINE</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The Radiologist's Reverse-Embryology Master Reference Matrix</a:t>
            </a:r>
            <a:endParaRPr lang="en-US" sz="2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4937760"/>
        </p:xfrm>
        <a:graphic>
          <a:graphicData uri="http://schemas.openxmlformats.org/drawingml/2006/table">
            <a:tbl>
              <a:tblPr/>
              <a:tblGrid>
                <a:gridCol w="1645920"/>
                <a:gridCol w="1645920"/>
                <a:gridCol w="2651760"/>
                <a:gridCol w="2560320"/>
                <a:gridCol w="2587752"/>
              </a:tblGrid>
              <a:tr h="70539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Imaging Dilemma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Embryological Checkpoint</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Entity A (Mechanism)</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Entity B (Mechanism)</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Decisive Radiological Sign</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Ventral Cord Mass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Weeks 6–12 GA</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Midgut reduction</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Omphalocele: Reduction arrest; 3-layered sac; cord on apex; 80% syndromic</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Gastroschisis: Vitelline vascular disruption; no sac; right paraumbilical</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Covering membrane &amp; cord insertion relative to intact skin bridge</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Upper GI Air-Fluid</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Weeks 7–8 vs 14–28 GA</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Recanalization vs Ischemia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Duodenal Atresia: Tandler recanalization arrest; Trisomy 21 (40%)</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Jejunoileal Atresia: Late intrauterine ischemic vascular accident</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'Double bubble' with airless gut vs Multiple loops &amp; meconium calcifications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Microcolon on Enema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Weeks 5–12 GA</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Neural crest vs CFTR</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Hirschsprung: Vagal neural crest arrest; rectosigmoid transition zone</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Meconium Ileus: CFTR mucosal plug; unused microcolon; inspissated pellets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R/S ratio &lt; 1.0 with transition zone vs Diffuse string microcolon</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Empty Renal Bed</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Weeks 5–9 GA</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Bud sprouting vs Ascent</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Renal Agenesis: Ureteric bud failure; absent renal artery from aorta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Pelvic Ectopia: Ascent arrest; kidney in sacral pelvis with iliac supply</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'Lying-Down Adrenal' (shared!) + Color Doppler sweep of aorta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Cystic Flank Mass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 5 vs Weeks 8–10</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Atresia vs Ciliopathy</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MCDK: Early ureteric atresia; non-communicating cysts; 0% DMSA</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Severe UPJ Hydro: Partial stenosis; calyces communicate with pelvis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Demonstration of communication between calyces and pelvis on US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705394">
                <a:tc>
                  <a:txBody>
                    <a:bodyPr/>
                    <a:lstStyle/>
                    <a:p>
                      <a:pPr indent="0" marL="0">
                        <a:buNone/>
                      </a:pPr>
                      <a:r>
                        <a:rPr lang="en-US" sz="950" b="1" dirty="0">
                          <a:solidFill>
                            <a:srgbClr val="000000"/>
                          </a:solidFill>
                          <a:latin typeface="Calibri" pitchFamily="34" charset="0"/>
                          <a:ea typeface="Calibri" pitchFamily="34" charset="-122"/>
                          <a:cs typeface="Calibri" pitchFamily="34" charset="-120"/>
                        </a:rPr>
                        <a:t>Bifurcated Uterus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Weeks 7–9 vs 9–12 GA</a:t>
                      </a:r>
                      <a:endParaRPr lang="en-US" sz="950" dirty="0">
                        <a:latin typeface="Calibri" charset="0"/>
                        <a:ea typeface="Calibri" charset="0"/>
                        <a:cs typeface="Calibri" charset="0"/>
                      </a:endParaRPr>
                    </a:p>
                    <a:p>
                      <a:pPr indent="0" marL="0">
                        <a:buNone/>
                      </a:pPr>
                      <a:r>
                        <a:rPr lang="en-US" sz="950" dirty="0">
                          <a:solidFill>
                            <a:srgbClr val="000000"/>
                          </a:solidFill>
                          <a:latin typeface="Calibri" pitchFamily="34" charset="0"/>
                          <a:ea typeface="Calibri" pitchFamily="34" charset="-122"/>
                          <a:cs typeface="Calibri" pitchFamily="34" charset="-120"/>
                        </a:rPr>
                        <a:t>Fusion vs Apoptosis</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Bicornuate: Lateral fusion failure; fundal serosal cleft &gt;= 1.0 cm</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Septate: Septal apoptosis failure; fundal serosal cleft &lt; 1.0 cm</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indent="0" marL="0">
                        <a:buNone/>
                      </a:pPr>
                      <a:r>
                        <a:rPr lang="en-US" sz="950" dirty="0">
                          <a:solidFill>
                            <a:srgbClr val="000000"/>
                          </a:solidFill>
                          <a:latin typeface="Calibri" pitchFamily="34" charset="0"/>
                          <a:ea typeface="Calibri" pitchFamily="34" charset="-122"/>
                          <a:cs typeface="Calibri" pitchFamily="34" charset="-120"/>
                        </a:rPr>
                        <a:t>External fundal serosal indentation on 3D US / MRI (&gt;= 1 cm vs &lt; 1 cm)</a:t>
                      </a:r>
                      <a:endParaRPr lang="en-US" sz="9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548640" y="320040"/>
            <a:ext cx="4389120" cy="274320"/>
          </a:xfrm>
          <a:prstGeom prst="rect">
            <a:avLst/>
          </a:prstGeom>
          <a:solidFill>
            <a:srgbClr val="E0F2FE"/>
          </a:solidFill>
          <a:ln w="12700">
            <a:solidFill>
              <a:srgbClr val="BAE6FD"/>
            </a:solidFill>
            <a:prstDash val="solid"/>
          </a:ln>
        </p:spPr>
      </p:sp>
      <p:sp>
        <p:nvSpPr>
          <p:cNvPr id="3" name="Text 1"/>
          <p:cNvSpPr/>
          <p:nvPr/>
        </p:nvSpPr>
        <p:spPr>
          <a:xfrm>
            <a:off x="594360" y="320040"/>
            <a:ext cx="4297680" cy="274320"/>
          </a:xfrm>
          <a:prstGeom prst="rect">
            <a:avLst/>
          </a:prstGeom>
          <a:noFill/>
          <a:ln/>
        </p:spPr>
        <p:txBody>
          <a:bodyPr wrap="square"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WORKSTATION QUALITY ASSURANCE • TAKEAWAY PEARLS</a:t>
            </a:r>
            <a:endParaRPr lang="en-US" sz="1000" dirty="0"/>
          </a:p>
        </p:txBody>
      </p:sp>
      <p:sp>
        <p:nvSpPr>
          <p:cNvPr id="4" name="Text 2"/>
          <p:cNvSpPr/>
          <p:nvPr/>
        </p:nvSpPr>
        <p:spPr>
          <a:xfrm>
            <a:off x="548640" y="658368"/>
            <a:ext cx="11091672" cy="502920"/>
          </a:xfrm>
          <a:prstGeom prst="rect">
            <a:avLst/>
          </a:prstGeom>
          <a:noFill/>
          <a:ln/>
        </p:spPr>
        <p:txBody>
          <a:bodyPr wrap="square" rtlCol="0" anchor="t"/>
          <a:lstStyle/>
          <a:p>
            <a:pPr indent="0" marL="0">
              <a:buNone/>
            </a:pPr>
            <a:r>
              <a:rPr lang="en-US" sz="2100" b="1" dirty="0">
                <a:solidFill>
                  <a:srgbClr val="0A192F"/>
                </a:solidFill>
                <a:latin typeface="Calibri" pitchFamily="34" charset="0"/>
                <a:ea typeface="Calibri" pitchFamily="34" charset="-122"/>
                <a:cs typeface="Calibri" pitchFamily="34" charset="-120"/>
              </a:rPr>
              <a:t>The Radiologist's Embryology Survival Checklist: 8 Golden Rules</a:t>
            </a:r>
            <a:endParaRPr lang="en-US" sz="2100" dirty="0"/>
          </a:p>
        </p:txBody>
      </p:sp>
      <p:sp>
        <p:nvSpPr>
          <p:cNvPr id="5" name="Shape 3"/>
          <p:cNvSpPr/>
          <p:nvPr/>
        </p:nvSpPr>
        <p:spPr>
          <a:xfrm>
            <a:off x="548640" y="1234440"/>
            <a:ext cx="5440680" cy="1143000"/>
          </a:xfrm>
          <a:prstGeom prst="rect">
            <a:avLst/>
          </a:prstGeom>
          <a:solidFill>
            <a:srgbClr val="FFFFFF"/>
          </a:solidFill>
          <a:ln w="15240">
            <a:solidFill>
              <a:srgbClr val="CBD5E1"/>
            </a:solidFill>
            <a:prstDash val="solid"/>
          </a:ln>
        </p:spPr>
      </p:sp>
      <p:sp>
        <p:nvSpPr>
          <p:cNvPr id="6" name="Shape 4"/>
          <p:cNvSpPr/>
          <p:nvPr/>
        </p:nvSpPr>
        <p:spPr>
          <a:xfrm>
            <a:off x="548640" y="1234440"/>
            <a:ext cx="457200" cy="1143000"/>
          </a:xfrm>
          <a:prstGeom prst="rect">
            <a:avLst/>
          </a:prstGeom>
          <a:solidFill>
            <a:srgbClr val="1E3A8A"/>
          </a:solidFill>
          <a:ln/>
        </p:spPr>
      </p:sp>
      <p:sp>
        <p:nvSpPr>
          <p:cNvPr id="7" name="Text 5"/>
          <p:cNvSpPr/>
          <p:nvPr/>
        </p:nvSpPr>
        <p:spPr>
          <a:xfrm>
            <a:off x="548640" y="1234440"/>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97280" y="1280160"/>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THE 12.0-WEEK CUTOFF: </a:t>
            </a:r>
            <a:pPr indent="0" marL="0">
              <a:buNone/>
            </a:pPr>
            <a:r>
              <a:rPr lang="en-US" sz="1000" dirty="0">
                <a:solidFill>
                  <a:srgbClr val="0F172A"/>
                </a:solidFill>
                <a:latin typeface="Calibri" pitchFamily="34" charset="0"/>
                <a:ea typeface="Calibri" pitchFamily="34" charset="-122"/>
                <a:cs typeface="Calibri" pitchFamily="34" charset="-120"/>
              </a:rPr>
              <a:t>Never diagnose omphalocele before 12.0 wks GA (CRL &lt;= 45 mm). Physiological midgut herniation (up to 7 mm) is normal up to 11+6 wks!</a:t>
            </a:r>
            <a:endParaRPr lang="en-US" sz="1050" dirty="0"/>
          </a:p>
        </p:txBody>
      </p:sp>
      <p:sp>
        <p:nvSpPr>
          <p:cNvPr id="9" name="Shape 7"/>
          <p:cNvSpPr/>
          <p:nvPr/>
        </p:nvSpPr>
        <p:spPr>
          <a:xfrm>
            <a:off x="548640" y="2496312"/>
            <a:ext cx="5440680" cy="1143000"/>
          </a:xfrm>
          <a:prstGeom prst="rect">
            <a:avLst/>
          </a:prstGeom>
          <a:solidFill>
            <a:srgbClr val="FFFFFF"/>
          </a:solidFill>
          <a:ln w="15240">
            <a:solidFill>
              <a:srgbClr val="CBD5E1"/>
            </a:solidFill>
            <a:prstDash val="solid"/>
          </a:ln>
        </p:spPr>
      </p:sp>
      <p:sp>
        <p:nvSpPr>
          <p:cNvPr id="10" name="Shape 8"/>
          <p:cNvSpPr/>
          <p:nvPr/>
        </p:nvSpPr>
        <p:spPr>
          <a:xfrm>
            <a:off x="548640" y="2496312"/>
            <a:ext cx="457200" cy="1143000"/>
          </a:xfrm>
          <a:prstGeom prst="rect">
            <a:avLst/>
          </a:prstGeom>
          <a:solidFill>
            <a:srgbClr val="1E3A8A"/>
          </a:solidFill>
          <a:ln/>
        </p:spPr>
      </p:sp>
      <p:sp>
        <p:nvSpPr>
          <p:cNvPr id="11" name="Text 9"/>
          <p:cNvSpPr/>
          <p:nvPr/>
        </p:nvSpPr>
        <p:spPr>
          <a:xfrm>
            <a:off x="548640" y="2496312"/>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97280" y="2542032"/>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THE SKIN BRIDGE RULE: </a:t>
            </a:r>
            <a:pPr indent="0" marL="0">
              <a:buNone/>
            </a:pPr>
            <a:r>
              <a:rPr lang="en-US" sz="1000" dirty="0">
                <a:solidFill>
                  <a:srgbClr val="0F172A"/>
                </a:solidFill>
                <a:latin typeface="Calibri" pitchFamily="34" charset="0"/>
                <a:ea typeface="Calibri" pitchFamily="34" charset="-122"/>
                <a:cs typeface="Calibri" pitchFamily="34" charset="-120"/>
              </a:rPr>
              <a:t>In gastroschisis, document the intact skin bridge separating the defect from the normal cord; in omphalocele, the cord inserts onto the sac apex.</a:t>
            </a:r>
            <a:endParaRPr lang="en-US" sz="1050" dirty="0"/>
          </a:p>
        </p:txBody>
      </p:sp>
      <p:sp>
        <p:nvSpPr>
          <p:cNvPr id="13" name="Shape 11"/>
          <p:cNvSpPr/>
          <p:nvPr/>
        </p:nvSpPr>
        <p:spPr>
          <a:xfrm>
            <a:off x="548640" y="3758184"/>
            <a:ext cx="5440680" cy="1143000"/>
          </a:xfrm>
          <a:prstGeom prst="rect">
            <a:avLst/>
          </a:prstGeom>
          <a:solidFill>
            <a:srgbClr val="FFFFFF"/>
          </a:solidFill>
          <a:ln w="15240">
            <a:solidFill>
              <a:srgbClr val="CBD5E1"/>
            </a:solidFill>
            <a:prstDash val="solid"/>
          </a:ln>
        </p:spPr>
      </p:sp>
      <p:sp>
        <p:nvSpPr>
          <p:cNvPr id="14" name="Shape 12"/>
          <p:cNvSpPr/>
          <p:nvPr/>
        </p:nvSpPr>
        <p:spPr>
          <a:xfrm>
            <a:off x="548640" y="3758184"/>
            <a:ext cx="457200" cy="1143000"/>
          </a:xfrm>
          <a:prstGeom prst="rect">
            <a:avLst/>
          </a:prstGeom>
          <a:solidFill>
            <a:srgbClr val="1E3A8A"/>
          </a:solidFill>
          <a:ln/>
        </p:spPr>
      </p:sp>
      <p:sp>
        <p:nvSpPr>
          <p:cNvPr id="15" name="Text 13"/>
          <p:cNvSpPr/>
          <p:nvPr/>
        </p:nvSpPr>
        <p:spPr>
          <a:xfrm>
            <a:off x="548640" y="3758184"/>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097280" y="3803904"/>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MANDATORY LATERAL VIEW: </a:t>
            </a:r>
            <a:pPr indent="0" marL="0">
              <a:buNone/>
            </a:pPr>
            <a:r>
              <a:rPr lang="en-US" sz="1000" dirty="0">
                <a:solidFill>
                  <a:srgbClr val="0F172A"/>
                </a:solidFill>
                <a:latin typeface="Calibri" pitchFamily="34" charset="0"/>
                <a:ea typeface="Calibri" pitchFamily="34" charset="-122"/>
                <a:cs typeface="Calibri" pitchFamily="34" charset="-120"/>
              </a:rPr>
              <a:t>Never clear an infant for malrotation on ultrasound alone. The DJ junction MUST cross midline and dive posteriorly on the true lateral fluoroscopic view.</a:t>
            </a:r>
            <a:endParaRPr lang="en-US" sz="1050" dirty="0"/>
          </a:p>
        </p:txBody>
      </p:sp>
      <p:sp>
        <p:nvSpPr>
          <p:cNvPr id="17" name="Shape 15"/>
          <p:cNvSpPr/>
          <p:nvPr/>
        </p:nvSpPr>
        <p:spPr>
          <a:xfrm>
            <a:off x="548640" y="5020056"/>
            <a:ext cx="5440680" cy="1143000"/>
          </a:xfrm>
          <a:prstGeom prst="rect">
            <a:avLst/>
          </a:prstGeom>
          <a:solidFill>
            <a:srgbClr val="FFFFFF"/>
          </a:solidFill>
          <a:ln w="15240">
            <a:solidFill>
              <a:srgbClr val="CBD5E1"/>
            </a:solidFill>
            <a:prstDash val="solid"/>
          </a:ln>
        </p:spPr>
      </p:sp>
      <p:sp>
        <p:nvSpPr>
          <p:cNvPr id="18" name="Shape 16"/>
          <p:cNvSpPr/>
          <p:nvPr/>
        </p:nvSpPr>
        <p:spPr>
          <a:xfrm>
            <a:off x="548640" y="5020056"/>
            <a:ext cx="457200" cy="1143000"/>
          </a:xfrm>
          <a:prstGeom prst="rect">
            <a:avLst/>
          </a:prstGeom>
          <a:solidFill>
            <a:srgbClr val="1E3A8A"/>
          </a:solidFill>
          <a:ln/>
        </p:spPr>
      </p:sp>
      <p:sp>
        <p:nvSpPr>
          <p:cNvPr id="19" name="Text 17"/>
          <p:cNvSpPr/>
          <p:nvPr/>
        </p:nvSpPr>
        <p:spPr>
          <a:xfrm>
            <a:off x="548640" y="5020056"/>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097280" y="5065776"/>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SACRAL SCRUTINY IN ARM: </a:t>
            </a:r>
            <a:pPr indent="0" marL="0">
              <a:buNone/>
            </a:pPr>
            <a:r>
              <a:rPr lang="en-US" sz="1000" dirty="0">
                <a:solidFill>
                  <a:srgbClr val="0F172A"/>
                </a:solidFill>
                <a:latin typeface="Calibri" pitchFamily="34" charset="0"/>
                <a:ea typeface="Calibri" pitchFamily="34" charset="-122"/>
                <a:cs typeface="Calibri" pitchFamily="34" charset="-120"/>
              </a:rPr>
              <a:t>In every infant with imperforate anus or chronic rectostenosis, check the sacrum for the 'scimitar sacrum' (Currarino / MNX1). Never needle-biopsy a presacral mass!</a:t>
            </a:r>
            <a:endParaRPr lang="en-US" sz="1050" dirty="0"/>
          </a:p>
        </p:txBody>
      </p:sp>
      <p:sp>
        <p:nvSpPr>
          <p:cNvPr id="21" name="Shape 19"/>
          <p:cNvSpPr/>
          <p:nvPr/>
        </p:nvSpPr>
        <p:spPr>
          <a:xfrm>
            <a:off x="6199632" y="1234440"/>
            <a:ext cx="5440680" cy="1143000"/>
          </a:xfrm>
          <a:prstGeom prst="rect">
            <a:avLst/>
          </a:prstGeom>
          <a:solidFill>
            <a:srgbClr val="FFFFFF"/>
          </a:solidFill>
          <a:ln w="15240">
            <a:solidFill>
              <a:srgbClr val="CBD5E1"/>
            </a:solidFill>
            <a:prstDash val="solid"/>
          </a:ln>
        </p:spPr>
      </p:sp>
      <p:sp>
        <p:nvSpPr>
          <p:cNvPr id="22" name="Shape 20"/>
          <p:cNvSpPr/>
          <p:nvPr/>
        </p:nvSpPr>
        <p:spPr>
          <a:xfrm>
            <a:off x="6199632" y="1234440"/>
            <a:ext cx="457200" cy="1143000"/>
          </a:xfrm>
          <a:prstGeom prst="rect">
            <a:avLst/>
          </a:prstGeom>
          <a:solidFill>
            <a:srgbClr val="0F766E"/>
          </a:solidFill>
          <a:ln/>
        </p:spPr>
      </p:sp>
      <p:sp>
        <p:nvSpPr>
          <p:cNvPr id="23" name="Text 21"/>
          <p:cNvSpPr/>
          <p:nvPr/>
        </p:nvSpPr>
        <p:spPr>
          <a:xfrm>
            <a:off x="6199632" y="1234440"/>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4" name="Text 22"/>
          <p:cNvSpPr/>
          <p:nvPr/>
        </p:nvSpPr>
        <p:spPr>
          <a:xfrm>
            <a:off x="6748272" y="1280160"/>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WEIGERT-MEYER 'DUMI' LAW: </a:t>
            </a:r>
            <a:pPr indent="0" marL="0">
              <a:buNone/>
            </a:pPr>
            <a:r>
              <a:rPr lang="en-US" sz="1000" dirty="0">
                <a:solidFill>
                  <a:srgbClr val="0F172A"/>
                </a:solidFill>
                <a:latin typeface="Calibri" pitchFamily="34" charset="0"/>
                <a:ea typeface="Calibri" pitchFamily="34" charset="-122"/>
                <a:cs typeface="Calibri" pitchFamily="34" charset="-120"/>
              </a:rPr>
              <a:t>Duplex Upper Medial Inferior: upper pole inserts inferomedially (obstructs/ureterocele); lower pole superolaterally (refluxes). Incontinence in females!</a:t>
            </a:r>
            <a:endParaRPr lang="en-US" sz="1050" dirty="0"/>
          </a:p>
        </p:txBody>
      </p:sp>
      <p:sp>
        <p:nvSpPr>
          <p:cNvPr id="25" name="Shape 23"/>
          <p:cNvSpPr/>
          <p:nvPr/>
        </p:nvSpPr>
        <p:spPr>
          <a:xfrm>
            <a:off x="6199632" y="2496312"/>
            <a:ext cx="5440680" cy="1143000"/>
          </a:xfrm>
          <a:prstGeom prst="rect">
            <a:avLst/>
          </a:prstGeom>
          <a:solidFill>
            <a:srgbClr val="FFFFFF"/>
          </a:solidFill>
          <a:ln w="15240">
            <a:solidFill>
              <a:srgbClr val="CBD5E1"/>
            </a:solidFill>
            <a:prstDash val="solid"/>
          </a:ln>
        </p:spPr>
      </p:sp>
      <p:sp>
        <p:nvSpPr>
          <p:cNvPr id="26" name="Shape 24"/>
          <p:cNvSpPr/>
          <p:nvPr/>
        </p:nvSpPr>
        <p:spPr>
          <a:xfrm>
            <a:off x="6199632" y="2496312"/>
            <a:ext cx="457200" cy="1143000"/>
          </a:xfrm>
          <a:prstGeom prst="rect">
            <a:avLst/>
          </a:prstGeom>
          <a:solidFill>
            <a:srgbClr val="0F766E"/>
          </a:solidFill>
          <a:ln/>
        </p:spPr>
      </p:sp>
      <p:sp>
        <p:nvSpPr>
          <p:cNvPr id="27" name="Text 25"/>
          <p:cNvSpPr/>
          <p:nvPr/>
        </p:nvSpPr>
        <p:spPr>
          <a:xfrm>
            <a:off x="6199632" y="2496312"/>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8" name="Text 26"/>
          <p:cNvSpPr/>
          <p:nvPr/>
        </p:nvSpPr>
        <p:spPr>
          <a:xfrm>
            <a:off x="6748272" y="2542032"/>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CYSTIC COMMUNICATION TEST: </a:t>
            </a:r>
            <a:pPr indent="0" marL="0">
              <a:buNone/>
            </a:pPr>
            <a:r>
              <a:rPr lang="en-US" sz="1000" dirty="0">
                <a:solidFill>
                  <a:srgbClr val="0F172A"/>
                </a:solidFill>
                <a:latin typeface="Calibri" pitchFamily="34" charset="0"/>
                <a:ea typeface="Calibri" pitchFamily="34" charset="-122"/>
                <a:cs typeface="Calibri" pitchFamily="34" charset="-120"/>
              </a:rPr>
              <a:t>Before calling MCDK, prove cysts do NOT communicate with a central pelvis. If calyces communicate with cortex preserved, it's severe hydronephrosis.</a:t>
            </a:r>
            <a:endParaRPr lang="en-US" sz="1050" dirty="0"/>
          </a:p>
        </p:txBody>
      </p:sp>
      <p:sp>
        <p:nvSpPr>
          <p:cNvPr id="29" name="Shape 27"/>
          <p:cNvSpPr/>
          <p:nvPr/>
        </p:nvSpPr>
        <p:spPr>
          <a:xfrm>
            <a:off x="6199632" y="3758184"/>
            <a:ext cx="5440680" cy="1143000"/>
          </a:xfrm>
          <a:prstGeom prst="rect">
            <a:avLst/>
          </a:prstGeom>
          <a:solidFill>
            <a:srgbClr val="FFFFFF"/>
          </a:solidFill>
          <a:ln w="15240">
            <a:solidFill>
              <a:srgbClr val="CBD5E1"/>
            </a:solidFill>
            <a:prstDash val="solid"/>
          </a:ln>
        </p:spPr>
      </p:sp>
      <p:sp>
        <p:nvSpPr>
          <p:cNvPr id="30" name="Shape 28"/>
          <p:cNvSpPr/>
          <p:nvPr/>
        </p:nvSpPr>
        <p:spPr>
          <a:xfrm>
            <a:off x="6199632" y="3758184"/>
            <a:ext cx="457200" cy="1143000"/>
          </a:xfrm>
          <a:prstGeom prst="rect">
            <a:avLst/>
          </a:prstGeom>
          <a:solidFill>
            <a:srgbClr val="0F766E"/>
          </a:solidFill>
          <a:ln/>
        </p:spPr>
      </p:sp>
      <p:sp>
        <p:nvSpPr>
          <p:cNvPr id="31" name="Text 29"/>
          <p:cNvSpPr/>
          <p:nvPr/>
        </p:nvSpPr>
        <p:spPr>
          <a:xfrm>
            <a:off x="6199632" y="3758184"/>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32" name="Text 30"/>
          <p:cNvSpPr/>
          <p:nvPr/>
        </p:nvSpPr>
        <p:spPr>
          <a:xfrm>
            <a:off x="6748272" y="3803904"/>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SEROSAL CONTOUR IN MÜLLERIAN: </a:t>
            </a:r>
            <a:pPr indent="0" marL="0">
              <a:buNone/>
            </a:pPr>
            <a:r>
              <a:rPr lang="en-US" sz="1000" dirty="0">
                <a:solidFill>
                  <a:srgbClr val="0F172A"/>
                </a:solidFill>
                <a:latin typeface="Calibri" pitchFamily="34" charset="0"/>
                <a:ea typeface="Calibri" pitchFamily="34" charset="-122"/>
                <a:cs typeface="Calibri" pitchFamily="34" charset="-120"/>
              </a:rPr>
              <a:t>Never diagnose bicornuate uterus on HSG alone. Fundal indentation &gt;= 1.0 cm on 3D US/MRI confirms bicornuate (conservative); &lt; 1.0 cm confirms septate (metroplasty).</a:t>
            </a:r>
            <a:endParaRPr lang="en-US" sz="1050" dirty="0"/>
          </a:p>
        </p:txBody>
      </p:sp>
      <p:sp>
        <p:nvSpPr>
          <p:cNvPr id="33" name="Shape 31"/>
          <p:cNvSpPr/>
          <p:nvPr/>
        </p:nvSpPr>
        <p:spPr>
          <a:xfrm>
            <a:off x="6199632" y="5020056"/>
            <a:ext cx="5440680" cy="1143000"/>
          </a:xfrm>
          <a:prstGeom prst="rect">
            <a:avLst/>
          </a:prstGeom>
          <a:solidFill>
            <a:srgbClr val="FFFFFF"/>
          </a:solidFill>
          <a:ln w="15240">
            <a:solidFill>
              <a:srgbClr val="CBD5E1"/>
            </a:solidFill>
            <a:prstDash val="solid"/>
          </a:ln>
        </p:spPr>
      </p:sp>
      <p:sp>
        <p:nvSpPr>
          <p:cNvPr id="34" name="Shape 32"/>
          <p:cNvSpPr/>
          <p:nvPr/>
        </p:nvSpPr>
        <p:spPr>
          <a:xfrm>
            <a:off x="6199632" y="5020056"/>
            <a:ext cx="457200" cy="1143000"/>
          </a:xfrm>
          <a:prstGeom prst="rect">
            <a:avLst/>
          </a:prstGeom>
          <a:solidFill>
            <a:srgbClr val="0F766E"/>
          </a:solidFill>
          <a:ln/>
        </p:spPr>
      </p:sp>
      <p:sp>
        <p:nvSpPr>
          <p:cNvPr id="35" name="Text 33"/>
          <p:cNvSpPr/>
          <p:nvPr/>
        </p:nvSpPr>
        <p:spPr>
          <a:xfrm>
            <a:off x="6199632" y="5020056"/>
            <a:ext cx="457200" cy="11430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36" name="Text 34"/>
          <p:cNvSpPr/>
          <p:nvPr/>
        </p:nvSpPr>
        <p:spPr>
          <a:xfrm>
            <a:off x="6748272" y="5065776"/>
            <a:ext cx="4800600" cy="1051560"/>
          </a:xfrm>
          <a:prstGeom prst="rect">
            <a:avLst/>
          </a:prstGeom>
          <a:noFill/>
          <a:ln/>
        </p:spPr>
        <p:txBody>
          <a:bodyPr wrap="square" rtlCol="0" anchor="ctr"/>
          <a:lstStyle/>
          <a:p>
            <a:pPr indent="0" marL="0">
              <a:buNone/>
            </a:pPr>
            <a:r>
              <a:rPr lang="en-US" sz="1050" b="1" dirty="0">
                <a:solidFill>
                  <a:srgbClr val="0A192F"/>
                </a:solidFill>
                <a:latin typeface="Calibri" pitchFamily="34" charset="0"/>
                <a:ea typeface="Calibri" pitchFamily="34" charset="-122"/>
                <a:cs typeface="Calibri" pitchFamily="34" charset="-120"/>
              </a:rPr>
              <a:t>ADRENAL AUTONOMY RULE: </a:t>
            </a:r>
            <a:pPr indent="0" marL="0">
              <a:buNone/>
            </a:pPr>
            <a:r>
              <a:rPr lang="en-US" sz="1000" dirty="0">
                <a:solidFill>
                  <a:srgbClr val="0F172A"/>
                </a:solidFill>
                <a:latin typeface="Calibri" pitchFamily="34" charset="0"/>
                <a:ea typeface="Calibri" pitchFamily="34" charset="-122"/>
                <a:cs typeface="Calibri" pitchFamily="34" charset="-120"/>
              </a:rPr>
              <a:t>Adrenals develop independently of kidneys. In an empty renal fossa, a flat 'lying-down' adrenal confirms agenesis or ectopia. Sweep aorta with Doppler.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2026-09-15T16:35:55Z</dcterms:created>
  <dcterms:modified xsi:type="dcterms:W3CDTF">2026-09-15T16:35:55Z</dcterms:modified>
</cp:coreProperties>
</file>